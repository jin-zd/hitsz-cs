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4.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737" r:id="rId3"/>
  </p:sldMasterIdLst>
  <p:notesMasterIdLst>
    <p:notesMasterId r:id="rId15"/>
  </p:notesMasterIdLst>
  <p:handoutMasterIdLst>
    <p:handoutMasterId r:id="rId16"/>
  </p:handoutMasterIdLst>
  <p:sldIdLst>
    <p:sldId id="691" r:id="rId4"/>
    <p:sldId id="714" r:id="rId5"/>
    <p:sldId id="693" r:id="rId6"/>
    <p:sldId id="715" r:id="rId7"/>
    <p:sldId id="720" r:id="rId8"/>
    <p:sldId id="732" r:id="rId9"/>
    <p:sldId id="727" r:id="rId10"/>
    <p:sldId id="735" r:id="rId11"/>
    <p:sldId id="736" r:id="rId12"/>
    <p:sldId id="737" r:id="rId13"/>
    <p:sldId id="730" r:id="rId14"/>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1"/>
    <a:srgbClr val="022539"/>
    <a:srgbClr val="FB991C"/>
    <a:srgbClr val="1E7590"/>
    <a:srgbClr val="666666"/>
    <a:srgbClr val="DEDAD7"/>
    <a:srgbClr val="72929D"/>
    <a:srgbClr val="8A8A8A"/>
    <a:srgbClr val="535D5F"/>
    <a:srgbClr val="7293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2" autoAdjust="0"/>
    <p:restoredTop sz="87671" autoAdjust="0"/>
  </p:normalViewPr>
  <p:slideViewPr>
    <p:cSldViewPr snapToGrid="0">
      <p:cViewPr varScale="1">
        <p:scale>
          <a:sx n="84" d="100"/>
          <a:sy n="84" d="100"/>
        </p:scale>
        <p:origin x="1228" y="6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2025/12/17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232209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45S" panose="00020600040101010101" pitchFamily="18" charset="-122"/>
                <a:ea typeface="汉仪旗黑-45S" panose="00020600040101010101" pitchFamily="18" charset="-122"/>
              </a:defRPr>
            </a:lvl1pPr>
          </a:lstStyle>
          <a:p>
            <a:fld id="{F87F258B-B836-4A03-90D9-E39CD78388D8}" type="datetimeFigureOut">
              <a:rPr lang="zh-CN" altLang="en-US" smtClean="0"/>
              <a:t>2025/12/17</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45S" panose="00020600040101010101" pitchFamily="18" charset="-122"/>
                <a:ea typeface="汉仪旗黑-45S" panose="00020600040101010101" pitchFamily="18" charset="-122"/>
              </a:defRPr>
            </a:lvl1pPr>
          </a:lstStyle>
          <a:p>
            <a:fld id="{56961F87-20C5-4746-9C61-F4321B4DA788}" type="slidenum">
              <a:rPr lang="zh-CN" altLang="en-US" smtClean="0"/>
              <a:t>‹#›</a:t>
            </a:fld>
            <a:endParaRPr lang="zh-CN" altLang="en-US" dirty="0"/>
          </a:p>
        </p:txBody>
      </p:sp>
    </p:spTree>
    <p:extLst>
      <p:ext uri="{BB962C8B-B14F-4D97-AF65-F5344CB8AC3E}">
        <p14:creationId xmlns:p14="http://schemas.microsoft.com/office/powerpoint/2010/main" val="25796837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1pPr>
    <a:lvl2pPr marL="4572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2pPr>
    <a:lvl3pPr marL="9144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3pPr>
    <a:lvl4pPr marL="13716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4pPr>
    <a:lvl5pPr marL="18288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131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768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771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9341-93C2-3E58-2CFE-77DDCAA15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9693AD-B415-3B5D-4F7A-BFD5B1A137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C95EE-38B2-B4EB-C84F-97547C7079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75230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6819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435A-3CAA-10C3-7E6C-06543349D2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934F1D-D3F7-797B-57B0-A444DD00CF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4FF9FC-CC4E-B3B7-2164-19A3DB242F7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1830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EAB3-9FB5-88CD-1BB2-DEA787C3F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DFFF-5DDF-00F0-E6D0-0B52F1DAF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5D35B4-D79F-610B-1295-57AF47E417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39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2025/12/17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523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39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9701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1700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657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5397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338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2019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02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1836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915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942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821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158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64636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236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643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2068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88568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211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7577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208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2719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54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0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3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0620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816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875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327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198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436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796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186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27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2739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4378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9781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087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376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282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991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6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918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9954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0344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808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000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6929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948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770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14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53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61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2496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357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96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421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296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244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09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9963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687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81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14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877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361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71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7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875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26830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5545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8524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2025/12/17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2025/12/17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459963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2025/12/17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490655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6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61" Type="http://schemas.openxmlformats.org/officeDocument/2006/relationships/slideLayout" Target="../slideLayouts/slideLayout68.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80" Type="http://schemas.openxmlformats.org/officeDocument/2006/relationships/slideLayout" Target="../slideLayouts/slideLayout87.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slideLayout" Target="../slideLayouts/slideLayout89.xml"/><Relationship Id="rId1" Type="http://schemas.openxmlformats.org/officeDocument/2006/relationships/slideLayout" Target="../slideLayouts/slideLayout8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661" r:id="rId78"/>
    <p:sldLayoutId id="2147483662" r:id="rId79"/>
    <p:sldLayoutId id="2147483663"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3731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3" Type="http://schemas.openxmlformats.org/officeDocument/2006/relationships/tags" Target="../tags/tag16.xml"/><Relationship Id="rId21" Type="http://schemas.openxmlformats.org/officeDocument/2006/relationships/image" Target="../media/image1.jpeg"/><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notesSlide" Target="../notesSlides/notesSlide2.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slideLayout" Target="../slideLayouts/slideLayout8.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3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1.xml"/><Relationship Id="rId1" Type="http://schemas.openxmlformats.org/officeDocument/2006/relationships/tags" Target="../tags/tag4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4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4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稻壳儿智宇https://www.docer.com/works?userid=328340712" descr="背景图案&#10;&#10;描述已自动生成"/>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p:cNvSpPr/>
          <p:nvPr/>
        </p:nvSpPr>
        <p:spPr>
          <a:xfrm>
            <a:off x="1791380" y="2467685"/>
            <a:ext cx="8609237" cy="2031325"/>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认知双过程驱动的</a:t>
            </a:r>
            <a:endParaRPr lang="en-US" altLang="zh-CN" sz="6600" dirty="0">
              <a:solidFill>
                <a:schemeClr val="lt1"/>
              </a:solidFill>
              <a:latin typeface="思源宋体" panose="02020400000000000000" pitchFamily="18" charset="-122"/>
              <a:ea typeface="思源宋体" panose="02020400000000000000" pitchFamily="18" charset="-122"/>
              <a:sym typeface="微软雅黑"/>
            </a:endParaRPr>
          </a:p>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多模态立场检测</a:t>
            </a:r>
          </a:p>
        </p:txBody>
      </p:sp>
      <p:sp>
        <p:nvSpPr>
          <p:cNvPr id="4" name="稻壳儿智宇https://www.docer.com/works?userid=328340712">
            <a:extLst>
              <a:ext uri="{FF2B5EF4-FFF2-40B4-BE49-F238E27FC236}">
                <a16:creationId xmlns:a16="http://schemas.microsoft.com/office/drawing/2014/main" id="{75325AA1-304B-B428-3288-4E10BA09D632}"/>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7AB70BEB-A434-D6A2-6B72-0238D6597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稻壳儿智宇https://www.docer.com/works?userid=328340712" descr="背景图案&#10;&#10;描述已自动生成"/>
          <p:cNvPicPr>
            <a:picLocks noChangeAspect="1"/>
          </p:cNvPicPr>
          <p:nvPr/>
        </p:nvPicPr>
        <p:blipFill>
          <a:blip r:embed="rId21" cstate="print"/>
          <a:srcRect/>
          <a:stretch>
            <a:fillRect/>
          </a:stretch>
        </p:blipFill>
        <p:spPr>
          <a:xfrm>
            <a:off x="0" y="0"/>
            <a:ext cx="12192000" cy="6858000"/>
          </a:xfrm>
          <a:prstGeom prst="rect">
            <a:avLst/>
          </a:prstGeom>
        </p:spPr>
      </p:pic>
      <p:sp>
        <p:nvSpPr>
          <p:cNvPr id="24" name="稻壳儿智宇https://www.docer.com/works?userid=328340712"/>
          <p:cNvSpPr/>
          <p:nvPr>
            <p:custDataLst>
              <p:tags r:id="rId1"/>
            </p:custDataLst>
          </p:nvPr>
        </p:nvSpPr>
        <p:spPr>
          <a:xfrm>
            <a:off x="0" y="0"/>
            <a:ext cx="12192000" cy="1927285"/>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60" name="稻壳儿智宇https://www.docer.com/works?userid=328340712"/>
          <p:cNvSpPr/>
          <p:nvPr/>
        </p:nvSpPr>
        <p:spPr>
          <a:xfrm>
            <a:off x="613433" y="821166"/>
            <a:ext cx="1119116" cy="677108"/>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cs typeface="+mn-cs"/>
                <a:sym typeface="微软雅黑"/>
              </a:rPr>
              <a:t>目录</a:t>
            </a:r>
          </a:p>
        </p:txBody>
      </p:sp>
      <p:sp>
        <p:nvSpPr>
          <p:cNvPr id="61" name="稻壳儿智宇https://www.docer.com/works?userid=328340712"/>
          <p:cNvSpPr/>
          <p:nvPr>
            <p:custDataLst>
              <p:tags r:id="rId2"/>
            </p:custDataLst>
          </p:nvPr>
        </p:nvSpPr>
        <p:spPr>
          <a:xfrm>
            <a:off x="1935678" y="1159720"/>
            <a:ext cx="1605688" cy="276999"/>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CONTENT</a:t>
            </a:r>
          </a:p>
        </p:txBody>
      </p:sp>
      <p:sp>
        <p:nvSpPr>
          <p:cNvPr id="13" name="稻壳儿智宇https://www.docer.com/works?userid=328340712"/>
          <p:cNvSpPr/>
          <p:nvPr>
            <p:custDataLst>
              <p:tags r:id="rId3"/>
            </p:custDataLst>
          </p:nvPr>
        </p:nvSpPr>
        <p:spPr>
          <a:xfrm>
            <a:off x="4772552" y="275063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0" name="稻壳儿智宇https://www.docer.com/works?userid=328340712"/>
          <p:cNvSpPr/>
          <p:nvPr>
            <p:custDataLst>
              <p:tags r:id="rId4"/>
            </p:custDataLst>
          </p:nvPr>
        </p:nvSpPr>
        <p:spPr>
          <a:xfrm rot="2700000">
            <a:off x="5804395" y="334545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0" name="稻壳儿智宇https://www.docer.com/works?userid=328340712"/>
          <p:cNvSpPr/>
          <p:nvPr>
            <p:custDataLst>
              <p:tags r:id="rId5"/>
            </p:custDataLst>
          </p:nvPr>
        </p:nvSpPr>
        <p:spPr>
          <a:xfrm rot="2700000">
            <a:off x="5705253" y="324631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2" name="稻壳儿智宇https://www.docer.com/works?userid=328340712"/>
          <p:cNvSpPr/>
          <p:nvPr>
            <p:custDataLst>
              <p:tags r:id="rId6"/>
            </p:custDataLst>
          </p:nvPr>
        </p:nvSpPr>
        <p:spPr>
          <a:xfrm>
            <a:off x="5730205" y="335463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02</a:t>
            </a:r>
          </a:p>
        </p:txBody>
      </p:sp>
      <p:sp>
        <p:nvSpPr>
          <p:cNvPr id="51" name="稻壳儿智宇https://www.docer.com/works?userid=328340712"/>
          <p:cNvSpPr txBox="1"/>
          <p:nvPr>
            <p:custDataLst>
              <p:tags r:id="rId7"/>
            </p:custDataLst>
          </p:nvPr>
        </p:nvSpPr>
        <p:spPr>
          <a:xfrm>
            <a:off x="4747936" y="430795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框架设计</a:t>
            </a:r>
          </a:p>
        </p:txBody>
      </p:sp>
      <p:sp>
        <p:nvSpPr>
          <p:cNvPr id="14" name="稻壳儿智宇https://www.docer.com/works?userid=328340712"/>
          <p:cNvSpPr/>
          <p:nvPr>
            <p:custDataLst>
              <p:tags r:id="rId8"/>
            </p:custDataLst>
          </p:nvPr>
        </p:nvSpPr>
        <p:spPr>
          <a:xfrm>
            <a:off x="7603111" y="2740304"/>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2" name="稻壳儿智宇https://www.docer.com/works?userid=328340712"/>
          <p:cNvSpPr/>
          <p:nvPr>
            <p:custDataLst>
              <p:tags r:id="rId9"/>
            </p:custDataLst>
          </p:nvPr>
        </p:nvSpPr>
        <p:spPr>
          <a:xfrm rot="2700000">
            <a:off x="8622966" y="334545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3" name="稻壳儿智宇https://www.docer.com/works?userid=328340712"/>
          <p:cNvSpPr/>
          <p:nvPr>
            <p:custDataLst>
              <p:tags r:id="rId10"/>
            </p:custDataLst>
          </p:nvPr>
        </p:nvSpPr>
        <p:spPr>
          <a:xfrm rot="2700000">
            <a:off x="8523824" y="324631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5" name="稻壳儿智宇https://www.docer.com/works?userid=328340712"/>
          <p:cNvSpPr/>
          <p:nvPr>
            <p:custDataLst>
              <p:tags r:id="rId11"/>
            </p:custDataLst>
          </p:nvPr>
        </p:nvSpPr>
        <p:spPr>
          <a:xfrm>
            <a:off x="8548776" y="335463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03</a:t>
            </a:r>
          </a:p>
        </p:txBody>
      </p:sp>
      <p:sp>
        <p:nvSpPr>
          <p:cNvPr id="54" name="稻壳儿智宇https://www.docer.com/works?userid=328340712"/>
          <p:cNvSpPr txBox="1"/>
          <p:nvPr>
            <p:custDataLst>
              <p:tags r:id="rId12"/>
            </p:custDataLst>
          </p:nvPr>
        </p:nvSpPr>
        <p:spPr>
          <a:xfrm>
            <a:off x="7560194" y="430795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实验结果</a:t>
            </a:r>
          </a:p>
        </p:txBody>
      </p:sp>
      <p:sp>
        <p:nvSpPr>
          <p:cNvPr id="12" name="稻壳儿智宇https://www.docer.com/works?userid=328340712"/>
          <p:cNvSpPr/>
          <p:nvPr>
            <p:custDataLst>
              <p:tags r:id="rId13"/>
            </p:custDataLst>
          </p:nvPr>
        </p:nvSpPr>
        <p:spPr>
          <a:xfrm>
            <a:off x="1984910" y="275063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59" name="稻壳儿智宇https://www.docer.com/works?userid=328340712"/>
          <p:cNvSpPr/>
          <p:nvPr>
            <p:custDataLst>
              <p:tags r:id="rId14"/>
            </p:custDataLst>
          </p:nvPr>
        </p:nvSpPr>
        <p:spPr>
          <a:xfrm rot="2700000">
            <a:off x="2985823" y="334545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6" name="稻壳儿智宇https://www.docer.com/works?userid=328340712"/>
          <p:cNvSpPr/>
          <p:nvPr>
            <p:custDataLst>
              <p:tags r:id="rId15"/>
            </p:custDataLst>
          </p:nvPr>
        </p:nvSpPr>
        <p:spPr>
          <a:xfrm rot="2700000">
            <a:off x="2886681" y="324631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8" name="稻壳儿智宇https://www.docer.com/works?userid=328340712"/>
          <p:cNvSpPr/>
          <p:nvPr>
            <p:custDataLst>
              <p:tags r:id="rId16"/>
            </p:custDataLst>
          </p:nvPr>
        </p:nvSpPr>
        <p:spPr>
          <a:xfrm>
            <a:off x="2911633" y="335463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01</a:t>
            </a:r>
          </a:p>
        </p:txBody>
      </p:sp>
      <p:sp>
        <p:nvSpPr>
          <p:cNvPr id="48" name="稻壳儿智宇https://www.docer.com/works?userid=328340712"/>
          <p:cNvSpPr txBox="1"/>
          <p:nvPr>
            <p:custDataLst>
              <p:tags r:id="rId17"/>
            </p:custDataLst>
          </p:nvPr>
        </p:nvSpPr>
        <p:spPr>
          <a:xfrm>
            <a:off x="1935678" y="430795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课题背景</a:t>
            </a:r>
          </a:p>
        </p:txBody>
      </p:sp>
      <p:cxnSp>
        <p:nvCxnSpPr>
          <p:cNvPr id="19" name="稻壳儿智宇https://www.docer.com/works?userid=328340712" hidden="1"/>
          <p:cNvCxnSpPr/>
          <p:nvPr>
            <p:custDataLst>
              <p:tags r:id="rId18"/>
            </p:custDataLst>
          </p:nvPr>
        </p:nvCxnSpPr>
        <p:spPr>
          <a:xfrm flipH="1">
            <a:off x="613433" y="1680244"/>
            <a:ext cx="109689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行业</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PPT</a:t>
            </a: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模板</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http://www.1ppt.com/hangye/</a:t>
            </a:r>
          </a:p>
        </p:txBody>
      </p:sp>
      <p:pic>
        <p:nvPicPr>
          <p:cNvPr id="6" name="图片 5">
            <a:extLst>
              <a:ext uri="{FF2B5EF4-FFF2-40B4-BE49-F238E27FC236}">
                <a16:creationId xmlns:a16="http://schemas.microsoft.com/office/drawing/2014/main" id="{9F607593-D368-C89E-0479-A4BA7C9D81F0}"/>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237424" y="934321"/>
            <a:ext cx="3707965" cy="6793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01</a:t>
            </a:r>
          </a:p>
        </p:txBody>
      </p:sp>
      <p:sp>
        <p:nvSpPr>
          <p:cNvPr id="19" name="稻壳儿智宇https://www.docer.com/works?userid=328340712"/>
          <p:cNvSpPr>
            <a:spLocks noGrp="1"/>
          </p:cNvSpPr>
          <p:nvPr>
            <p:ph type="body" sz="quarter" idx="12"/>
          </p:nvPr>
        </p:nvSpPr>
        <p:spPr>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课题背景</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one</a:t>
            </a:r>
          </a:p>
        </p:txBody>
      </p:sp>
      <p:pic>
        <p:nvPicPr>
          <p:cNvPr id="2" name="图片 1">
            <a:extLst>
              <a:ext uri="{FF2B5EF4-FFF2-40B4-BE49-F238E27FC236}">
                <a16:creationId xmlns:a16="http://schemas.microsoft.com/office/drawing/2014/main" id="{FD380396-68BB-126C-EF92-2D1D40A9E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稻壳儿智宇https://www.docer.com/works?userid=328340712"/>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多模态立场检测任务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p:cNvSpPr txBox="1"/>
          <p:nvPr>
            <p:custDataLst>
              <p:tags r:id="rId2"/>
            </p:custDataLst>
          </p:nvPr>
        </p:nvSpPr>
        <p:spPr>
          <a:xfrm>
            <a:off x="516699" y="1080118"/>
            <a:ext cx="5464715" cy="4062651"/>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多模态立场检测旨在通过综合分析文本与图像两种信息，识别出用户对于特定目标的所表达的态度。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当前，已有的多模态立场检测方法主要致力于提升模型提取多模态特征的能力或者利用大型语言模型的推理能力，忽略了一个关键问题：在不同的样本中，不同模态（文本或图像）对最终立场决策的贡献度是动态变化的。</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2" name="图片 1">
            <a:extLst>
              <a:ext uri="{FF2B5EF4-FFF2-40B4-BE49-F238E27FC236}">
                <a16:creationId xmlns:a16="http://schemas.microsoft.com/office/drawing/2014/main" id="{E35962C1-87BE-CF30-0269-9FD7D6487A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81414" y="1080118"/>
            <a:ext cx="5596523" cy="45629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6C5B-6BEF-45E1-4F0A-AE6E391B981A}"/>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D8EFF10C-9780-CA2C-5899-7D9F2109046D}"/>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a:extLst>
              <a:ext uri="{FF2B5EF4-FFF2-40B4-BE49-F238E27FC236}">
                <a16:creationId xmlns:a16="http://schemas.microsoft.com/office/drawing/2014/main" id="{22E2F13A-F95B-A42B-9863-DC9D83DBD04D}"/>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框架设计</a:t>
            </a:r>
          </a:p>
        </p:txBody>
      </p:sp>
      <p:sp>
        <p:nvSpPr>
          <p:cNvPr id="17" name="稻壳儿智宇https://www.docer.com/works?userid=328340712">
            <a:extLst>
              <a:ext uri="{FF2B5EF4-FFF2-40B4-BE49-F238E27FC236}">
                <a16:creationId xmlns:a16="http://schemas.microsoft.com/office/drawing/2014/main" id="{713F692E-09EC-2EAA-8046-6EAA0C9509F5}"/>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three</a:t>
            </a:r>
          </a:p>
        </p:txBody>
      </p:sp>
      <p:pic>
        <p:nvPicPr>
          <p:cNvPr id="3" name="图片 2">
            <a:extLst>
              <a:ext uri="{FF2B5EF4-FFF2-40B4-BE49-F238E27FC236}">
                <a16:creationId xmlns:a16="http://schemas.microsoft.com/office/drawing/2014/main" id="{C458D2DC-39C1-E1CC-27E1-B6D1CF7D40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88732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C06-112F-6363-EB8E-CFBA508DFCB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2361417-682A-C0E3-9480-E96B3C9BAB2C}"/>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8" name="稻壳儿智宇https://www.docer.com/works?userid=328340712">
            <a:extLst>
              <a:ext uri="{FF2B5EF4-FFF2-40B4-BE49-F238E27FC236}">
                <a16:creationId xmlns:a16="http://schemas.microsoft.com/office/drawing/2014/main" id="{4F4E5F53-4A69-0665-9DCA-607079F81212}"/>
              </a:ext>
            </a:extLst>
          </p:cNvPr>
          <p:cNvSpPr txBox="1"/>
          <p:nvPr>
            <p:custDataLst>
              <p:tags r:id="rId1"/>
            </p:custDataLst>
          </p:nvPr>
        </p:nvSpPr>
        <p:spPr>
          <a:xfrm>
            <a:off x="691837" y="4721308"/>
            <a:ext cx="9609772" cy="2172646"/>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ReMoD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框架受人类认知的双过程理论启发。它主要由三个核心组件构成：</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负责深度提取和处理图文信息，构建语义基础。</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经验驱动的直觉推理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1"</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的快速思考，利用经验池形成初始判断。</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深思熟虑的反思推理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2"</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的慢速思考，对初始判断进行批判性审查和优化。</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3" name="图片 2">
            <a:extLst>
              <a:ext uri="{FF2B5EF4-FFF2-40B4-BE49-F238E27FC236}">
                <a16:creationId xmlns:a16="http://schemas.microsoft.com/office/drawing/2014/main" id="{FBA6CF02-CB4A-5425-93A2-C5D5AFA9FA41}"/>
              </a:ext>
            </a:extLst>
          </p:cNvPr>
          <p:cNvPicPr>
            <a:picLocks noChangeAspect="1"/>
          </p:cNvPicPr>
          <p:nvPr/>
        </p:nvPicPr>
        <p:blipFill>
          <a:blip r:embed="rId4"/>
          <a:srcRect l="2607" t="3555" r="3138"/>
          <a:stretch>
            <a:fillRect/>
          </a:stretch>
        </p:blipFill>
        <p:spPr>
          <a:xfrm>
            <a:off x="602460" y="702710"/>
            <a:ext cx="7730268" cy="3892996"/>
          </a:xfrm>
          <a:prstGeom prst="rect">
            <a:avLst/>
          </a:prstGeom>
        </p:spPr>
      </p:pic>
    </p:spTree>
    <p:extLst>
      <p:ext uri="{BB962C8B-B14F-4D97-AF65-F5344CB8AC3E}">
        <p14:creationId xmlns:p14="http://schemas.microsoft.com/office/powerpoint/2010/main" val="265119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CF14-40BC-CEC6-6729-EC10483A0347}"/>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AF3FF05-0E2B-8D81-E64E-ABC9AC59CB05}"/>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03</a:t>
            </a:r>
          </a:p>
        </p:txBody>
      </p:sp>
      <p:sp>
        <p:nvSpPr>
          <p:cNvPr id="19" name="稻壳儿智宇https://www.docer.com/works?userid=328340712">
            <a:extLst>
              <a:ext uri="{FF2B5EF4-FFF2-40B4-BE49-F238E27FC236}">
                <a16:creationId xmlns:a16="http://schemas.microsoft.com/office/drawing/2014/main" id="{EE62CFD4-70E3-2ECD-AA19-31F17588C8E4}"/>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实验结果</a:t>
            </a:r>
          </a:p>
        </p:txBody>
      </p:sp>
      <p:sp>
        <p:nvSpPr>
          <p:cNvPr id="17" name="稻壳儿智宇https://www.docer.com/works?userid=328340712">
            <a:extLst>
              <a:ext uri="{FF2B5EF4-FFF2-40B4-BE49-F238E27FC236}">
                <a16:creationId xmlns:a16="http://schemas.microsoft.com/office/drawing/2014/main" id="{8C35AAB3-87C9-967A-F242-C88CB3353167}"/>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four</a:t>
            </a:r>
          </a:p>
        </p:txBody>
      </p:sp>
      <p:pic>
        <p:nvPicPr>
          <p:cNvPr id="3" name="图片 2">
            <a:extLst>
              <a:ext uri="{FF2B5EF4-FFF2-40B4-BE49-F238E27FC236}">
                <a16:creationId xmlns:a16="http://schemas.microsoft.com/office/drawing/2014/main" id="{25C4EB10-D826-E506-0F7E-51A376964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25997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BB0A-F15F-7401-29D3-EBA447A44ACF}"/>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B492DCA-4AC9-E9C3-36FA-B7F98B48568B}"/>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2C6BA645-B4C7-EC31-6271-ED95E829E341}"/>
              </a:ext>
            </a:extLst>
          </p:cNvPr>
          <p:cNvSpPr txBox="1"/>
          <p:nvPr>
            <p:custDataLst>
              <p:tags r:id="rId1"/>
            </p:custDataLst>
          </p:nvPr>
        </p:nvSpPr>
        <p:spPr>
          <a:xfrm>
            <a:off x="134947" y="4704260"/>
            <a:ext cx="9711369" cy="2172646"/>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在多个场景取得优异的表现，在测试更加苛刻的零样本泛化场景下更是展现出超越传统训练方式的强大性能。对于测试的 </a:t>
            </a:r>
            <a:r>
              <a:rPr lang="en-US" altLang="zh-CN" sz="1600" dirty="0">
                <a:latin typeface="思源宋体" panose="02020400000000000000" pitchFamily="18" charset="-122"/>
                <a:ea typeface="思源宋体" panose="02020400000000000000" pitchFamily="18" charset="-122"/>
              </a:rPr>
              <a:t>Qwen</a:t>
            </a:r>
            <a:r>
              <a:rPr lang="zh-CN" altLang="en-US" sz="1600" dirty="0">
                <a:latin typeface="思源宋体" panose="02020400000000000000" pitchFamily="18" charset="-122"/>
                <a:ea typeface="思源宋体" panose="02020400000000000000" pitchFamily="18" charset="-122"/>
              </a:rPr>
              <a:t>、</a:t>
            </a:r>
            <a:r>
              <a:rPr lang="en-US" altLang="zh-CN" sz="1600" dirty="0">
                <a:latin typeface="思源宋体" panose="02020400000000000000" pitchFamily="18" charset="-122"/>
                <a:ea typeface="思源宋体" panose="02020400000000000000" pitchFamily="18" charset="-122"/>
              </a:rPr>
              <a:t>Mimo</a:t>
            </a:r>
            <a:r>
              <a:rPr lang="zh-CN" altLang="en-US" sz="1600" dirty="0">
                <a:latin typeface="思源宋体" panose="02020400000000000000" pitchFamily="18" charset="-122"/>
                <a:ea typeface="思源宋体" panose="02020400000000000000" pitchFamily="18" charset="-122"/>
              </a:rPr>
              <a:t>、</a:t>
            </a:r>
            <a:r>
              <a:rPr lang="en-US" altLang="zh-CN" sz="1600" dirty="0" err="1">
                <a:latin typeface="思源宋体" panose="02020400000000000000" pitchFamily="18" charset="-122"/>
                <a:ea typeface="思源宋体" panose="02020400000000000000" pitchFamily="18" charset="-122"/>
              </a:rPr>
              <a:t>LLaVa</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而言，</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均使其在各个目标上有显著的性能提升。</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严重依赖基座模型能力，小参数模型表现相对疲软，但这确实是免训练方法的固有困境：为对齐微调方法的效果，不得不在推理阶段牺牲更多计算资源和显存。</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p:txBody>
      </p:sp>
      <p:pic>
        <p:nvPicPr>
          <p:cNvPr id="6" name="图片 5" descr="一些文字和图片的手机截图">
            <a:extLst>
              <a:ext uri="{FF2B5EF4-FFF2-40B4-BE49-F238E27FC236}">
                <a16:creationId xmlns:a16="http://schemas.microsoft.com/office/drawing/2014/main" id="{DCC7EDCA-F038-E2B7-2BAE-C13E427B36C8}"/>
              </a:ext>
            </a:extLst>
          </p:cNvPr>
          <p:cNvPicPr>
            <a:picLocks noChangeAspect="1"/>
          </p:cNvPicPr>
          <p:nvPr/>
        </p:nvPicPr>
        <p:blipFill>
          <a:blip r:embed="rId3"/>
          <a:srcRect t="2010" b="-1"/>
          <a:stretch>
            <a:fillRect/>
          </a:stretch>
        </p:blipFill>
        <p:spPr>
          <a:xfrm>
            <a:off x="51132" y="1084689"/>
            <a:ext cx="6351492" cy="3511780"/>
          </a:xfrm>
          <a:prstGeom prst="rect">
            <a:avLst/>
          </a:prstGeom>
        </p:spPr>
      </p:pic>
      <p:pic>
        <p:nvPicPr>
          <p:cNvPr id="7" name="图片 6" descr="表格">
            <a:extLst>
              <a:ext uri="{FF2B5EF4-FFF2-40B4-BE49-F238E27FC236}">
                <a16:creationId xmlns:a16="http://schemas.microsoft.com/office/drawing/2014/main" id="{71365C47-0F87-CCB8-E068-AFEFDF9C52DC}"/>
              </a:ext>
            </a:extLst>
          </p:cNvPr>
          <p:cNvPicPr>
            <a:picLocks noChangeAspect="1"/>
          </p:cNvPicPr>
          <p:nvPr/>
        </p:nvPicPr>
        <p:blipFill>
          <a:blip r:embed="rId4"/>
          <a:srcRect l="2350" t="2562"/>
          <a:stretch>
            <a:fillRect/>
          </a:stretch>
        </p:blipFill>
        <p:spPr>
          <a:xfrm>
            <a:off x="6402624" y="1084689"/>
            <a:ext cx="5587704" cy="3516392"/>
          </a:xfrm>
          <a:prstGeom prst="rect">
            <a:avLst/>
          </a:prstGeom>
        </p:spPr>
      </p:pic>
      <p:sp>
        <p:nvSpPr>
          <p:cNvPr id="8" name="文本框 7">
            <a:extLst>
              <a:ext uri="{FF2B5EF4-FFF2-40B4-BE49-F238E27FC236}">
                <a16:creationId xmlns:a16="http://schemas.microsoft.com/office/drawing/2014/main" id="{F10D53C0-2D31-C837-E678-0DEE322CBB46}"/>
              </a:ext>
            </a:extLst>
          </p:cNvPr>
          <p:cNvSpPr txBox="1"/>
          <p:nvPr/>
        </p:nvSpPr>
        <p:spPr>
          <a:xfrm>
            <a:off x="134947" y="710745"/>
            <a:ext cx="7262755" cy="369332"/>
          </a:xfrm>
          <a:prstGeom prst="rect">
            <a:avLst/>
          </a:prstGeom>
          <a:noFill/>
        </p:spPr>
        <p:txBody>
          <a:bodyPr wrap="square" rtlCol="0">
            <a:spAutoFit/>
          </a:bodyPr>
          <a:lstStyle/>
          <a:p>
            <a:r>
              <a:rPr lang="zh-CN" altLang="en-US" dirty="0">
                <a:latin typeface="思源宋体" panose="02020400000000000000" pitchFamily="18" charset="-122"/>
                <a:ea typeface="思源宋体" panose="02020400000000000000" pitchFamily="18" charset="-122"/>
              </a:rPr>
              <a:t>实验使用 </a:t>
            </a:r>
            <a:r>
              <a:rPr lang="en-US" altLang="zh-CN" dirty="0">
                <a:latin typeface="Times New Roman" panose="02020603050405020304" pitchFamily="18" charset="0"/>
                <a:ea typeface="思源宋体" panose="02020400000000000000" pitchFamily="18" charset="-122"/>
                <a:cs typeface="Times New Roman" panose="02020603050405020304" pitchFamily="18" charset="0"/>
              </a:rPr>
              <a:t>MMSD</a:t>
            </a:r>
            <a:r>
              <a:rPr lang="en-US" altLang="zh-CN" dirty="0">
                <a:latin typeface="思源宋体" panose="02020400000000000000" pitchFamily="18" charset="-122"/>
                <a:ea typeface="思源宋体" panose="02020400000000000000" pitchFamily="18" charset="-122"/>
              </a:rPr>
              <a:t> </a:t>
            </a:r>
            <a:r>
              <a:rPr lang="zh-CN" altLang="en-US" dirty="0">
                <a:latin typeface="思源宋体" panose="02020400000000000000" pitchFamily="18" charset="-122"/>
                <a:ea typeface="思源宋体" panose="02020400000000000000" pitchFamily="18" charset="-122"/>
              </a:rPr>
              <a:t>数据集，在五个不同的领域进行测试：</a:t>
            </a:r>
            <a:endParaRPr lang="zh-CN" altLang="en-US" dirty="0"/>
          </a:p>
        </p:txBody>
      </p:sp>
    </p:spTree>
    <p:extLst>
      <p:ext uri="{BB962C8B-B14F-4D97-AF65-F5344CB8AC3E}">
        <p14:creationId xmlns:p14="http://schemas.microsoft.com/office/powerpoint/2010/main" val="80627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4032-E8C3-EEB2-8BED-C1C23BA9126E}"/>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1B050264-1E43-F56C-5FC0-2AA5AFBDEC83}"/>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500F371F-7F47-FEC9-ACDA-4FF9F43C106A}"/>
              </a:ext>
            </a:extLst>
          </p:cNvPr>
          <p:cNvSpPr txBox="1"/>
          <p:nvPr>
            <p:custDataLst>
              <p:tags r:id="rId1"/>
            </p:custDataLst>
          </p:nvPr>
        </p:nvSpPr>
        <p:spPr>
          <a:xfrm>
            <a:off x="5806977" y="702710"/>
            <a:ext cx="5399579" cy="549663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消融实验研究结果明确表明所有模块具有协同重要性，因为完整的 </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模型在目标内和零样本设置下始终优于任何消融版本。</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其中最关键的组件是经验池，不使用模态经验会导致最显著的性能下降，特别是在零样本场景中，这凸显了评估跨样本模态贡献对于实现稳健泛化的不可或缺的作用。</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在不同相关度阈对目标内设置和零样本设置下检索性能的影响。结果表明，在这两种设置中，较低阈值时性能往往较差，而一旦阈值超过 </a:t>
            </a:r>
            <a:r>
              <a:rPr lang="en-US" altLang="zh-CN" sz="1600" dirty="0">
                <a:latin typeface="思源宋体" panose="02020400000000000000" pitchFamily="18" charset="-122"/>
                <a:ea typeface="思源宋体" panose="02020400000000000000" pitchFamily="18" charset="-122"/>
              </a:rPr>
              <a:t>0.8</a:t>
            </a:r>
            <a:r>
              <a:rPr lang="zh-CN" altLang="en-US" sz="1600" dirty="0">
                <a:latin typeface="思源宋体" panose="02020400000000000000" pitchFamily="18" charset="-122"/>
                <a:ea typeface="思源宋体" panose="02020400000000000000" pitchFamily="18" charset="-122"/>
              </a:rPr>
              <a:t>，性能会逐渐下降。</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较低的阈值可能会检索到不相关或质量较差的经验，这会引入噪声并损害推理过程。相反，过高的阈值会过于严格，导致检索到的经验数量不足，从而限制模型利用其积累的知识进行稳健推理的能力。</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p:txBody>
      </p:sp>
      <p:pic>
        <p:nvPicPr>
          <p:cNvPr id="5" name="图片 4" descr="手机屏幕截图&#10;&#10;AI 生成的内容可能不正确。">
            <a:extLst>
              <a:ext uri="{FF2B5EF4-FFF2-40B4-BE49-F238E27FC236}">
                <a16:creationId xmlns:a16="http://schemas.microsoft.com/office/drawing/2014/main" id="{F420873C-578B-B53C-B792-F1543FF605A7}"/>
              </a:ext>
            </a:extLst>
          </p:cNvPr>
          <p:cNvPicPr>
            <a:picLocks noChangeAspect="1"/>
          </p:cNvPicPr>
          <p:nvPr/>
        </p:nvPicPr>
        <p:blipFill>
          <a:blip r:embed="rId4"/>
          <a:srcRect l="2017" t="3790" r="4868" b="4035"/>
          <a:stretch>
            <a:fillRect/>
          </a:stretch>
        </p:blipFill>
        <p:spPr>
          <a:xfrm>
            <a:off x="588974" y="750836"/>
            <a:ext cx="4402412" cy="2265109"/>
          </a:xfrm>
          <a:prstGeom prst="rect">
            <a:avLst/>
          </a:prstGeom>
        </p:spPr>
      </p:pic>
      <p:pic>
        <p:nvPicPr>
          <p:cNvPr id="10" name="图片 9" descr="图表, 折线图&#10;&#10;AI 生成的内容可能不正确。">
            <a:extLst>
              <a:ext uri="{FF2B5EF4-FFF2-40B4-BE49-F238E27FC236}">
                <a16:creationId xmlns:a16="http://schemas.microsoft.com/office/drawing/2014/main" id="{51C9AD3D-C418-3364-3040-C8D0487A3151}"/>
              </a:ext>
            </a:extLst>
          </p:cNvPr>
          <p:cNvPicPr>
            <a:picLocks noChangeAspect="1"/>
          </p:cNvPicPr>
          <p:nvPr/>
        </p:nvPicPr>
        <p:blipFill>
          <a:blip r:embed="rId5"/>
          <a:srcRect l="2824" t="3391" r="3355" b="3095"/>
          <a:stretch>
            <a:fillRect/>
          </a:stretch>
        </p:blipFill>
        <p:spPr>
          <a:xfrm>
            <a:off x="588974" y="3288733"/>
            <a:ext cx="3969276" cy="3141284"/>
          </a:xfrm>
          <a:prstGeom prst="rect">
            <a:avLst/>
          </a:prstGeom>
        </p:spPr>
      </p:pic>
    </p:spTree>
    <p:extLst>
      <p:ext uri="{BB962C8B-B14F-4D97-AF65-F5344CB8AC3E}">
        <p14:creationId xmlns:p14="http://schemas.microsoft.com/office/powerpoint/2010/main" val="126815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A9E2-7024-C449-B4A0-FDB6D273274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DDC8EFD2-49B8-DA17-6DEA-FD3EA55B19B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C04B96BD-26AA-EF84-119D-6F527FD3CA67}"/>
              </a:ext>
            </a:extLst>
          </p:cNvPr>
          <p:cNvSpPr txBox="1"/>
          <p:nvPr>
            <p:custDataLst>
              <p:tags r:id="rId1"/>
            </p:custDataLst>
          </p:nvPr>
        </p:nvSpPr>
        <p:spPr>
          <a:xfrm>
            <a:off x="5841353" y="1241313"/>
            <a:ext cx="5399579" cy="438863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在（</a:t>
            </a:r>
            <a:r>
              <a:rPr lang="en-US" altLang="zh-CN" sz="1600" dirty="0">
                <a:latin typeface="思源宋体" panose="02020400000000000000" pitchFamily="18" charset="-122"/>
                <a:ea typeface="思源宋体" panose="02020400000000000000" pitchFamily="18" charset="-122"/>
              </a:rPr>
              <a:t>a</a:t>
            </a:r>
            <a:r>
              <a:rPr lang="zh-CN" altLang="en-US" sz="1600" dirty="0">
                <a:latin typeface="思源宋体" panose="02020400000000000000" pitchFamily="18" charset="-122"/>
                <a:ea typeface="思源宋体" panose="02020400000000000000" pitchFamily="18" charset="-122"/>
              </a:rPr>
              <a:t>）中，直接 </a:t>
            </a:r>
            <a:r>
              <a:rPr lang="en-US" altLang="zh-CN" sz="1600" dirty="0" err="1">
                <a:latin typeface="思源宋体" panose="02020400000000000000" pitchFamily="18" charset="-122"/>
                <a:ea typeface="思源宋体" panose="02020400000000000000" pitchFamily="18" charset="-122"/>
              </a:rPr>
              <a:t>CoT</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从字面上将文本中的 “</a:t>
            </a:r>
            <a:r>
              <a:rPr lang="en-US" altLang="zh-CN" sz="1600" dirty="0">
                <a:latin typeface="思源宋体" panose="02020400000000000000" pitchFamily="18" charset="-122"/>
                <a:ea typeface="思源宋体" panose="02020400000000000000" pitchFamily="18" charset="-122"/>
              </a:rPr>
              <a:t>stan Putin” </a:t>
            </a:r>
            <a:r>
              <a:rPr lang="zh-CN" altLang="en-US" sz="1600" dirty="0">
                <a:latin typeface="思源宋体" panose="02020400000000000000" pitchFamily="18" charset="-122"/>
                <a:ea typeface="思源宋体" panose="02020400000000000000" pitchFamily="18" charset="-122"/>
              </a:rPr>
              <a:t>理解为支持，却忽略了 “</a:t>
            </a:r>
            <a:r>
              <a:rPr lang="en-US" altLang="zh-CN" sz="1600" dirty="0">
                <a:latin typeface="思源宋体" panose="02020400000000000000" pitchFamily="18" charset="-122"/>
                <a:ea typeface="思源宋体" panose="02020400000000000000" pitchFamily="18" charset="-122"/>
              </a:rPr>
              <a:t>cringe” </a:t>
            </a:r>
            <a:r>
              <a:rPr lang="zh-CN" altLang="en-US" sz="1600" dirty="0">
                <a:latin typeface="思源宋体" panose="02020400000000000000" pitchFamily="18" charset="-122"/>
                <a:ea typeface="思源宋体" panose="02020400000000000000" pitchFamily="18" charset="-122"/>
              </a:rPr>
              <a:t>所带有的负面语境。</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的模态经验强调通过语境判断对文本证据进行加权，它能够通过 “</a:t>
            </a:r>
            <a:r>
              <a:rPr lang="en-US" altLang="zh-CN" sz="1600" dirty="0">
                <a:latin typeface="思源宋体" panose="02020400000000000000" pitchFamily="18" charset="-122"/>
                <a:ea typeface="思源宋体" panose="02020400000000000000" pitchFamily="18" charset="-122"/>
              </a:rPr>
              <a:t>cringe”</a:t>
            </a:r>
            <a:r>
              <a:rPr lang="zh-CN" altLang="en-US" sz="1600" dirty="0">
                <a:latin typeface="思源宋体" panose="02020400000000000000" pitchFamily="18" charset="-122"/>
                <a:ea typeface="思源宋体" panose="02020400000000000000" pitchFamily="18" charset="-122"/>
              </a:rPr>
              <a:t> 和 “</a:t>
            </a:r>
            <a:r>
              <a:rPr lang="en-US" altLang="zh-CN" sz="1600" dirty="0">
                <a:latin typeface="思源宋体" panose="02020400000000000000" pitchFamily="18" charset="-122"/>
                <a:ea typeface="思源宋体" panose="02020400000000000000" pitchFamily="18" charset="-122"/>
              </a:rPr>
              <a:t>stan”</a:t>
            </a:r>
            <a:r>
              <a:rPr lang="zh-CN" altLang="en-US" sz="1600" dirty="0">
                <a:latin typeface="思源宋体" panose="02020400000000000000" pitchFamily="18" charset="-122"/>
                <a:ea typeface="思源宋体" panose="02020400000000000000" pitchFamily="18" charset="-122"/>
              </a:rPr>
              <a:t> 之间的矛盾识别出隐含的讽刺，从而避免被孤立的显性词汇误导。</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在（</a:t>
            </a:r>
            <a:r>
              <a:rPr lang="en-US" altLang="zh-CN" sz="1600" dirty="0">
                <a:latin typeface="思源宋体" panose="02020400000000000000" pitchFamily="18" charset="-122"/>
                <a:ea typeface="思源宋体" panose="02020400000000000000" pitchFamily="18" charset="-122"/>
              </a:rPr>
              <a:t>b</a:t>
            </a:r>
            <a:r>
              <a:rPr lang="zh-CN" altLang="en-US" sz="1600" dirty="0">
                <a:latin typeface="思源宋体" panose="02020400000000000000" pitchFamily="18" charset="-122"/>
                <a:ea typeface="思源宋体" panose="02020400000000000000" pitchFamily="18" charset="-122"/>
              </a:rPr>
              <a:t>）中，直接 </a:t>
            </a:r>
            <a:r>
              <a:rPr lang="en-US" altLang="zh-CN" sz="1600" dirty="0" err="1">
                <a:latin typeface="思源宋体" panose="02020400000000000000" pitchFamily="18" charset="-122"/>
                <a:ea typeface="思源宋体" panose="02020400000000000000" pitchFamily="18" charset="-122"/>
              </a:rPr>
              <a:t>CoT</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从文本中印度解除出口禁令以及图像中领导人合作等表面信息推断出对该药物的支持。</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相比之下，</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的模态经验强调要优先考虑跨模态的明确立场信息，采用平等加权和默认中立的原则，同时通过常识和地缘政治背景加深理解，从而准确捕捉到了中立立场。</a:t>
            </a:r>
          </a:p>
          <a:p>
            <a:pPr>
              <a:lnSpc>
                <a:spcPct val="150000"/>
              </a:lnSpc>
            </a:pPr>
            <a:endParaRPr lang="en-US" altLang="zh-CN" sz="1600" dirty="0">
              <a:latin typeface="思源宋体" panose="02020400000000000000" pitchFamily="18" charset="-122"/>
              <a:ea typeface="思源宋体" panose="02020400000000000000" pitchFamily="18" charset="-122"/>
            </a:endParaRPr>
          </a:p>
        </p:txBody>
      </p:sp>
      <p:pic>
        <p:nvPicPr>
          <p:cNvPr id="6" name="图片 5" descr="文本&#10;&#10;AI 生成的内容可能不正确。">
            <a:extLst>
              <a:ext uri="{FF2B5EF4-FFF2-40B4-BE49-F238E27FC236}">
                <a16:creationId xmlns:a16="http://schemas.microsoft.com/office/drawing/2014/main" id="{6775117C-BF15-DD40-31E7-3A294113E68F}"/>
              </a:ext>
            </a:extLst>
          </p:cNvPr>
          <p:cNvPicPr>
            <a:picLocks noChangeAspect="1"/>
          </p:cNvPicPr>
          <p:nvPr/>
        </p:nvPicPr>
        <p:blipFill>
          <a:blip r:embed="rId4"/>
          <a:srcRect t="1614" r="3398" b="2227"/>
          <a:stretch>
            <a:fillRect/>
          </a:stretch>
        </p:blipFill>
        <p:spPr>
          <a:xfrm>
            <a:off x="288414" y="805378"/>
            <a:ext cx="4853883" cy="5140564"/>
          </a:xfrm>
          <a:prstGeom prst="rect">
            <a:avLst/>
          </a:prstGeom>
        </p:spPr>
      </p:pic>
    </p:spTree>
    <p:extLst>
      <p:ext uri="{BB962C8B-B14F-4D97-AF65-F5344CB8AC3E}">
        <p14:creationId xmlns:p14="http://schemas.microsoft.com/office/powerpoint/2010/main" val="656581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74A-C0E6-F49E-A5B7-F040F95B5245}"/>
            </a:ext>
          </a:extLst>
        </p:cNvPr>
        <p:cNvGrpSpPr/>
        <p:nvPr/>
      </p:nvGrpSpPr>
      <p:grpSpPr>
        <a:xfrm>
          <a:off x="0" y="0"/>
          <a:ext cx="0" cy="0"/>
          <a:chOff x="0" y="0"/>
          <a:chExt cx="0" cy="0"/>
        </a:xfrm>
      </p:grpSpPr>
      <p:pic>
        <p:nvPicPr>
          <p:cNvPr id="23" name="稻壳儿智宇https://www.docer.com/works?userid=328340712" descr="背景图案&#10;&#10;描述已自动生成">
            <a:extLst>
              <a:ext uri="{FF2B5EF4-FFF2-40B4-BE49-F238E27FC236}">
                <a16:creationId xmlns:a16="http://schemas.microsoft.com/office/drawing/2014/main" id="{8ECCB966-EE48-B1AB-A6E1-420C917D93C4}"/>
              </a:ext>
            </a:extLst>
          </p:cNvPr>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a:extLst>
              <a:ext uri="{FF2B5EF4-FFF2-40B4-BE49-F238E27FC236}">
                <a16:creationId xmlns:a16="http://schemas.microsoft.com/office/drawing/2014/main" id="{1F3196E0-1854-C817-A743-EA13E71C7E9F}"/>
              </a:ext>
            </a:extLst>
          </p:cNvPr>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a:extLst>
              <a:ext uri="{FF2B5EF4-FFF2-40B4-BE49-F238E27FC236}">
                <a16:creationId xmlns:a16="http://schemas.microsoft.com/office/drawing/2014/main" id="{2A132B57-FE7A-350A-3D97-5868B982EA5E}"/>
              </a:ext>
            </a:extLst>
          </p:cNvPr>
          <p:cNvSpPr/>
          <p:nvPr/>
        </p:nvSpPr>
        <p:spPr>
          <a:xfrm>
            <a:off x="1791381" y="2921168"/>
            <a:ext cx="8609237" cy="1015663"/>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感谢老师的观看</a:t>
            </a:r>
          </a:p>
        </p:txBody>
      </p:sp>
      <p:sp>
        <p:nvSpPr>
          <p:cNvPr id="4" name="稻壳儿智宇https://www.docer.com/works?userid=328340712">
            <a:extLst>
              <a:ext uri="{FF2B5EF4-FFF2-40B4-BE49-F238E27FC236}">
                <a16:creationId xmlns:a16="http://schemas.microsoft.com/office/drawing/2014/main" id="{88C57FC9-75B9-E9F4-DD6E-3EE6202DD5CB}"/>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815AD683-6F05-03A4-9814-078F1857C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extLst>
      <p:ext uri="{BB962C8B-B14F-4D97-AF65-F5344CB8AC3E}">
        <p14:creationId xmlns:p14="http://schemas.microsoft.com/office/powerpoint/2010/main" val="29205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fa47d307-c4b8-4d6e-85db-a4194826635c"/>
  <p:tag name="COMMONDATA" val="eyJjb3VudCI6MiwiaGRpZCI6IjgwMTEzOTMxYTllMDgyYmY3MGViZDIyZjNkZWMzYTdk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第一PPT，www.1ppt.com">
  <a:themeElements>
    <a:clrScheme name="文案邦设计主题色-20190404-171738">
      <a:dk1>
        <a:srgbClr val="000000"/>
      </a:dk1>
      <a:lt1>
        <a:srgbClr val="FFFFFF"/>
      </a:lt1>
      <a:dk2>
        <a:srgbClr val="0F2344"/>
      </a:dk2>
      <a:lt2>
        <a:srgbClr val="C7D7F3"/>
      </a:lt2>
      <a:accent1>
        <a:srgbClr val="1E4588"/>
      </a:accent1>
      <a:accent2>
        <a:srgbClr val="D7C39F"/>
      </a:accent2>
      <a:accent3>
        <a:srgbClr val="1E4588"/>
      </a:accent3>
      <a:accent4>
        <a:srgbClr val="D7C39F"/>
      </a:accent4>
      <a:accent5>
        <a:srgbClr val="1E4588"/>
      </a:accent5>
      <a:accent6>
        <a:srgbClr val="D7C39F"/>
      </a:accent6>
      <a:hlink>
        <a:srgbClr val="0563C1"/>
      </a:hlink>
      <a:folHlink>
        <a:srgbClr val="954F72"/>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929</TotalTime>
  <Words>703</Words>
  <Application>Microsoft Office PowerPoint</Application>
  <PresentationFormat>宽屏</PresentationFormat>
  <Paragraphs>50</Paragraphs>
  <Slides>11</Slides>
  <Notes>7</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11</vt:i4>
      </vt:variant>
    </vt:vector>
  </HeadingPairs>
  <TitlesOfParts>
    <vt:vector size="21" baseType="lpstr">
      <vt:lpstr>汉仪旗黑-45S</vt:lpstr>
      <vt:lpstr>思源宋体</vt:lpstr>
      <vt:lpstr>微软雅黑</vt:lpstr>
      <vt:lpstr>Arial</vt:lpstr>
      <vt:lpstr>Calibri</vt:lpstr>
      <vt:lpstr>Times New Roman</vt:lpstr>
      <vt:lpstr>Wingdings</vt:lpstr>
      <vt:lpstr>第一PPT，www.1ppt.com</vt:lpstr>
      <vt:lpstr>第一PPT，www.1ppt.com </vt:lpstr>
      <vt:lpstr>自定义设计方案</vt:lpstr>
      <vt:lpstr>PowerPoint 演示文稿</vt:lpstr>
      <vt:lpstr>PowerPoint 演示文稿</vt:lpstr>
      <vt:lpstr>PowerPoint 演示文稿</vt:lpstr>
      <vt:lpstr>01.多模态立场检测任务</vt:lpstr>
      <vt:lpstr>PowerPoint 演示文稿</vt:lpstr>
      <vt:lpstr>02.框架设计</vt:lpstr>
      <vt:lpstr>PowerPoint 演示文稿</vt:lpstr>
      <vt:lpstr>03.实验结果</vt:lpstr>
      <vt:lpstr>03.实验结果</vt:lpstr>
      <vt:lpstr>03.实验结果</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description>www.1ppt.com</dc:description>
  <cp:lastModifiedBy>正达 金</cp:lastModifiedBy>
  <cp:revision>32</cp:revision>
  <dcterms:created xsi:type="dcterms:W3CDTF">2022-03-22T04:00:00Z</dcterms:created>
  <dcterms:modified xsi:type="dcterms:W3CDTF">2025-12-17T12:05:07Z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B2CFBE5D82A249AF984D70F277C2B786_12</vt:lpwstr>
  </property>
  <property fmtid="{D5CDD505-2E9C-101B-9397-08002B2CF9AE}" pid="3" name="KSOProductBuildVer">
    <vt:lpwstr>2052-12.1.0.15374</vt:lpwstr>
  </property>
</Properties>
</file>