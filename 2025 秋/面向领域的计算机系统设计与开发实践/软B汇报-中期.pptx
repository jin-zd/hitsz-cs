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2.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3.xml" ContentType="application/vnd.openxmlformats-officedocument.presentationml.notesSlide+xml"/>
  <Override PartName="/ppt/tags/tag41.xml" ContentType="application/vnd.openxmlformats-officedocument.presentationml.tags+xml"/>
  <Override PartName="/ppt/notesSlides/notesSlide4.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5.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6.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7.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8.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9.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 id="2147483737" r:id="rId3"/>
  </p:sldMasterIdLst>
  <p:notesMasterIdLst>
    <p:notesMasterId r:id="rId21"/>
  </p:notesMasterIdLst>
  <p:handoutMasterIdLst>
    <p:handoutMasterId r:id="rId22"/>
  </p:handoutMasterIdLst>
  <p:sldIdLst>
    <p:sldId id="691" r:id="rId4"/>
    <p:sldId id="714" r:id="rId5"/>
    <p:sldId id="693" r:id="rId6"/>
    <p:sldId id="715" r:id="rId7"/>
    <p:sldId id="731" r:id="rId8"/>
    <p:sldId id="696" r:id="rId9"/>
    <p:sldId id="716" r:id="rId10"/>
    <p:sldId id="720" r:id="rId11"/>
    <p:sldId id="732" r:id="rId12"/>
    <p:sldId id="721" r:id="rId13"/>
    <p:sldId id="733" r:id="rId14"/>
    <p:sldId id="734" r:id="rId15"/>
    <p:sldId id="727" r:id="rId16"/>
    <p:sldId id="728" r:id="rId17"/>
    <p:sldId id="735" r:id="rId18"/>
    <p:sldId id="729" r:id="rId19"/>
    <p:sldId id="730" r:id="rId20"/>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3F1"/>
    <a:srgbClr val="022539"/>
    <a:srgbClr val="FB991C"/>
    <a:srgbClr val="1E7590"/>
    <a:srgbClr val="666666"/>
    <a:srgbClr val="DEDAD7"/>
    <a:srgbClr val="72929D"/>
    <a:srgbClr val="8A8A8A"/>
    <a:srgbClr val="535D5F"/>
    <a:srgbClr val="7293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92" autoAdjust="0"/>
    <p:restoredTop sz="87671" autoAdjust="0"/>
  </p:normalViewPr>
  <p:slideViewPr>
    <p:cSldViewPr snapToGrid="0">
      <p:cViewPr varScale="1">
        <p:scale>
          <a:sx n="102" d="100"/>
          <a:sy n="102" d="100"/>
        </p:scale>
        <p:origin x="232"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gs" Target="tags/tag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2025/11/12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42322097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汉仪旗黑-45S" panose="00020600040101010101" pitchFamily="18" charset="-122"/>
                <a:ea typeface="汉仪旗黑-45S" panose="00020600040101010101" pitchFamily="18"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汉仪旗黑-45S" panose="00020600040101010101" pitchFamily="18" charset="-122"/>
                <a:ea typeface="汉仪旗黑-45S" panose="00020600040101010101" pitchFamily="18" charset="-122"/>
              </a:defRPr>
            </a:lvl1pPr>
          </a:lstStyle>
          <a:p>
            <a:fld id="{F87F258B-B836-4A03-90D9-E39CD78388D8}" type="datetimeFigureOut">
              <a:rPr lang="zh-CN" altLang="en-US" smtClean="0"/>
              <a:t>2025/11/12</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汉仪旗黑-45S" panose="00020600040101010101" pitchFamily="18" charset="-122"/>
                <a:ea typeface="汉仪旗黑-45S" panose="00020600040101010101" pitchFamily="18"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汉仪旗黑-45S" panose="00020600040101010101" pitchFamily="18" charset="-122"/>
                <a:ea typeface="汉仪旗黑-45S" panose="00020600040101010101" pitchFamily="18" charset="-122"/>
              </a:defRPr>
            </a:lvl1pPr>
          </a:lstStyle>
          <a:p>
            <a:fld id="{56961F87-20C5-4746-9C61-F4321B4DA788}" type="slidenum">
              <a:rPr lang="zh-CN" altLang="en-US" smtClean="0"/>
              <a:t>‹#›</a:t>
            </a:fld>
            <a:endParaRPr lang="zh-CN" altLang="en-US" dirty="0"/>
          </a:p>
        </p:txBody>
      </p:sp>
    </p:spTree>
    <p:extLst>
      <p:ext uri="{BB962C8B-B14F-4D97-AF65-F5344CB8AC3E}">
        <p14:creationId xmlns:p14="http://schemas.microsoft.com/office/powerpoint/2010/main" val="257968379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1pPr>
    <a:lvl2pPr marL="45720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2pPr>
    <a:lvl3pPr marL="91440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3pPr>
    <a:lvl4pPr marL="137160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4pPr>
    <a:lvl5pPr marL="1828800" algn="l" defTabSz="914400" rtl="0" eaLnBrk="1" latinLnBrk="0" hangingPunct="1">
      <a:defRPr sz="1200" kern="1200">
        <a:solidFill>
          <a:schemeClr val="tx1"/>
        </a:solidFill>
        <a:latin typeface="汉仪旗黑-45S" panose="00020600040101010101" pitchFamily="18" charset="-122"/>
        <a:ea typeface="汉仪旗黑-45S" panose="00020600040101010101" pitchFamily="18"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81315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37688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777191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7362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552903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09341-93C2-3E58-2CFE-77DDCAA15B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9693AD-B415-3B5D-4F7A-BFD5B1A137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9C95EE-38B2-B4EB-C84F-97547C7079AA}"/>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75230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81A28-0A0F-39D1-F78B-2AA16FCC6A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AFFCFAF-F408-D784-A890-096CAE4CB9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F92F0D-217D-72B4-54FD-030B30259ACD}"/>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204792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8A048-3BFC-3821-EFB7-69F18776FA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EC0B17-9F17-F0F1-CC4E-A5E3A64972A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E126787-B05E-8099-2828-7485F676607E}"/>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487086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03446-8C43-D9DD-0EBD-478ACC7406B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65DA03-A769-2B6A-A32E-F6FB539AE80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564172D-0526-8B40-A74C-39AE37904A14}"/>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08881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CEAB3-9FB5-88CD-1BB2-DEA787C3F1C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55ADFFF-5DDF-00F0-E6D0-0B52F1DAF0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D5D35B4-D79F-610B-1295-57AF47E41731}"/>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63950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1.xml"/><Relationship Id="rId5" Type="http://schemas.openxmlformats.org/officeDocument/2006/relationships/tags" Target="../tags/tag6.xml"/><Relationship Id="rId4" Type="http://schemas.openxmlformats.org/officeDocument/2006/relationships/tags" Target="../tags/tag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2.xml"/><Relationship Id="rId5" Type="http://schemas.openxmlformats.org/officeDocument/2006/relationships/tags" Target="../tags/tag11.xml"/><Relationship Id="rId4" Type="http://schemas.openxmlformats.org/officeDocument/2006/relationships/tags" Target="../tags/tag10.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pic>
        <p:nvPicPr>
          <p:cNvPr id="24" name="图片 23" descr="背景图案&#10;&#10;描述已自动生成"/>
          <p:cNvPicPr>
            <a:picLocks noChangeAspect="1"/>
          </p:cNvPicPr>
          <p:nvPr userDrawn="1"/>
        </p:nvPicPr>
        <p:blipFill>
          <a:blip r:embed="rId2" cstate="print"/>
          <a:srcRect/>
          <a:stretch>
            <a:fillRect/>
          </a:stretch>
        </p:blipFill>
        <p:spPr>
          <a:xfrm>
            <a:off x="0" y="0"/>
            <a:ext cx="12192000" cy="6858000"/>
          </a:xfrm>
          <a:prstGeom prst="rect">
            <a:avLst/>
          </a:prstGeom>
        </p:spPr>
      </p:pic>
      <p:sp>
        <p:nvSpPr>
          <p:cNvPr id="21" name="矩形 20"/>
          <p:cNvSpPr/>
          <p:nvPr userDrawn="1"/>
        </p:nvSpPr>
        <p:spPr>
          <a:xfrm>
            <a:off x="0" y="2060745"/>
            <a:ext cx="12192000" cy="273651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userDrawn="1"/>
        </p:nvSpPr>
        <p:spPr>
          <a:xfrm>
            <a:off x="5257800" y="943796"/>
            <a:ext cx="1676400" cy="1676400"/>
          </a:xfrm>
          <a:prstGeom prst="ellipse">
            <a:avLst/>
          </a:prstGeom>
          <a:gradFill>
            <a:gsLst>
              <a:gs pos="100000">
                <a:schemeClr val="bg1">
                  <a:lumMod val="90000"/>
                </a:schemeClr>
              </a:gs>
              <a:gs pos="0">
                <a:schemeClr val="bg1"/>
              </a:gs>
            </a:gsLst>
            <a:lin ang="2700000" scaled="0"/>
          </a:gradFill>
          <a:ln>
            <a:noFill/>
          </a:ln>
          <a:effectLst>
            <a:outerShdw blurRad="889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占位符 15"/>
          <p:cNvSpPr>
            <a:spLocks noGrp="1"/>
          </p:cNvSpPr>
          <p:nvPr>
            <p:ph type="body" sz="quarter" idx="10" hasCustomPrompt="1"/>
          </p:nvPr>
        </p:nvSpPr>
        <p:spPr>
          <a:xfrm>
            <a:off x="5577841" y="1421591"/>
            <a:ext cx="1036320" cy="747897"/>
          </a:xfrm>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wrap="square" lIns="0" tIns="0" rIns="0" bIns="0">
            <a:spAutoFit/>
          </a:bodyPr>
          <a:lstStyle>
            <a:lvl1pPr marL="0" indent="0" algn="ctr">
              <a:buNone/>
              <a:defRPr lang="zh-CN" altLang="en-US" sz="5400" b="0" smtClean="0">
                <a:solidFill>
                  <a:schemeClr val="tx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914400" lvl="0" indent="-1143000" algn="l" defTabSz="914400" rtl="0" eaLnBrk="1" fontAlgn="base" latinLnBrk="0" hangingPunct="1">
              <a:lnSpc>
                <a:spcPct val="90000"/>
              </a:lnSpc>
              <a:spcBef>
                <a:spcPts val="1000"/>
              </a:spcBef>
            </a:pPr>
            <a:r>
              <a:rPr lang="en-US" altLang="zh-CN" dirty="0"/>
              <a:t>01</a:t>
            </a:r>
            <a:endParaRPr lang="zh-CN" altLang="en-US" dirty="0"/>
          </a:p>
        </p:txBody>
      </p:sp>
      <p:sp>
        <p:nvSpPr>
          <p:cNvPr id="18" name="文本占位符 13"/>
          <p:cNvSpPr>
            <a:spLocks noGrp="1"/>
          </p:cNvSpPr>
          <p:nvPr>
            <p:ph type="body" sz="quarter" idx="12" hasCustomPrompt="1"/>
          </p:nvPr>
        </p:nvSpPr>
        <p:spPr>
          <a:xfrm>
            <a:off x="2608162" y="2967335"/>
            <a:ext cx="6975676" cy="923330"/>
          </a:xfrm>
          <a:prstGeom prst="rect">
            <a:avLst/>
          </a:prstGeom>
          <a:noFill/>
        </p:spPr>
        <p:txBody>
          <a:bodyPr wrap="square" lIns="0" tIns="0" rIns="0" bIns="0" rtlCol="0">
            <a:spAutoFit/>
          </a:bodyPr>
          <a:lstStyle>
            <a:lvl1pPr marL="0" marR="0" indent="0" algn="ctr" rtl="0">
              <a:lnSpc>
                <a:spcPct val="100000"/>
              </a:lnSpc>
              <a:spcBef>
                <a:spcPts val="0"/>
              </a:spcBef>
              <a:spcAft>
                <a:spcPts val="0"/>
              </a:spcAft>
              <a:buNone/>
              <a:defRPr lang="zh-CN" altLang="en-US" sz="6000" b="1" spc="600" smtClean="0">
                <a:solidFill>
                  <a:schemeClr val="bg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r>
              <a:rPr lang="zh-CN" altLang="en-US" dirty="0"/>
              <a:t>输入您的标题</a:t>
            </a:r>
          </a:p>
        </p:txBody>
      </p:sp>
      <p:sp>
        <p:nvSpPr>
          <p:cNvPr id="4" name="文本占位符 3"/>
          <p:cNvSpPr>
            <a:spLocks noGrp="1"/>
          </p:cNvSpPr>
          <p:nvPr>
            <p:ph type="body" sz="quarter" idx="14" hasCustomPrompt="1"/>
          </p:nvPr>
        </p:nvSpPr>
        <p:spPr>
          <a:xfrm>
            <a:off x="2836546" y="4080434"/>
            <a:ext cx="6515734" cy="263525"/>
          </a:xfrm>
          <a:prstGeom prst="rect">
            <a:avLst/>
          </a:prstGeom>
        </p:spPr>
        <p:txBody>
          <a:bodyPr lIns="0" tIns="0" rIns="0" bIns="0"/>
          <a:lstStyle>
            <a:lvl1pPr marL="0" indent="0" algn="ctr">
              <a:buNone/>
              <a:defRPr sz="1400" spc="3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ltLang="zh-CN" dirty="0"/>
              <a:t>Part one</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sp>
        <p:nvSpPr>
          <p:cNvPr id="4" name="标题 1"/>
          <p:cNvSpPr>
            <a:spLocks noGrp="1"/>
          </p:cNvSpPr>
          <p:nvPr userDrawn="1">
            <p:ph type="title"/>
          </p:nvPr>
        </p:nvSpPr>
        <p:spPr>
          <a:xfrm>
            <a:off x="691837" y="260750"/>
            <a:ext cx="8048303" cy="441960"/>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400" b="1" kern="1200" spc="200" baseline="0">
                <a:solidFill>
                  <a:schemeClr val="accent1"/>
                </a:solidFill>
                <a:latin typeface="+mj-lt"/>
                <a:ea typeface="+mj-ea"/>
                <a:cs typeface="+mj-cs"/>
              </a:defRPr>
            </a:lvl1pPr>
          </a:lstStyle>
          <a:p>
            <a:r>
              <a:rPr lang="zh-CN" altLang="en-US" dirty="0"/>
              <a:t>单击此处编辑母版标题样式</a:t>
            </a:r>
          </a:p>
        </p:txBody>
      </p:sp>
      <p:grpSp>
        <p:nvGrpSpPr>
          <p:cNvPr id="28" name="组合 27"/>
          <p:cNvGrpSpPr/>
          <p:nvPr userDrawn="1"/>
        </p:nvGrpSpPr>
        <p:grpSpPr>
          <a:xfrm>
            <a:off x="131124" y="335280"/>
            <a:ext cx="498796" cy="292900"/>
            <a:chOff x="81280" y="260750"/>
            <a:chExt cx="498796" cy="441960"/>
          </a:xfrm>
        </p:grpSpPr>
        <p:sp>
          <p:nvSpPr>
            <p:cNvPr id="29" name="箭头: V 形 28"/>
            <p:cNvSpPr/>
            <p:nvPr/>
          </p:nvSpPr>
          <p:spPr>
            <a:xfrm>
              <a:off x="330678" y="260750"/>
              <a:ext cx="249398" cy="441960"/>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箭头: V 形 29"/>
            <p:cNvSpPr/>
            <p:nvPr/>
          </p:nvSpPr>
          <p:spPr>
            <a:xfrm>
              <a:off x="81280" y="260750"/>
              <a:ext cx="249398" cy="44196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2025/11/12</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pic>
        <p:nvPicPr>
          <p:cNvPr id="24" name="图片 23" descr="背景图案&#10;&#10;描述已自动生成"/>
          <p:cNvPicPr>
            <a:picLocks noChangeAspect="1"/>
          </p:cNvPicPr>
          <p:nvPr userDrawn="1"/>
        </p:nvPicPr>
        <p:blipFill>
          <a:blip r:embed="rId2" cstate="print"/>
          <a:srcRect/>
          <a:stretch>
            <a:fillRect/>
          </a:stretch>
        </p:blipFill>
        <p:spPr>
          <a:xfrm>
            <a:off x="0" y="0"/>
            <a:ext cx="12192000" cy="6858000"/>
          </a:xfrm>
          <a:prstGeom prst="rect">
            <a:avLst/>
          </a:prstGeom>
        </p:spPr>
      </p:pic>
      <p:sp>
        <p:nvSpPr>
          <p:cNvPr id="21" name="矩形 20"/>
          <p:cNvSpPr/>
          <p:nvPr userDrawn="1"/>
        </p:nvSpPr>
        <p:spPr>
          <a:xfrm>
            <a:off x="0" y="2060745"/>
            <a:ext cx="12192000" cy="273651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23" name="椭圆 22"/>
          <p:cNvSpPr/>
          <p:nvPr userDrawn="1"/>
        </p:nvSpPr>
        <p:spPr>
          <a:xfrm>
            <a:off x="5257800" y="943796"/>
            <a:ext cx="1676400" cy="1676400"/>
          </a:xfrm>
          <a:prstGeom prst="ellipse">
            <a:avLst/>
          </a:prstGeom>
          <a:gradFill>
            <a:gsLst>
              <a:gs pos="100000">
                <a:schemeClr val="bg1">
                  <a:lumMod val="90000"/>
                </a:schemeClr>
              </a:gs>
              <a:gs pos="0">
                <a:schemeClr val="bg1"/>
              </a:gs>
            </a:gsLst>
            <a:lin ang="2700000" scaled="0"/>
          </a:gradFill>
          <a:ln>
            <a:noFill/>
          </a:ln>
          <a:effectLst>
            <a:outerShdw blurRad="889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6" name="文本占位符 15"/>
          <p:cNvSpPr>
            <a:spLocks noGrp="1"/>
          </p:cNvSpPr>
          <p:nvPr>
            <p:ph type="body" sz="quarter" idx="10" hasCustomPrompt="1"/>
          </p:nvPr>
        </p:nvSpPr>
        <p:spPr>
          <a:xfrm>
            <a:off x="5577841" y="1421591"/>
            <a:ext cx="1036320" cy="747897"/>
          </a:xfrm>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wrap="square" lIns="0" tIns="0" rIns="0" bIns="0">
            <a:spAutoFit/>
          </a:bodyPr>
          <a:lstStyle>
            <a:lvl1pPr marL="0" indent="0" algn="ctr">
              <a:buNone/>
              <a:defRPr lang="zh-CN" altLang="en-US" sz="5400" b="0" smtClean="0">
                <a:solidFill>
                  <a:schemeClr val="tx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914400" lvl="0" indent="-1143000" algn="l" defTabSz="914400" rtl="0" eaLnBrk="1" fontAlgn="base" latinLnBrk="0" hangingPunct="1">
              <a:lnSpc>
                <a:spcPct val="90000"/>
              </a:lnSpc>
              <a:spcBef>
                <a:spcPts val="1000"/>
              </a:spcBef>
            </a:pPr>
            <a:r>
              <a:rPr lang="en-US" altLang="zh-CN" dirty="0"/>
              <a:t>01</a:t>
            </a:r>
            <a:endParaRPr lang="zh-CN" altLang="en-US" dirty="0"/>
          </a:p>
        </p:txBody>
      </p:sp>
      <p:sp>
        <p:nvSpPr>
          <p:cNvPr id="18" name="文本占位符 13"/>
          <p:cNvSpPr>
            <a:spLocks noGrp="1"/>
          </p:cNvSpPr>
          <p:nvPr>
            <p:ph type="body" sz="quarter" idx="12" hasCustomPrompt="1"/>
          </p:nvPr>
        </p:nvSpPr>
        <p:spPr>
          <a:xfrm>
            <a:off x="2608162" y="2967335"/>
            <a:ext cx="6975676" cy="923330"/>
          </a:xfrm>
          <a:prstGeom prst="rect">
            <a:avLst/>
          </a:prstGeom>
          <a:noFill/>
        </p:spPr>
        <p:txBody>
          <a:bodyPr wrap="square" lIns="0" tIns="0" rIns="0" bIns="0" rtlCol="0">
            <a:spAutoFit/>
          </a:bodyPr>
          <a:lstStyle>
            <a:lvl1pPr marL="0" marR="0" indent="0" algn="ctr" rtl="0">
              <a:lnSpc>
                <a:spcPct val="100000"/>
              </a:lnSpc>
              <a:spcBef>
                <a:spcPts val="0"/>
              </a:spcBef>
              <a:spcAft>
                <a:spcPts val="0"/>
              </a:spcAft>
              <a:buNone/>
              <a:defRPr lang="zh-CN" altLang="en-US" sz="6000" b="1" spc="600" smtClean="0">
                <a:solidFill>
                  <a:schemeClr val="bg1"/>
                </a:solidFill>
                <a:latin typeface="+mj-ea"/>
                <a:ea typeface="+mj-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r>
              <a:rPr lang="zh-CN" altLang="en-US" dirty="0"/>
              <a:t>输入您的标题</a:t>
            </a:r>
          </a:p>
        </p:txBody>
      </p:sp>
      <p:sp>
        <p:nvSpPr>
          <p:cNvPr id="4" name="文本占位符 3"/>
          <p:cNvSpPr>
            <a:spLocks noGrp="1"/>
          </p:cNvSpPr>
          <p:nvPr>
            <p:ph type="body" sz="quarter" idx="14" hasCustomPrompt="1"/>
          </p:nvPr>
        </p:nvSpPr>
        <p:spPr>
          <a:xfrm>
            <a:off x="2836546" y="4080434"/>
            <a:ext cx="6515734" cy="263525"/>
          </a:xfrm>
          <a:prstGeom prst="rect">
            <a:avLst/>
          </a:prstGeom>
        </p:spPr>
        <p:txBody>
          <a:bodyPr lIns="0" tIns="0" rIns="0" bIns="0"/>
          <a:lstStyle>
            <a:lvl1pPr marL="0" indent="0" algn="ctr">
              <a:buNone/>
              <a:defRPr sz="1400" spc="300">
                <a:solidFill>
                  <a:schemeClr val="bg1"/>
                </a:solidFill>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a:r>
              <a:rPr lang="en-US" altLang="zh-CN" dirty="0"/>
              <a:t>Part one</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sp>
        <p:nvSpPr>
          <p:cNvPr id="4" name="标题 1"/>
          <p:cNvSpPr>
            <a:spLocks noGrp="1"/>
          </p:cNvSpPr>
          <p:nvPr userDrawn="1">
            <p:ph type="title"/>
          </p:nvPr>
        </p:nvSpPr>
        <p:spPr>
          <a:xfrm>
            <a:off x="691837" y="260750"/>
            <a:ext cx="8048303" cy="441960"/>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2400" b="1" kern="1200" spc="200" baseline="0">
                <a:solidFill>
                  <a:schemeClr val="accent1"/>
                </a:solidFill>
                <a:latin typeface="+mj-lt"/>
                <a:ea typeface="+mj-ea"/>
                <a:cs typeface="+mj-cs"/>
              </a:defRPr>
            </a:lvl1pPr>
          </a:lstStyle>
          <a:p>
            <a:r>
              <a:rPr lang="zh-CN" altLang="en-US" dirty="0"/>
              <a:t>单击此处编辑母版标题样式</a:t>
            </a:r>
          </a:p>
        </p:txBody>
      </p:sp>
      <p:grpSp>
        <p:nvGrpSpPr>
          <p:cNvPr id="28" name="组合 27"/>
          <p:cNvGrpSpPr/>
          <p:nvPr userDrawn="1"/>
        </p:nvGrpSpPr>
        <p:grpSpPr>
          <a:xfrm>
            <a:off x="131124" y="335280"/>
            <a:ext cx="498796" cy="292900"/>
            <a:chOff x="81280" y="260750"/>
            <a:chExt cx="498796" cy="441960"/>
          </a:xfrm>
        </p:grpSpPr>
        <p:sp>
          <p:nvSpPr>
            <p:cNvPr id="29" name="箭头: V 形 28"/>
            <p:cNvSpPr/>
            <p:nvPr/>
          </p:nvSpPr>
          <p:spPr>
            <a:xfrm>
              <a:off x="330678" y="260750"/>
              <a:ext cx="249398" cy="441960"/>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0" name="箭头: V 形 29"/>
            <p:cNvSpPr/>
            <p:nvPr/>
          </p:nvSpPr>
          <p:spPr>
            <a:xfrm>
              <a:off x="81280" y="260750"/>
              <a:ext cx="249398" cy="44196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75237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013927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97018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1700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616576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53979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43389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320196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00241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618368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791510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139423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82140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81585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64636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212367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16437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20686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88568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552113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275774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02089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127191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95441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01079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97032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06206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168169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98751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73278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319889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84367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079672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211861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13278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527399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143783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997817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008753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903760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28260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099164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8669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91808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299543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4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403446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980893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800032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69291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19489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5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37709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5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71463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5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53167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5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756174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5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424969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5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873573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5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379623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5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144213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5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529676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532440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6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270910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6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799634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626872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6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18166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6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791471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6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568774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6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336171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6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317125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6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51972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6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278750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70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TextBox 2"/>
          <p:cNvSpPr txBox="1"/>
          <p:nvPr userDrawn="1"/>
        </p:nvSpPr>
        <p:spPr>
          <a:xfrm>
            <a:off x="453650" y="0"/>
            <a:ext cx="540060" cy="123111"/>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dirty="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dirty="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dirty="0">
                <a:solidFill>
                  <a:schemeClr val="tx1">
                    <a:alpha val="0"/>
                  </a:schemeClr>
                </a:solidFill>
                <a:latin typeface="微软雅黑" panose="020B0503020204020204" pitchFamily="34" charset="-122"/>
                <a:ea typeface="微软雅黑" panose="020B0503020204020204" pitchFamily="34" charset="-122"/>
              </a:rPr>
              <a:t>http://www.1ppt.com/hangye/</a:t>
            </a:r>
          </a:p>
        </p:txBody>
      </p:sp>
    </p:spTree>
    <p:extLst>
      <p:ext uri="{BB962C8B-B14F-4D97-AF65-F5344CB8AC3E}">
        <p14:creationId xmlns:p14="http://schemas.microsoft.com/office/powerpoint/2010/main" val="3268309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7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55458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7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485243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2025/11/12</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2025/11/12</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64599637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2025/11/12</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94906559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5263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3.xml"/><Relationship Id="rId21" Type="http://schemas.openxmlformats.org/officeDocument/2006/relationships/slideLayout" Target="../slideLayouts/slideLayout28.xml"/><Relationship Id="rId42" Type="http://schemas.openxmlformats.org/officeDocument/2006/relationships/slideLayout" Target="../slideLayouts/slideLayout49.xml"/><Relationship Id="rId47" Type="http://schemas.openxmlformats.org/officeDocument/2006/relationships/slideLayout" Target="../slideLayouts/slideLayout54.xml"/><Relationship Id="rId63" Type="http://schemas.openxmlformats.org/officeDocument/2006/relationships/slideLayout" Target="../slideLayouts/slideLayout70.xml"/><Relationship Id="rId68" Type="http://schemas.openxmlformats.org/officeDocument/2006/relationships/slideLayout" Target="../slideLayouts/slideLayout75.xml"/><Relationship Id="rId16" Type="http://schemas.openxmlformats.org/officeDocument/2006/relationships/slideLayout" Target="../slideLayouts/slideLayout23.xml"/><Relationship Id="rId11" Type="http://schemas.openxmlformats.org/officeDocument/2006/relationships/slideLayout" Target="../slideLayouts/slideLayout18.xml"/><Relationship Id="rId32" Type="http://schemas.openxmlformats.org/officeDocument/2006/relationships/slideLayout" Target="../slideLayouts/slideLayout39.xml"/><Relationship Id="rId37" Type="http://schemas.openxmlformats.org/officeDocument/2006/relationships/slideLayout" Target="../slideLayouts/slideLayout44.xml"/><Relationship Id="rId53" Type="http://schemas.openxmlformats.org/officeDocument/2006/relationships/slideLayout" Target="../slideLayouts/slideLayout60.xml"/><Relationship Id="rId58" Type="http://schemas.openxmlformats.org/officeDocument/2006/relationships/slideLayout" Target="../slideLayouts/slideLayout65.xml"/><Relationship Id="rId74" Type="http://schemas.openxmlformats.org/officeDocument/2006/relationships/slideLayout" Target="../slideLayouts/slideLayout81.xml"/><Relationship Id="rId79" Type="http://schemas.openxmlformats.org/officeDocument/2006/relationships/slideLayout" Target="../slideLayouts/slideLayout86.xml"/><Relationship Id="rId5" Type="http://schemas.openxmlformats.org/officeDocument/2006/relationships/slideLayout" Target="../slideLayouts/slideLayout12.xml"/><Relationship Id="rId61" Type="http://schemas.openxmlformats.org/officeDocument/2006/relationships/slideLayout" Target="../slideLayouts/slideLayout68.xml"/><Relationship Id="rId19" Type="http://schemas.openxmlformats.org/officeDocument/2006/relationships/slideLayout" Target="../slideLayouts/slideLayout26.xml"/><Relationship Id="rId14" Type="http://schemas.openxmlformats.org/officeDocument/2006/relationships/slideLayout" Target="../slideLayouts/slideLayout21.xml"/><Relationship Id="rId22" Type="http://schemas.openxmlformats.org/officeDocument/2006/relationships/slideLayout" Target="../slideLayouts/slideLayout29.xml"/><Relationship Id="rId27" Type="http://schemas.openxmlformats.org/officeDocument/2006/relationships/slideLayout" Target="../slideLayouts/slideLayout34.xml"/><Relationship Id="rId30" Type="http://schemas.openxmlformats.org/officeDocument/2006/relationships/slideLayout" Target="../slideLayouts/slideLayout37.xml"/><Relationship Id="rId35" Type="http://schemas.openxmlformats.org/officeDocument/2006/relationships/slideLayout" Target="../slideLayouts/slideLayout42.xml"/><Relationship Id="rId43" Type="http://schemas.openxmlformats.org/officeDocument/2006/relationships/slideLayout" Target="../slideLayouts/slideLayout50.xml"/><Relationship Id="rId48" Type="http://schemas.openxmlformats.org/officeDocument/2006/relationships/slideLayout" Target="../slideLayouts/slideLayout55.xml"/><Relationship Id="rId56" Type="http://schemas.openxmlformats.org/officeDocument/2006/relationships/slideLayout" Target="../slideLayouts/slideLayout63.xml"/><Relationship Id="rId64" Type="http://schemas.openxmlformats.org/officeDocument/2006/relationships/slideLayout" Target="../slideLayouts/slideLayout71.xml"/><Relationship Id="rId69" Type="http://schemas.openxmlformats.org/officeDocument/2006/relationships/slideLayout" Target="../slideLayouts/slideLayout76.xml"/><Relationship Id="rId77" Type="http://schemas.openxmlformats.org/officeDocument/2006/relationships/slideLayout" Target="../slideLayouts/slideLayout84.xml"/><Relationship Id="rId8" Type="http://schemas.openxmlformats.org/officeDocument/2006/relationships/slideLayout" Target="../slideLayouts/slideLayout15.xml"/><Relationship Id="rId51" Type="http://schemas.openxmlformats.org/officeDocument/2006/relationships/slideLayout" Target="../slideLayouts/slideLayout58.xml"/><Relationship Id="rId72" Type="http://schemas.openxmlformats.org/officeDocument/2006/relationships/slideLayout" Target="../slideLayouts/slideLayout79.xml"/><Relationship Id="rId80" Type="http://schemas.openxmlformats.org/officeDocument/2006/relationships/slideLayout" Target="../slideLayouts/slideLayout87.xml"/><Relationship Id="rId3" Type="http://schemas.openxmlformats.org/officeDocument/2006/relationships/slideLayout" Target="../slideLayouts/slideLayout10.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5" Type="http://schemas.openxmlformats.org/officeDocument/2006/relationships/slideLayout" Target="../slideLayouts/slideLayout32.xml"/><Relationship Id="rId33" Type="http://schemas.openxmlformats.org/officeDocument/2006/relationships/slideLayout" Target="../slideLayouts/slideLayout40.xml"/><Relationship Id="rId38" Type="http://schemas.openxmlformats.org/officeDocument/2006/relationships/slideLayout" Target="../slideLayouts/slideLayout45.xml"/><Relationship Id="rId46" Type="http://schemas.openxmlformats.org/officeDocument/2006/relationships/slideLayout" Target="../slideLayouts/slideLayout53.xml"/><Relationship Id="rId59" Type="http://schemas.openxmlformats.org/officeDocument/2006/relationships/slideLayout" Target="../slideLayouts/slideLayout66.xml"/><Relationship Id="rId67" Type="http://schemas.openxmlformats.org/officeDocument/2006/relationships/slideLayout" Target="../slideLayouts/slideLayout74.xml"/><Relationship Id="rId20" Type="http://schemas.openxmlformats.org/officeDocument/2006/relationships/slideLayout" Target="../slideLayouts/slideLayout27.xml"/><Relationship Id="rId41" Type="http://schemas.openxmlformats.org/officeDocument/2006/relationships/slideLayout" Target="../slideLayouts/slideLayout48.xml"/><Relationship Id="rId54" Type="http://schemas.openxmlformats.org/officeDocument/2006/relationships/slideLayout" Target="../slideLayouts/slideLayout61.xml"/><Relationship Id="rId62" Type="http://schemas.openxmlformats.org/officeDocument/2006/relationships/slideLayout" Target="../slideLayouts/slideLayout69.xml"/><Relationship Id="rId70" Type="http://schemas.openxmlformats.org/officeDocument/2006/relationships/slideLayout" Target="../slideLayouts/slideLayout77.xml"/><Relationship Id="rId75" Type="http://schemas.openxmlformats.org/officeDocument/2006/relationships/slideLayout" Target="../slideLayouts/slideLayout8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5" Type="http://schemas.openxmlformats.org/officeDocument/2006/relationships/slideLayout" Target="../slideLayouts/slideLayout22.xml"/><Relationship Id="rId23" Type="http://schemas.openxmlformats.org/officeDocument/2006/relationships/slideLayout" Target="../slideLayouts/slideLayout30.xml"/><Relationship Id="rId28" Type="http://schemas.openxmlformats.org/officeDocument/2006/relationships/slideLayout" Target="../slideLayouts/slideLayout35.xml"/><Relationship Id="rId36" Type="http://schemas.openxmlformats.org/officeDocument/2006/relationships/slideLayout" Target="../slideLayouts/slideLayout43.xml"/><Relationship Id="rId49" Type="http://schemas.openxmlformats.org/officeDocument/2006/relationships/slideLayout" Target="../slideLayouts/slideLayout56.xml"/><Relationship Id="rId57" Type="http://schemas.openxmlformats.org/officeDocument/2006/relationships/slideLayout" Target="../slideLayouts/slideLayout64.xml"/><Relationship Id="rId10" Type="http://schemas.openxmlformats.org/officeDocument/2006/relationships/slideLayout" Target="../slideLayouts/slideLayout17.xml"/><Relationship Id="rId31" Type="http://schemas.openxmlformats.org/officeDocument/2006/relationships/slideLayout" Target="../slideLayouts/slideLayout38.xml"/><Relationship Id="rId44" Type="http://schemas.openxmlformats.org/officeDocument/2006/relationships/slideLayout" Target="../slideLayouts/slideLayout51.xml"/><Relationship Id="rId52" Type="http://schemas.openxmlformats.org/officeDocument/2006/relationships/slideLayout" Target="../slideLayouts/slideLayout59.xml"/><Relationship Id="rId60" Type="http://schemas.openxmlformats.org/officeDocument/2006/relationships/slideLayout" Target="../slideLayouts/slideLayout67.xml"/><Relationship Id="rId65" Type="http://schemas.openxmlformats.org/officeDocument/2006/relationships/slideLayout" Target="../slideLayouts/slideLayout72.xml"/><Relationship Id="rId73" Type="http://schemas.openxmlformats.org/officeDocument/2006/relationships/slideLayout" Target="../slideLayouts/slideLayout80.xml"/><Relationship Id="rId78" Type="http://schemas.openxmlformats.org/officeDocument/2006/relationships/slideLayout" Target="../slideLayouts/slideLayout85.xml"/><Relationship Id="rId81" Type="http://schemas.openxmlformats.org/officeDocument/2006/relationships/theme" Target="../theme/theme2.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9" Type="http://schemas.openxmlformats.org/officeDocument/2006/relationships/slideLayout" Target="../slideLayouts/slideLayout46.xml"/><Relationship Id="rId34" Type="http://schemas.openxmlformats.org/officeDocument/2006/relationships/slideLayout" Target="../slideLayouts/slideLayout41.xml"/><Relationship Id="rId50" Type="http://schemas.openxmlformats.org/officeDocument/2006/relationships/slideLayout" Target="../slideLayouts/slideLayout57.xml"/><Relationship Id="rId55" Type="http://schemas.openxmlformats.org/officeDocument/2006/relationships/slideLayout" Target="../slideLayouts/slideLayout62.xml"/><Relationship Id="rId76" Type="http://schemas.openxmlformats.org/officeDocument/2006/relationships/slideLayout" Target="../slideLayouts/slideLayout83.xml"/><Relationship Id="rId7" Type="http://schemas.openxmlformats.org/officeDocument/2006/relationships/slideLayout" Target="../slideLayouts/slideLayout14.xml"/><Relationship Id="rId71" Type="http://schemas.openxmlformats.org/officeDocument/2006/relationships/slideLayout" Target="../slideLayouts/slideLayout78.xml"/><Relationship Id="rId2" Type="http://schemas.openxmlformats.org/officeDocument/2006/relationships/slideLayout" Target="../slideLayouts/slideLayout9.xml"/><Relationship Id="rId29" Type="http://schemas.openxmlformats.org/officeDocument/2006/relationships/slideLayout" Target="../slideLayouts/slideLayout36.xml"/><Relationship Id="rId24" Type="http://schemas.openxmlformats.org/officeDocument/2006/relationships/slideLayout" Target="../slideLayouts/slideLayout31.xml"/><Relationship Id="rId40" Type="http://schemas.openxmlformats.org/officeDocument/2006/relationships/slideLayout" Target="../slideLayouts/slideLayout47.xml"/><Relationship Id="rId45" Type="http://schemas.openxmlformats.org/officeDocument/2006/relationships/slideLayout" Target="../slideLayouts/slideLayout52.xml"/><Relationship Id="rId66" Type="http://schemas.openxmlformats.org/officeDocument/2006/relationships/slideLayout" Target="../slideLayouts/slideLayout7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90.xml"/><Relationship Id="rId2" Type="http://schemas.openxmlformats.org/officeDocument/2006/relationships/slideLayout" Target="../slideLayouts/slideLayout89.xml"/><Relationship Id="rId1" Type="http://schemas.openxmlformats.org/officeDocument/2006/relationships/slideLayout" Target="../slideLayouts/slideLayout88.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 id="2147483704" r:id="rId45"/>
    <p:sldLayoutId id="2147483705" r:id="rId46"/>
    <p:sldLayoutId id="2147483706" r:id="rId47"/>
    <p:sldLayoutId id="2147483707" r:id="rId48"/>
    <p:sldLayoutId id="2147483708" r:id="rId49"/>
    <p:sldLayoutId id="2147483709" r:id="rId50"/>
    <p:sldLayoutId id="2147483710" r:id="rId51"/>
    <p:sldLayoutId id="2147483711" r:id="rId52"/>
    <p:sldLayoutId id="2147483712" r:id="rId53"/>
    <p:sldLayoutId id="2147483713" r:id="rId54"/>
    <p:sldLayoutId id="2147483714" r:id="rId55"/>
    <p:sldLayoutId id="2147483715" r:id="rId56"/>
    <p:sldLayoutId id="2147483716" r:id="rId57"/>
    <p:sldLayoutId id="2147483717" r:id="rId58"/>
    <p:sldLayoutId id="2147483718" r:id="rId59"/>
    <p:sldLayoutId id="2147483719" r:id="rId60"/>
    <p:sldLayoutId id="2147483720" r:id="rId61"/>
    <p:sldLayoutId id="2147483721" r:id="rId62"/>
    <p:sldLayoutId id="2147483722" r:id="rId63"/>
    <p:sldLayoutId id="2147483723" r:id="rId64"/>
    <p:sldLayoutId id="2147483724" r:id="rId65"/>
    <p:sldLayoutId id="2147483725" r:id="rId66"/>
    <p:sldLayoutId id="2147483726" r:id="rId67"/>
    <p:sldLayoutId id="2147483727" r:id="rId68"/>
    <p:sldLayoutId id="2147483728" r:id="rId69"/>
    <p:sldLayoutId id="2147483729" r:id="rId70"/>
    <p:sldLayoutId id="2147483730" r:id="rId71"/>
    <p:sldLayoutId id="2147483731" r:id="rId72"/>
    <p:sldLayoutId id="2147483732" r:id="rId73"/>
    <p:sldLayoutId id="2147483733" r:id="rId74"/>
    <p:sldLayoutId id="2147483734" r:id="rId75"/>
    <p:sldLayoutId id="2147483735" r:id="rId76"/>
    <p:sldLayoutId id="2147483736" r:id="rId77"/>
    <p:sldLayoutId id="2147483661" r:id="rId78"/>
    <p:sldLayoutId id="2147483662" r:id="rId79"/>
    <p:sldLayoutId id="2147483663" r:id="rId8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237311"/>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tags" Target="../tags/tag26.xml"/><Relationship Id="rId18" Type="http://schemas.openxmlformats.org/officeDocument/2006/relationships/tags" Target="../tags/tag31.xml"/><Relationship Id="rId26" Type="http://schemas.openxmlformats.org/officeDocument/2006/relationships/image" Target="../media/image1.jpeg"/><Relationship Id="rId3" Type="http://schemas.openxmlformats.org/officeDocument/2006/relationships/tags" Target="../tags/tag16.xml"/><Relationship Id="rId21" Type="http://schemas.openxmlformats.org/officeDocument/2006/relationships/tags" Target="../tags/tag34.xml"/><Relationship Id="rId7" Type="http://schemas.openxmlformats.org/officeDocument/2006/relationships/tags" Target="../tags/tag20.xml"/><Relationship Id="rId12" Type="http://schemas.openxmlformats.org/officeDocument/2006/relationships/tags" Target="../tags/tag25.xml"/><Relationship Id="rId17" Type="http://schemas.openxmlformats.org/officeDocument/2006/relationships/tags" Target="../tags/tag30.xml"/><Relationship Id="rId25" Type="http://schemas.openxmlformats.org/officeDocument/2006/relationships/notesSlide" Target="../notesSlides/notesSlide2.xml"/><Relationship Id="rId2" Type="http://schemas.openxmlformats.org/officeDocument/2006/relationships/tags" Target="../tags/tag15.xml"/><Relationship Id="rId16" Type="http://schemas.openxmlformats.org/officeDocument/2006/relationships/tags" Target="../tags/tag29.xml"/><Relationship Id="rId20" Type="http://schemas.openxmlformats.org/officeDocument/2006/relationships/tags" Target="../tags/tag33.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24" Type="http://schemas.openxmlformats.org/officeDocument/2006/relationships/slideLayout" Target="../slideLayouts/slideLayout8.xml"/><Relationship Id="rId5" Type="http://schemas.openxmlformats.org/officeDocument/2006/relationships/tags" Target="../tags/tag18.xml"/><Relationship Id="rId15" Type="http://schemas.openxmlformats.org/officeDocument/2006/relationships/tags" Target="../tags/tag28.xml"/><Relationship Id="rId23" Type="http://schemas.openxmlformats.org/officeDocument/2006/relationships/tags" Target="../tags/tag36.xml"/><Relationship Id="rId10" Type="http://schemas.openxmlformats.org/officeDocument/2006/relationships/tags" Target="../tags/tag23.xml"/><Relationship Id="rId19" Type="http://schemas.openxmlformats.org/officeDocument/2006/relationships/tags" Target="../tags/tag32.xml"/><Relationship Id="rId4" Type="http://schemas.openxmlformats.org/officeDocument/2006/relationships/tags" Target="../tags/tag17.xml"/><Relationship Id="rId9" Type="http://schemas.openxmlformats.org/officeDocument/2006/relationships/tags" Target="../tags/tag22.xml"/><Relationship Id="rId14" Type="http://schemas.openxmlformats.org/officeDocument/2006/relationships/tags" Target="../tags/tag27.xml"/><Relationship Id="rId22" Type="http://schemas.openxmlformats.org/officeDocument/2006/relationships/tags" Target="../tags/tag35.xml"/><Relationship Id="rId27"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8.xml"/><Relationship Id="rId1" Type="http://schemas.openxmlformats.org/officeDocument/2006/relationships/tags" Target="../tags/tag3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image" Target="../media/image4.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tags" Target="../tags/tag41.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43.xml"/><Relationship Id="rId1" Type="http://schemas.openxmlformats.org/officeDocument/2006/relationships/tags" Target="../tags/tag4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image" Target="../media/image6.png"/><Relationship Id="rId4"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47.xml"/><Relationship Id="rId1" Type="http://schemas.openxmlformats.org/officeDocument/2006/relationships/tags" Target="../tags/tag46.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7.png"/><Relationship Id="rId5" Type="http://schemas.openxmlformats.org/officeDocument/2006/relationships/notesSlide" Target="../notesSlides/notesSlide6.xml"/><Relationship Id="rId4"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7.png"/><Relationship Id="rId5" Type="http://schemas.openxmlformats.org/officeDocument/2006/relationships/notesSlide" Target="../notesSlides/notesSlide7.xml"/><Relationship Id="rId4"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tags" Target="../tags/tag56.xml"/><Relationship Id="rId7" Type="http://schemas.openxmlformats.org/officeDocument/2006/relationships/image" Target="../media/image7.png"/><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notesSlide" Target="../notesSlides/notesSlide8.xml"/><Relationship Id="rId5" Type="http://schemas.openxmlformats.org/officeDocument/2006/relationships/slideLayout" Target="../slideLayouts/slideLayout11.xml"/><Relationship Id="rId4" Type="http://schemas.openxmlformats.org/officeDocument/2006/relationships/tags" Target="../tags/tag57.xml"/></Relationships>
</file>

<file path=ppt/slides/_rels/slide12.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7.png"/><Relationship Id="rId5" Type="http://schemas.openxmlformats.org/officeDocument/2006/relationships/notesSlide" Target="../notesSlides/notesSlide9.xml"/><Relationship Id="rId4"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1.xml"/><Relationship Id="rId1" Type="http://schemas.openxmlformats.org/officeDocument/2006/relationships/tags" Target="../tags/tag63.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1.xml"/><Relationship Id="rId1" Type="http://schemas.openxmlformats.org/officeDocument/2006/relationships/tags" Target="../tags/tag6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11.xml"/><Relationship Id="rId1" Type="http://schemas.openxmlformats.org/officeDocument/2006/relationships/tags" Target="../tags/tag65.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3" name="稻壳儿智宇https://www.docer.com/works?userid=328340712" descr="背景图案&#10;&#10;描述已自动生成"/>
          <p:cNvPicPr>
            <a:picLocks noChangeAspect="1"/>
          </p:cNvPicPr>
          <p:nvPr/>
        </p:nvPicPr>
        <p:blipFill>
          <a:blip r:embed="rId5" cstate="print"/>
          <a:srcRect/>
          <a:stretch>
            <a:fillRect/>
          </a:stretch>
        </p:blipFill>
        <p:spPr>
          <a:xfrm>
            <a:off x="0" y="0"/>
            <a:ext cx="12192000" cy="6858000"/>
          </a:xfrm>
          <a:prstGeom prst="rect">
            <a:avLst/>
          </a:prstGeom>
        </p:spPr>
      </p:pic>
      <p:sp>
        <p:nvSpPr>
          <p:cNvPr id="2" name="稻壳儿智宇https://www.docer.com/works?userid=328340712"/>
          <p:cNvSpPr/>
          <p:nvPr>
            <p:custDataLst>
              <p:tags r:id="rId1"/>
            </p:custDataLst>
          </p:nvPr>
        </p:nvSpPr>
        <p:spPr>
          <a:xfrm>
            <a:off x="0" y="2060745"/>
            <a:ext cx="12192000" cy="273651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a:ea typeface="微软雅黑"/>
              <a:sym typeface="微软雅黑"/>
            </a:endParaRPr>
          </a:p>
        </p:txBody>
      </p:sp>
      <p:sp>
        <p:nvSpPr>
          <p:cNvPr id="81" name="稻壳儿智宇https://www.docer.com/works?userid=328340712"/>
          <p:cNvSpPr/>
          <p:nvPr/>
        </p:nvSpPr>
        <p:spPr>
          <a:xfrm>
            <a:off x="1791380" y="2467685"/>
            <a:ext cx="8609237" cy="2031325"/>
          </a:xfrm>
          <a:prstGeom prst="rect">
            <a:avLst/>
          </a:prstGeom>
        </p:spPr>
        <p:txBody>
          <a:bodyPr wrap="square" lIns="0" tIns="0" rIns="0" bIns="0">
            <a:spAutoFit/>
          </a:bodyPr>
          <a:lstStyle/>
          <a:p>
            <a:pPr algn="ctr" fontAlgn="base"/>
            <a:r>
              <a:rPr lang="zh-CN" altLang="en-US" sz="6600" dirty="0">
                <a:solidFill>
                  <a:schemeClr val="lt1"/>
                </a:solidFill>
                <a:latin typeface="思源宋体" panose="02020400000000000000" pitchFamily="18" charset="-122"/>
                <a:ea typeface="思源宋体" panose="02020400000000000000" pitchFamily="18" charset="-122"/>
                <a:sym typeface="微软雅黑"/>
              </a:rPr>
              <a:t>认知双过程驱动的</a:t>
            </a:r>
            <a:endParaRPr lang="en-US" altLang="zh-CN" sz="6600" dirty="0">
              <a:solidFill>
                <a:schemeClr val="lt1"/>
              </a:solidFill>
              <a:latin typeface="思源宋体" panose="02020400000000000000" pitchFamily="18" charset="-122"/>
              <a:ea typeface="思源宋体" panose="02020400000000000000" pitchFamily="18" charset="-122"/>
              <a:sym typeface="微软雅黑"/>
            </a:endParaRPr>
          </a:p>
          <a:p>
            <a:pPr algn="ctr" fontAlgn="base"/>
            <a:r>
              <a:rPr lang="zh-CN" altLang="en-US" sz="6600" dirty="0">
                <a:solidFill>
                  <a:schemeClr val="lt1"/>
                </a:solidFill>
                <a:latin typeface="思源宋体" panose="02020400000000000000" pitchFamily="18" charset="-122"/>
                <a:ea typeface="思源宋体" panose="02020400000000000000" pitchFamily="18" charset="-122"/>
                <a:sym typeface="微软雅黑"/>
              </a:rPr>
              <a:t>多模态立场检测</a:t>
            </a:r>
          </a:p>
        </p:txBody>
      </p:sp>
      <p:sp>
        <p:nvSpPr>
          <p:cNvPr id="4" name="稻壳儿智宇https://www.docer.com/works?userid=328340712">
            <a:extLst>
              <a:ext uri="{FF2B5EF4-FFF2-40B4-BE49-F238E27FC236}">
                <a16:creationId xmlns:a16="http://schemas.microsoft.com/office/drawing/2014/main" id="{75325AA1-304B-B428-3288-4E10BA09D632}"/>
              </a:ext>
            </a:extLst>
          </p:cNvPr>
          <p:cNvSpPr txBox="1"/>
          <p:nvPr>
            <p:custDataLst>
              <p:tags r:id="rId2"/>
            </p:custDataLst>
          </p:nvPr>
        </p:nvSpPr>
        <p:spPr>
          <a:xfrm>
            <a:off x="3194304" y="5008729"/>
            <a:ext cx="5803392" cy="929229"/>
          </a:xfrm>
          <a:prstGeom prst="rect">
            <a:avLst/>
          </a:prstGeom>
        </p:spPr>
        <p:txBody>
          <a:bodyPr wrap="square" lIns="0" tIns="0" rIns="0" bIns="0">
            <a:spAutoFit/>
          </a:bodyPr>
          <a:lstStyle>
            <a:defPPr>
              <a:defRPr lang="zh-CN"/>
            </a:defPPr>
            <a:lvl1pPr algn="dist" fontAlgn="base">
              <a:defRPr sz="1600" b="0" i="0">
                <a:solidFill>
                  <a:schemeClr val="accent5">
                    <a:lumMod val="50000"/>
                  </a:schemeClr>
                </a:solidFill>
                <a:effectLst/>
                <a:latin typeface="+mn-ea"/>
              </a:defRPr>
            </a:lvl1pPr>
          </a:lstStyle>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汇报人：金正达</a:t>
            </a:r>
            <a:r>
              <a:rPr lang="en-US" altLang="zh-CN" spc="300" dirty="0">
                <a:solidFill>
                  <a:schemeClr val="dk1"/>
                </a:solidFill>
                <a:latin typeface="思源宋体" panose="02020400000000000000" pitchFamily="18" charset="-122"/>
                <a:ea typeface="思源宋体" panose="02020400000000000000" pitchFamily="18" charset="-122"/>
                <a:sym typeface="微软雅黑"/>
              </a:rPr>
              <a:t> </a:t>
            </a:r>
          </a:p>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学院：计算机科学与技术学院</a:t>
            </a:r>
            <a:endParaRPr lang="en-US" altLang="zh-CN" spc="300" dirty="0">
              <a:solidFill>
                <a:schemeClr val="dk1"/>
              </a:solidFill>
              <a:latin typeface="思源宋体" panose="02020400000000000000" pitchFamily="18" charset="-122"/>
              <a:ea typeface="思源宋体" panose="02020400000000000000" pitchFamily="18" charset="-122"/>
              <a:sym typeface="微软雅黑"/>
            </a:endParaRPr>
          </a:p>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指导教师：徐睿峰教授</a:t>
            </a:r>
          </a:p>
        </p:txBody>
      </p:sp>
      <p:pic>
        <p:nvPicPr>
          <p:cNvPr id="6" name="图片 5">
            <a:extLst>
              <a:ext uri="{FF2B5EF4-FFF2-40B4-BE49-F238E27FC236}">
                <a16:creationId xmlns:a16="http://schemas.microsoft.com/office/drawing/2014/main" id="{7AB70BEB-A434-D6A2-6B72-0238D65971C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9105" y="996669"/>
            <a:ext cx="4653788" cy="85260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稻壳儿智宇https://www.docer.com/works?userid=328340712" descr="背景图案&#10;&#10;描述已自动生成"/>
          <p:cNvPicPr>
            <a:picLocks noChangeAspect="1"/>
          </p:cNvPicPr>
          <p:nvPr/>
        </p:nvPicPr>
        <p:blipFill>
          <a:blip r:embed="rId26" cstate="print"/>
          <a:srcRect/>
          <a:stretch>
            <a:fillRect/>
          </a:stretch>
        </p:blipFill>
        <p:spPr>
          <a:xfrm>
            <a:off x="0" y="0"/>
            <a:ext cx="12192000" cy="6858000"/>
          </a:xfrm>
          <a:prstGeom prst="rect">
            <a:avLst/>
          </a:prstGeom>
        </p:spPr>
      </p:pic>
      <p:sp>
        <p:nvSpPr>
          <p:cNvPr id="24" name="稻壳儿智宇https://www.docer.com/works?userid=328340712"/>
          <p:cNvSpPr/>
          <p:nvPr>
            <p:custDataLst>
              <p:tags r:id="rId1"/>
            </p:custDataLst>
          </p:nvPr>
        </p:nvSpPr>
        <p:spPr>
          <a:xfrm>
            <a:off x="0" y="0"/>
            <a:ext cx="12192000" cy="1927285"/>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60" name="稻壳儿智宇https://www.docer.com/works?userid=328340712"/>
          <p:cNvSpPr/>
          <p:nvPr/>
        </p:nvSpPr>
        <p:spPr>
          <a:xfrm>
            <a:off x="613433" y="821166"/>
            <a:ext cx="1119116" cy="677108"/>
          </a:xfrm>
          <a:prstGeom prst="rect">
            <a:avLst/>
          </a:prstGeom>
        </p:spPr>
        <p:txBody>
          <a:bodyPr wrap="square" lIns="0" tIns="0" rIns="0" bIns="0">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cs typeface="+mn-cs"/>
                <a:sym typeface="微软雅黑"/>
              </a:rPr>
              <a:t>目录</a:t>
            </a:r>
          </a:p>
        </p:txBody>
      </p:sp>
      <p:sp>
        <p:nvSpPr>
          <p:cNvPr id="61" name="稻壳儿智宇https://www.docer.com/works?userid=328340712"/>
          <p:cNvSpPr/>
          <p:nvPr>
            <p:custDataLst>
              <p:tags r:id="rId2"/>
            </p:custDataLst>
          </p:nvPr>
        </p:nvSpPr>
        <p:spPr>
          <a:xfrm>
            <a:off x="1935678" y="1159720"/>
            <a:ext cx="1605688" cy="276999"/>
          </a:xfrm>
          <a:prstGeom prst="rect">
            <a:avLst/>
          </a:prstGeom>
        </p:spPr>
        <p:txBody>
          <a:bodyPr wrap="square" lIns="0" tIns="0" rIns="0" bIns="0">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CONTENT</a:t>
            </a:r>
          </a:p>
        </p:txBody>
      </p:sp>
      <p:sp>
        <p:nvSpPr>
          <p:cNvPr id="15" name="稻壳儿智宇https://www.docer.com/works?userid=328340712"/>
          <p:cNvSpPr/>
          <p:nvPr>
            <p:custDataLst>
              <p:tags r:id="rId3"/>
            </p:custDataLst>
          </p:nvPr>
        </p:nvSpPr>
        <p:spPr>
          <a:xfrm>
            <a:off x="9050208" y="2558296"/>
            <a:ext cx="2532192" cy="2947644"/>
          </a:xfrm>
          <a:prstGeom prst="roundRect">
            <a:avLst>
              <a:gd name="adj" fmla="val 0"/>
            </a:avLst>
          </a:prstGeom>
          <a:gradFill flip="none" rotWithShape="1">
            <a:gsLst>
              <a:gs pos="0">
                <a:srgbClr val="F2F2F2">
                  <a:alpha val="50000"/>
                </a:srgbClr>
              </a:gs>
              <a:gs pos="100000">
                <a:srgbClr val="F2F2F2">
                  <a:alpha val="0"/>
                </a:srgbClr>
              </a:gs>
            </a:gsLst>
            <a:lin ang="5400000" scaled="1"/>
            <a:tileRect/>
          </a:gradFill>
          <a:ln w="12700" cap="flat" cmpd="sng" algn="ctr">
            <a:gradFill>
              <a:gsLst>
                <a:gs pos="0">
                  <a:srgbClr val="D9D9D9">
                    <a:lumMod val="85000"/>
                  </a:srgbClr>
                </a:gs>
                <a:gs pos="100000">
                  <a:srgbClr val="FFFFFF">
                    <a:alpha val="0"/>
                  </a:srgbClr>
                </a:gs>
              </a:gsLst>
              <a:lin ang="54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161" name="稻壳儿智宇https://www.docer.com/works?userid=328340712"/>
          <p:cNvSpPr/>
          <p:nvPr>
            <p:custDataLst>
              <p:tags r:id="rId4"/>
            </p:custDataLst>
          </p:nvPr>
        </p:nvSpPr>
        <p:spPr>
          <a:xfrm rot="2700000">
            <a:off x="10070063" y="3153113"/>
            <a:ext cx="492482" cy="492482"/>
          </a:xfrm>
          <a:prstGeom prst="round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47" name="稻壳儿智宇https://www.docer.com/works?userid=328340712"/>
          <p:cNvSpPr/>
          <p:nvPr>
            <p:custDataLst>
              <p:tags r:id="rId5"/>
            </p:custDataLst>
          </p:nvPr>
        </p:nvSpPr>
        <p:spPr>
          <a:xfrm rot="2700000">
            <a:off x="9970921" y="3053971"/>
            <a:ext cx="690766" cy="690766"/>
          </a:xfrm>
          <a:prstGeom prst="roundRect">
            <a:avLst/>
          </a:prstGeom>
          <a:no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49" name="稻壳儿智宇https://www.docer.com/works?userid=328340712"/>
          <p:cNvSpPr/>
          <p:nvPr>
            <p:custDataLst>
              <p:tags r:id="rId6"/>
            </p:custDataLst>
          </p:nvPr>
        </p:nvSpPr>
        <p:spPr>
          <a:xfrm>
            <a:off x="9995873" y="3162290"/>
            <a:ext cx="640862" cy="47412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04</a:t>
            </a:r>
          </a:p>
        </p:txBody>
      </p:sp>
      <p:sp>
        <p:nvSpPr>
          <p:cNvPr id="57" name="稻壳儿智宇https://www.docer.com/works?userid=328340712"/>
          <p:cNvSpPr txBox="1"/>
          <p:nvPr>
            <p:custDataLst>
              <p:tags r:id="rId7"/>
            </p:custDataLst>
          </p:nvPr>
        </p:nvSpPr>
        <p:spPr>
          <a:xfrm>
            <a:off x="9000976" y="4115614"/>
            <a:ext cx="26306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spc="200" dirty="0">
                <a:solidFill>
                  <a:srgbClr val="000000"/>
                </a:solidFill>
                <a:latin typeface="思源宋体" panose="02020400000000000000" pitchFamily="18" charset="-122"/>
                <a:ea typeface="思源宋体" panose="02020400000000000000" pitchFamily="18" charset="-122"/>
                <a:sym typeface="微软雅黑"/>
              </a:rPr>
              <a:t>实验结果</a:t>
            </a:r>
            <a:endParaRPr kumimoji="0" lang="zh-CN" altLang="en-US" sz="2400" b="1" i="0" u="none" strike="noStrike" kern="1200" cap="none" spc="200" normalizeH="0" baseline="0" noProof="0" dirty="0">
              <a:ln>
                <a:noFill/>
              </a:ln>
              <a:solidFill>
                <a:srgbClr val="000000"/>
              </a:solidFill>
              <a:effectLst/>
              <a:uLnTx/>
              <a:uFillTx/>
              <a:latin typeface="思源宋体" panose="02020400000000000000" pitchFamily="18" charset="-122"/>
              <a:ea typeface="思源宋体" panose="02020400000000000000" pitchFamily="18" charset="-122"/>
              <a:cs typeface="+mn-cs"/>
              <a:sym typeface="微软雅黑"/>
            </a:endParaRPr>
          </a:p>
        </p:txBody>
      </p:sp>
      <p:sp>
        <p:nvSpPr>
          <p:cNvPr id="13" name="稻壳儿智宇https://www.docer.com/works?userid=328340712"/>
          <p:cNvSpPr/>
          <p:nvPr>
            <p:custDataLst>
              <p:tags r:id="rId8"/>
            </p:custDataLst>
          </p:nvPr>
        </p:nvSpPr>
        <p:spPr>
          <a:xfrm>
            <a:off x="3421860" y="2558296"/>
            <a:ext cx="2532192" cy="2947644"/>
          </a:xfrm>
          <a:prstGeom prst="roundRect">
            <a:avLst>
              <a:gd name="adj" fmla="val 0"/>
            </a:avLst>
          </a:prstGeom>
          <a:gradFill flip="none" rotWithShape="1">
            <a:gsLst>
              <a:gs pos="0">
                <a:srgbClr val="F2F2F2">
                  <a:alpha val="50000"/>
                </a:srgbClr>
              </a:gs>
              <a:gs pos="100000">
                <a:srgbClr val="F2F2F2">
                  <a:alpha val="0"/>
                </a:srgbClr>
              </a:gs>
            </a:gsLst>
            <a:lin ang="5400000" scaled="1"/>
            <a:tileRect/>
          </a:gradFill>
          <a:ln w="12700" cap="flat" cmpd="sng" algn="ctr">
            <a:gradFill>
              <a:gsLst>
                <a:gs pos="0">
                  <a:srgbClr val="D9D9D9">
                    <a:lumMod val="85000"/>
                  </a:srgbClr>
                </a:gs>
                <a:gs pos="100000">
                  <a:srgbClr val="FFFFFF">
                    <a:alpha val="0"/>
                  </a:srgbClr>
                </a:gs>
              </a:gsLst>
              <a:lin ang="54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160" name="稻壳儿智宇https://www.docer.com/works?userid=328340712"/>
          <p:cNvSpPr/>
          <p:nvPr>
            <p:custDataLst>
              <p:tags r:id="rId9"/>
            </p:custDataLst>
          </p:nvPr>
        </p:nvSpPr>
        <p:spPr>
          <a:xfrm rot="2700000">
            <a:off x="4432918" y="3153113"/>
            <a:ext cx="492482" cy="492482"/>
          </a:xfrm>
          <a:prstGeom prst="round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0" name="稻壳儿智宇https://www.docer.com/works?userid=328340712"/>
          <p:cNvSpPr/>
          <p:nvPr>
            <p:custDataLst>
              <p:tags r:id="rId10"/>
            </p:custDataLst>
          </p:nvPr>
        </p:nvSpPr>
        <p:spPr>
          <a:xfrm rot="2700000">
            <a:off x="4333776" y="3053971"/>
            <a:ext cx="690766" cy="690766"/>
          </a:xfrm>
          <a:prstGeom prst="roundRect">
            <a:avLst/>
          </a:prstGeom>
          <a:no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2" name="稻壳儿智宇https://www.docer.com/works?userid=328340712"/>
          <p:cNvSpPr/>
          <p:nvPr>
            <p:custDataLst>
              <p:tags r:id="rId11"/>
            </p:custDataLst>
          </p:nvPr>
        </p:nvSpPr>
        <p:spPr>
          <a:xfrm>
            <a:off x="4358728" y="3162290"/>
            <a:ext cx="640862" cy="474128"/>
          </a:xfrm>
          <a:prstGeom prst="round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02</a:t>
            </a:r>
          </a:p>
        </p:txBody>
      </p:sp>
      <p:sp>
        <p:nvSpPr>
          <p:cNvPr id="51" name="稻壳儿智宇https://www.docer.com/works?userid=328340712"/>
          <p:cNvSpPr txBox="1"/>
          <p:nvPr>
            <p:custDataLst>
              <p:tags r:id="rId12"/>
            </p:custDataLst>
          </p:nvPr>
        </p:nvSpPr>
        <p:spPr>
          <a:xfrm>
            <a:off x="3376459" y="4115614"/>
            <a:ext cx="26306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spc="200" dirty="0">
                <a:solidFill>
                  <a:srgbClr val="000000"/>
                </a:solidFill>
                <a:latin typeface="思源宋体" panose="02020400000000000000" pitchFamily="18" charset="-122"/>
                <a:ea typeface="思源宋体" panose="02020400000000000000" pitchFamily="18" charset="-122"/>
                <a:sym typeface="微软雅黑"/>
              </a:rPr>
              <a:t>问题剖析</a:t>
            </a:r>
            <a:endParaRPr kumimoji="0" lang="zh-CN" altLang="en-US" sz="2400" b="1" i="0" u="none" strike="noStrike" kern="1200" cap="none" spc="200" normalizeH="0" baseline="0" noProof="0" dirty="0">
              <a:ln>
                <a:noFill/>
              </a:ln>
              <a:solidFill>
                <a:srgbClr val="000000"/>
              </a:solidFill>
              <a:effectLst/>
              <a:uLnTx/>
              <a:uFillTx/>
              <a:latin typeface="思源宋体" panose="02020400000000000000" pitchFamily="18" charset="-122"/>
              <a:ea typeface="思源宋体" panose="02020400000000000000" pitchFamily="18" charset="-122"/>
              <a:cs typeface="+mn-cs"/>
              <a:sym typeface="微软雅黑"/>
            </a:endParaRPr>
          </a:p>
        </p:txBody>
      </p:sp>
      <p:sp>
        <p:nvSpPr>
          <p:cNvPr id="14" name="稻壳儿智宇https://www.docer.com/works?userid=328340712"/>
          <p:cNvSpPr/>
          <p:nvPr>
            <p:custDataLst>
              <p:tags r:id="rId13"/>
            </p:custDataLst>
          </p:nvPr>
        </p:nvSpPr>
        <p:spPr>
          <a:xfrm>
            <a:off x="6237949" y="2558296"/>
            <a:ext cx="2532192" cy="2947644"/>
          </a:xfrm>
          <a:prstGeom prst="roundRect">
            <a:avLst>
              <a:gd name="adj" fmla="val 0"/>
            </a:avLst>
          </a:prstGeom>
          <a:gradFill flip="none" rotWithShape="1">
            <a:gsLst>
              <a:gs pos="0">
                <a:srgbClr val="F2F2F2">
                  <a:alpha val="50000"/>
                </a:srgbClr>
              </a:gs>
              <a:gs pos="100000">
                <a:srgbClr val="F2F2F2">
                  <a:alpha val="0"/>
                </a:srgbClr>
              </a:gs>
            </a:gsLst>
            <a:lin ang="5400000" scaled="1"/>
            <a:tileRect/>
          </a:gradFill>
          <a:ln w="12700" cap="flat" cmpd="sng" algn="ctr">
            <a:gradFill>
              <a:gsLst>
                <a:gs pos="0">
                  <a:srgbClr val="D9D9D9">
                    <a:lumMod val="85000"/>
                  </a:srgbClr>
                </a:gs>
                <a:gs pos="100000">
                  <a:srgbClr val="FFFFFF">
                    <a:alpha val="0"/>
                  </a:srgbClr>
                </a:gs>
              </a:gsLst>
              <a:lin ang="54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162" name="稻壳儿智宇https://www.docer.com/works?userid=328340712"/>
          <p:cNvSpPr/>
          <p:nvPr>
            <p:custDataLst>
              <p:tags r:id="rId14"/>
            </p:custDataLst>
          </p:nvPr>
        </p:nvSpPr>
        <p:spPr>
          <a:xfrm rot="2700000">
            <a:off x="7251489" y="3153113"/>
            <a:ext cx="492482" cy="492482"/>
          </a:xfrm>
          <a:prstGeom prst="round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3" name="稻壳儿智宇https://www.docer.com/works?userid=328340712"/>
          <p:cNvSpPr/>
          <p:nvPr>
            <p:custDataLst>
              <p:tags r:id="rId15"/>
            </p:custDataLst>
          </p:nvPr>
        </p:nvSpPr>
        <p:spPr>
          <a:xfrm rot="2700000">
            <a:off x="7152347" y="3053971"/>
            <a:ext cx="690766" cy="690766"/>
          </a:xfrm>
          <a:prstGeom prst="roundRect">
            <a:avLst/>
          </a:prstGeom>
          <a:no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5" name="稻壳儿智宇https://www.docer.com/works?userid=328340712"/>
          <p:cNvSpPr/>
          <p:nvPr>
            <p:custDataLst>
              <p:tags r:id="rId16"/>
            </p:custDataLst>
          </p:nvPr>
        </p:nvSpPr>
        <p:spPr>
          <a:xfrm>
            <a:off x="7177299" y="3162290"/>
            <a:ext cx="640862" cy="474128"/>
          </a:xfrm>
          <a:prstGeom prst="round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03</a:t>
            </a:r>
          </a:p>
        </p:txBody>
      </p:sp>
      <p:sp>
        <p:nvSpPr>
          <p:cNvPr id="54" name="稻壳儿智宇https://www.docer.com/works?userid=328340712"/>
          <p:cNvSpPr txBox="1"/>
          <p:nvPr>
            <p:custDataLst>
              <p:tags r:id="rId17"/>
            </p:custDataLst>
          </p:nvPr>
        </p:nvSpPr>
        <p:spPr>
          <a:xfrm>
            <a:off x="6188717" y="4115614"/>
            <a:ext cx="26306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spc="200" dirty="0">
                <a:solidFill>
                  <a:srgbClr val="000000"/>
                </a:solidFill>
                <a:latin typeface="思源宋体" panose="02020400000000000000" pitchFamily="18" charset="-122"/>
                <a:ea typeface="思源宋体" panose="02020400000000000000" pitchFamily="18" charset="-122"/>
                <a:sym typeface="微软雅黑"/>
              </a:rPr>
              <a:t>框架设计</a:t>
            </a:r>
            <a:endParaRPr kumimoji="0" lang="zh-CN" altLang="en-US" sz="2400" b="1" i="0" u="none" strike="noStrike" kern="1200" cap="none" spc="200" normalizeH="0" baseline="0" noProof="0" dirty="0">
              <a:ln>
                <a:noFill/>
              </a:ln>
              <a:solidFill>
                <a:srgbClr val="000000"/>
              </a:solidFill>
              <a:effectLst/>
              <a:uLnTx/>
              <a:uFillTx/>
              <a:latin typeface="思源宋体" panose="02020400000000000000" pitchFamily="18" charset="-122"/>
              <a:ea typeface="思源宋体" panose="02020400000000000000" pitchFamily="18" charset="-122"/>
              <a:cs typeface="+mn-cs"/>
              <a:sym typeface="微软雅黑"/>
            </a:endParaRPr>
          </a:p>
        </p:txBody>
      </p:sp>
      <p:sp>
        <p:nvSpPr>
          <p:cNvPr id="12" name="稻壳儿智宇https://www.docer.com/works?userid=328340712"/>
          <p:cNvSpPr/>
          <p:nvPr>
            <p:custDataLst>
              <p:tags r:id="rId18"/>
            </p:custDataLst>
          </p:nvPr>
        </p:nvSpPr>
        <p:spPr>
          <a:xfrm>
            <a:off x="613433" y="2558296"/>
            <a:ext cx="2532192" cy="2947644"/>
          </a:xfrm>
          <a:prstGeom prst="roundRect">
            <a:avLst>
              <a:gd name="adj" fmla="val 0"/>
            </a:avLst>
          </a:prstGeom>
          <a:gradFill flip="none" rotWithShape="1">
            <a:gsLst>
              <a:gs pos="0">
                <a:srgbClr val="F2F2F2">
                  <a:alpha val="50000"/>
                </a:srgbClr>
              </a:gs>
              <a:gs pos="100000">
                <a:srgbClr val="F2F2F2">
                  <a:alpha val="0"/>
                </a:srgbClr>
              </a:gs>
            </a:gsLst>
            <a:lin ang="5400000" scaled="1"/>
            <a:tileRect/>
          </a:gradFill>
          <a:ln w="12700" cap="flat" cmpd="sng" algn="ctr">
            <a:gradFill>
              <a:gsLst>
                <a:gs pos="0">
                  <a:srgbClr val="D9D9D9">
                    <a:lumMod val="85000"/>
                  </a:srgbClr>
                </a:gs>
                <a:gs pos="100000">
                  <a:srgbClr val="FFFFFF">
                    <a:alpha val="0"/>
                  </a:srgbClr>
                </a:gs>
              </a:gsLst>
              <a:lin ang="5400000" scaled="0"/>
            </a:gra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159" name="稻壳儿智宇https://www.docer.com/works?userid=328340712"/>
          <p:cNvSpPr/>
          <p:nvPr>
            <p:custDataLst>
              <p:tags r:id="rId19"/>
            </p:custDataLst>
          </p:nvPr>
        </p:nvSpPr>
        <p:spPr>
          <a:xfrm rot="2700000">
            <a:off x="1614346" y="3153113"/>
            <a:ext cx="492482" cy="492482"/>
          </a:xfrm>
          <a:prstGeom prst="round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6" name="稻壳儿智宇https://www.docer.com/works?userid=328340712"/>
          <p:cNvSpPr/>
          <p:nvPr>
            <p:custDataLst>
              <p:tags r:id="rId20"/>
            </p:custDataLst>
          </p:nvPr>
        </p:nvSpPr>
        <p:spPr>
          <a:xfrm rot="2700000">
            <a:off x="1515204" y="3053971"/>
            <a:ext cx="690766" cy="690766"/>
          </a:xfrm>
          <a:prstGeom prst="roundRect">
            <a:avLst/>
          </a:prstGeom>
          <a:noFill/>
          <a:ln w="12700" cap="flat" cmpd="sng" algn="ctr">
            <a:solidFill>
              <a:schemeClr val="accent2"/>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a:ln>
                <a:noFill/>
              </a:ln>
              <a:solidFill>
                <a:srgbClr val="FFFFFF"/>
              </a:solidFill>
              <a:effectLst/>
              <a:uLnTx/>
              <a:uFillTx/>
              <a:latin typeface="微软雅黑"/>
              <a:ea typeface="微软雅黑"/>
              <a:cs typeface="+mn-cs"/>
              <a:sym typeface="微软雅黑"/>
            </a:endParaRPr>
          </a:p>
        </p:txBody>
      </p:sp>
      <p:sp>
        <p:nvSpPr>
          <p:cNvPr id="58" name="稻壳儿智宇https://www.docer.com/works?userid=328340712"/>
          <p:cNvSpPr/>
          <p:nvPr>
            <p:custDataLst>
              <p:tags r:id="rId21"/>
            </p:custDataLst>
          </p:nvPr>
        </p:nvSpPr>
        <p:spPr>
          <a:xfrm>
            <a:off x="1540156" y="3162290"/>
            <a:ext cx="640862" cy="47412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FFFFFF"/>
                </a:solidFill>
                <a:effectLst/>
                <a:uLnTx/>
                <a:uFillTx/>
                <a:latin typeface="思源宋体" panose="02020400000000000000" pitchFamily="18" charset="-122"/>
                <a:ea typeface="思源宋体" panose="02020400000000000000" pitchFamily="18" charset="-122"/>
                <a:sym typeface="微软雅黑"/>
              </a:rPr>
              <a:t>01</a:t>
            </a:r>
          </a:p>
        </p:txBody>
      </p:sp>
      <p:sp>
        <p:nvSpPr>
          <p:cNvPr id="48" name="稻壳儿智宇https://www.docer.com/works?userid=328340712"/>
          <p:cNvSpPr txBox="1"/>
          <p:nvPr>
            <p:custDataLst>
              <p:tags r:id="rId22"/>
            </p:custDataLst>
          </p:nvPr>
        </p:nvSpPr>
        <p:spPr>
          <a:xfrm>
            <a:off x="564201" y="4115614"/>
            <a:ext cx="263065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200" normalizeH="0" baseline="0" noProof="0" dirty="0">
                <a:ln>
                  <a:noFill/>
                </a:ln>
                <a:solidFill>
                  <a:srgbClr val="000000"/>
                </a:solidFill>
                <a:effectLst/>
                <a:uLnTx/>
                <a:uFillTx/>
                <a:latin typeface="思源宋体" panose="02020400000000000000" pitchFamily="18" charset="-122"/>
                <a:ea typeface="思源宋体" panose="02020400000000000000" pitchFamily="18" charset="-122"/>
                <a:cs typeface="+mn-cs"/>
                <a:sym typeface="微软雅黑"/>
              </a:rPr>
              <a:t>课题背景</a:t>
            </a:r>
          </a:p>
        </p:txBody>
      </p:sp>
      <p:cxnSp>
        <p:nvCxnSpPr>
          <p:cNvPr id="19" name="稻壳儿智宇https://www.docer.com/works?userid=328340712" hidden="1"/>
          <p:cNvCxnSpPr/>
          <p:nvPr>
            <p:custDataLst>
              <p:tags r:id="rId23"/>
            </p:custDataLst>
          </p:nvPr>
        </p:nvCxnSpPr>
        <p:spPr>
          <a:xfrm flipH="1">
            <a:off x="613433" y="1680244"/>
            <a:ext cx="10968967"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2" name="TextBox 4">
            <a:extLst>
              <a:ext uri="{FF2B5EF4-FFF2-40B4-BE49-F238E27FC236}">
                <a16:creationId xmlns:a16="http://schemas.microsoft.com/office/drawing/2014/main" id="{EB684C7E-20A7-9694-F2D4-694B922B40F4}"/>
              </a:ext>
            </a:extLst>
          </p:cNvPr>
          <p:cNvSpPr txBox="1"/>
          <p:nvPr/>
        </p:nvSpPr>
        <p:spPr>
          <a:xfrm>
            <a:off x="0" y="0"/>
            <a:ext cx="453650" cy="123111"/>
          </a:xfrm>
          <a:prstGeom prst="rect">
            <a:avLst/>
          </a:prstGeom>
          <a:noFill/>
        </p:spPr>
        <p:txBody>
          <a:bodyPr wrap="square" rtlCol="0">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100" b="0" i="0" u="none" strike="noStrike" kern="1200" cap="none" spc="0" normalizeH="0" baseline="0" noProof="0" dirty="0">
                <a:ln>
                  <a:noFill/>
                </a:ln>
                <a:solidFill>
                  <a:srgbClr val="000000">
                    <a:alpha val="0"/>
                  </a:srgbClr>
                </a:solidFill>
                <a:effectLst/>
                <a:uLnTx/>
                <a:uFillTx/>
                <a:latin typeface="微软雅黑" panose="020B0503020204020204" pitchFamily="34" charset="-122"/>
                <a:ea typeface="微软雅黑" panose="020B0503020204020204" pitchFamily="34" charset="-122"/>
                <a:cs typeface="+mn-cs"/>
              </a:rPr>
              <a:t>行业</a:t>
            </a:r>
            <a:r>
              <a:rPr kumimoji="0" lang="en-US" altLang="zh-CN" sz="100" b="0" i="0" u="none" strike="noStrike" kern="1200" cap="none" spc="0" normalizeH="0" baseline="0" noProof="0" dirty="0">
                <a:ln>
                  <a:noFill/>
                </a:ln>
                <a:solidFill>
                  <a:srgbClr val="000000">
                    <a:alpha val="0"/>
                  </a:srgbClr>
                </a:solidFill>
                <a:effectLst/>
                <a:uLnTx/>
                <a:uFillTx/>
                <a:latin typeface="微软雅黑" panose="020B0503020204020204" pitchFamily="34" charset="-122"/>
                <a:ea typeface="微软雅黑" panose="020B0503020204020204" pitchFamily="34" charset="-122"/>
                <a:cs typeface="+mn-cs"/>
              </a:rPr>
              <a:t>PPT</a:t>
            </a:r>
            <a:r>
              <a:rPr kumimoji="0" lang="zh-CN" altLang="en-US" sz="100" b="0" i="0" u="none" strike="noStrike" kern="1200" cap="none" spc="0" normalizeH="0" baseline="0" noProof="0" dirty="0">
                <a:ln>
                  <a:noFill/>
                </a:ln>
                <a:solidFill>
                  <a:srgbClr val="000000">
                    <a:alpha val="0"/>
                  </a:srgbClr>
                </a:solidFill>
                <a:effectLst/>
                <a:uLnTx/>
                <a:uFillTx/>
                <a:latin typeface="微软雅黑" panose="020B0503020204020204" pitchFamily="34" charset="-122"/>
                <a:ea typeface="微软雅黑" panose="020B0503020204020204" pitchFamily="34" charset="-122"/>
                <a:cs typeface="+mn-cs"/>
              </a:rPr>
              <a:t>模板</a:t>
            </a:r>
            <a:r>
              <a:rPr kumimoji="0" lang="en-US" altLang="zh-CN" sz="100" b="0" i="0" u="none" strike="noStrike" kern="1200" cap="none" spc="0" normalizeH="0" baseline="0" noProof="0" dirty="0">
                <a:ln>
                  <a:noFill/>
                </a:ln>
                <a:solidFill>
                  <a:srgbClr val="000000">
                    <a:alpha val="0"/>
                  </a:srgbClr>
                </a:solidFill>
                <a:effectLst/>
                <a:uLnTx/>
                <a:uFillTx/>
                <a:latin typeface="微软雅黑" panose="020B0503020204020204" pitchFamily="34" charset="-122"/>
                <a:ea typeface="微软雅黑" panose="020B0503020204020204" pitchFamily="34" charset="-122"/>
                <a:cs typeface="+mn-cs"/>
              </a:rPr>
              <a:t>http://www.1ppt.com/hangye/</a:t>
            </a:r>
          </a:p>
        </p:txBody>
      </p:sp>
      <p:pic>
        <p:nvPicPr>
          <p:cNvPr id="6" name="图片 5">
            <a:extLst>
              <a:ext uri="{FF2B5EF4-FFF2-40B4-BE49-F238E27FC236}">
                <a16:creationId xmlns:a16="http://schemas.microsoft.com/office/drawing/2014/main" id="{9F607593-D368-C89E-0479-A4BA7C9D81F0}"/>
              </a:ext>
            </a:extLst>
          </p:cNvPr>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8237424" y="934321"/>
            <a:ext cx="3707965" cy="67932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稻壳儿智宇https://www.docer.com/works?userid=328340712"/>
          <p:cNvSpPr>
            <a:spLocks noGrp="1"/>
          </p:cNvSpPr>
          <p:nvPr>
            <p:ph type="body" sz="quarter" idx="10"/>
            <p:custDataLst>
              <p:tags r:id="rId1"/>
            </p:custDataLst>
          </p:nvPr>
        </p:nvSpPr>
        <p:spPr>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solidFill>
                  <a:schemeClr val="dk1"/>
                </a:solidFill>
                <a:latin typeface="思源宋体" panose="02020400000000000000" pitchFamily="18" charset="-122"/>
                <a:ea typeface="思源宋体" panose="02020400000000000000" pitchFamily="18" charset="-122"/>
                <a:sym typeface="微软雅黑"/>
              </a:rPr>
              <a:t>01</a:t>
            </a:r>
          </a:p>
        </p:txBody>
      </p:sp>
      <p:sp>
        <p:nvSpPr>
          <p:cNvPr id="19" name="稻壳儿智宇https://www.docer.com/works?userid=328340712"/>
          <p:cNvSpPr>
            <a:spLocks noGrp="1"/>
          </p:cNvSpPr>
          <p:nvPr>
            <p:ph type="body" sz="quarter" idx="12"/>
          </p:nvPr>
        </p:nvSpPr>
        <p:spPr>
          <a:prstGeom prst="rect">
            <a:avLst/>
          </a:prstGeom>
        </p:spPr>
        <p:txBody>
          <a:bodyPr/>
          <a:lstStyle/>
          <a:p>
            <a:r>
              <a:rPr lang="zh-CN" altLang="en-US" dirty="0">
                <a:solidFill>
                  <a:schemeClr val="lt1"/>
                </a:solidFill>
                <a:latin typeface="思源宋体" panose="02020400000000000000" pitchFamily="18" charset="-122"/>
                <a:ea typeface="思源宋体" panose="02020400000000000000" pitchFamily="18" charset="-122"/>
                <a:sym typeface="微软雅黑"/>
              </a:rPr>
              <a:t>课题背景</a:t>
            </a:r>
          </a:p>
        </p:txBody>
      </p:sp>
      <p:sp>
        <p:nvSpPr>
          <p:cNvPr id="17" name="稻壳儿智宇https://www.docer.com/works?userid=328340712"/>
          <p:cNvSpPr>
            <a:spLocks noGrp="1"/>
          </p:cNvSpPr>
          <p:nvPr>
            <p:ph type="body" sz="quarter" idx="14"/>
            <p:custDataLst>
              <p:tags r:id="rId2"/>
            </p:custDataLst>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solidFill>
                  <a:schemeClr val="lt1"/>
                </a:solidFill>
                <a:latin typeface="思源宋体" panose="02020400000000000000" pitchFamily="18" charset="-122"/>
                <a:ea typeface="思源宋体" panose="02020400000000000000" pitchFamily="18" charset="-122"/>
                <a:sym typeface="微软雅黑"/>
              </a:rPr>
              <a:t>Part one</a:t>
            </a:r>
          </a:p>
        </p:txBody>
      </p:sp>
      <p:pic>
        <p:nvPicPr>
          <p:cNvPr id="2" name="图片 1">
            <a:extLst>
              <a:ext uri="{FF2B5EF4-FFF2-40B4-BE49-F238E27FC236}">
                <a16:creationId xmlns:a16="http://schemas.microsoft.com/office/drawing/2014/main" id="{FD380396-68BB-126C-EF92-2D1D40A9E8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7519" y="5010108"/>
            <a:ext cx="4653788" cy="85260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稻壳儿智宇https://www.docer.com/works?userid=328340712"/>
          <p:cNvSpPr/>
          <p:nvPr>
            <p:custDataLst>
              <p:tags r:id="rId1"/>
            </p:custDataLst>
          </p:nvPr>
        </p:nvSpPr>
        <p:spPr>
          <a:xfrm rot="5400000">
            <a:off x="3188145" y="-2485436"/>
            <a:ext cx="5688332" cy="12064625"/>
          </a:xfrm>
          <a:custGeom>
            <a:avLst/>
            <a:gdLst>
              <a:gd name="connsiteX0" fmla="*/ 0 w 5504960"/>
              <a:gd name="connsiteY0" fmla="*/ 7599679 h 7599679"/>
              <a:gd name="connsiteX1" fmla="*/ 824598 w 5504960"/>
              <a:gd name="connsiteY1" fmla="*/ 0 h 7599679"/>
              <a:gd name="connsiteX2" fmla="*/ 4680362 w 5504960"/>
              <a:gd name="connsiteY2" fmla="*/ 0 h 7599679"/>
              <a:gd name="connsiteX3" fmla="*/ 5504960 w 5504960"/>
              <a:gd name="connsiteY3" fmla="*/ 7599679 h 7599679"/>
            </a:gdLst>
            <a:ahLst/>
            <a:cxnLst>
              <a:cxn ang="0">
                <a:pos x="connsiteX0" y="connsiteY0"/>
              </a:cxn>
              <a:cxn ang="0">
                <a:pos x="connsiteX1" y="connsiteY1"/>
              </a:cxn>
              <a:cxn ang="0">
                <a:pos x="connsiteX2" y="connsiteY2"/>
              </a:cxn>
              <a:cxn ang="0">
                <a:pos x="connsiteX3" y="connsiteY3"/>
              </a:cxn>
            </a:cxnLst>
            <a:rect l="l" t="t" r="r" b="b"/>
            <a:pathLst>
              <a:path w="5504960" h="7599679">
                <a:moveTo>
                  <a:pt x="0" y="7599679"/>
                </a:moveTo>
                <a:lnTo>
                  <a:pt x="824598" y="0"/>
                </a:lnTo>
                <a:lnTo>
                  <a:pt x="4680362" y="0"/>
                </a:lnTo>
                <a:lnTo>
                  <a:pt x="5504960" y="7599679"/>
                </a:lnTo>
                <a:close/>
              </a:path>
            </a:pathLst>
          </a:custGeom>
          <a:gradFill flip="none" rotWithShape="1">
            <a:gsLst>
              <a:gs pos="0">
                <a:srgbClr val="DDE4E8">
                  <a:lumMod val="20000"/>
                  <a:lumOff val="80000"/>
                </a:srgbClr>
              </a:gs>
              <a:gs pos="100000">
                <a:srgbClr val="DDE4E8">
                  <a:lumMod val="20000"/>
                  <a:lumOff val="80000"/>
                  <a:alpha val="5000"/>
                </a:srgbClr>
              </a:gs>
            </a:gsLst>
            <a:lin ang="54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微软雅黑"/>
              <a:ea typeface="微软雅黑"/>
              <a:sym typeface="微软雅黑"/>
            </a:endParaRPr>
          </a:p>
        </p:txBody>
      </p:sp>
      <p:sp>
        <p:nvSpPr>
          <p:cNvPr id="4" name="稻壳儿智宇https://www.docer.com/works?userid=328340712"/>
          <p:cNvSpPr>
            <a:spLocks noGrp="1"/>
          </p:cNvSpPr>
          <p:nvPr>
            <p:ph type="title"/>
          </p:nvPr>
        </p:nvSpPr>
        <p:spPr>
          <a:prstGeom prst="rect">
            <a:avLst/>
          </a:prstGeom>
        </p:spPr>
        <p:txBody>
          <a:bodyPr>
            <a:normAutofit/>
          </a:bodyPr>
          <a:lstStyle/>
          <a:p>
            <a:r>
              <a:rPr lang="en-US" altLang="zh-CN" dirty="0">
                <a:latin typeface="思源宋体" panose="02020400000000000000" pitchFamily="18" charset="-122"/>
                <a:ea typeface="思源宋体" panose="02020400000000000000" pitchFamily="18" charset="-122"/>
                <a:sym typeface="微软雅黑"/>
              </a:rPr>
              <a:t>01.</a:t>
            </a:r>
            <a:r>
              <a:rPr lang="zh-CN" altLang="en-US" dirty="0">
                <a:latin typeface="思源宋体" panose="02020400000000000000" pitchFamily="18" charset="-122"/>
                <a:ea typeface="思源宋体" panose="02020400000000000000" pitchFamily="18" charset="-122"/>
                <a:sym typeface="微软雅黑"/>
              </a:rPr>
              <a:t>多模态立场检测任务</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6" name="稻壳儿智宇https://www.docer.com/works?userid=328340712"/>
          <p:cNvSpPr txBox="1"/>
          <p:nvPr>
            <p:custDataLst>
              <p:tags r:id="rId2"/>
            </p:custDataLst>
          </p:nvPr>
        </p:nvSpPr>
        <p:spPr>
          <a:xfrm>
            <a:off x="516699" y="1080118"/>
            <a:ext cx="6804193" cy="5447645"/>
          </a:xfrm>
          <a:prstGeom prst="rect">
            <a:avLst/>
          </a:prstGeom>
          <a:noFill/>
        </p:spPr>
        <p:txBody>
          <a:bodyPr wrap="square" rtlCol="0">
            <a:spAutoFit/>
          </a:bodyPr>
          <a:lstStyle/>
          <a:p>
            <a:pPr>
              <a:lnSpc>
                <a:spcPct val="150000"/>
              </a:lnSpc>
            </a:pPr>
            <a:r>
              <a:rPr lang="zh-CN" altLang="en-US" sz="2000" dirty="0">
                <a:solidFill>
                  <a:schemeClr val="dk1"/>
                </a:solidFill>
                <a:latin typeface="思源宋体" panose="02020400000000000000" pitchFamily="18" charset="-122"/>
                <a:ea typeface="思源宋体" panose="02020400000000000000" pitchFamily="18" charset="-122"/>
                <a:sym typeface="微软雅黑"/>
              </a:rPr>
              <a:t>随着支持图文等多种形式内容的社交媒体平台的普及，多模态立场检测已成为理解公众意见的关键任务。多模态立场检测旨在通过综合分析文本与图像两种信息，识别出用户对于特定目标的所表达的态度。</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a:lnSpc>
                <a:spcPct val="150000"/>
              </a:lnSpc>
            </a:pPr>
            <a:r>
              <a:rPr lang="zh-CN" altLang="en-US" sz="2000" dirty="0">
                <a:solidFill>
                  <a:schemeClr val="dk1"/>
                </a:solidFill>
                <a:latin typeface="思源宋体" panose="02020400000000000000" pitchFamily="18" charset="-122"/>
                <a:ea typeface="思源宋体" panose="02020400000000000000" pitchFamily="18" charset="-122"/>
                <a:sym typeface="微软雅黑"/>
              </a:rPr>
              <a:t>当前，已有的多模态立场检测方法主要致力于提升模型提取多模态特征的能力或者利用大型语言模型的推理能力，通过微调来使模型适应任务、通过上下文学习或思维链来辅助立场判断。然而，这些方法大多倾向于简单地融合来自不同模态的信息来学习立场表达，却忽略了一个关键问题：在不同的样本中，不同模态（文本或图像）对最终立场决策的贡献度是动态变化的。</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endParaRPr lang="en-US" altLang="zh-CN" dirty="0">
              <a:solidFill>
                <a:schemeClr val="dk1"/>
              </a:solidFill>
              <a:latin typeface="思源宋体" panose="02020400000000000000" pitchFamily="18" charset="-122"/>
              <a:ea typeface="思源宋体" panose="02020400000000000000" pitchFamily="18" charset="-122"/>
              <a:sym typeface="微软雅黑"/>
            </a:endParaRPr>
          </a:p>
        </p:txBody>
      </p:sp>
      <p:pic>
        <p:nvPicPr>
          <p:cNvPr id="8" name="图片 7">
            <a:extLst>
              <a:ext uri="{FF2B5EF4-FFF2-40B4-BE49-F238E27FC236}">
                <a16:creationId xmlns:a16="http://schemas.microsoft.com/office/drawing/2014/main" id="{882ABB22-FB51-4AE7-1735-96B7C51487E2}"/>
              </a:ext>
            </a:extLst>
          </p:cNvPr>
          <p:cNvPicPr>
            <a:picLocks noChangeAspect="1"/>
          </p:cNvPicPr>
          <p:nvPr/>
        </p:nvPicPr>
        <p:blipFill>
          <a:blip r:embed="rId5">
            <a:extLst>
              <a:ext uri="{28A0092B-C50C-407E-A947-70E740481C1C}">
                <a14:useLocalDpi xmlns:a14="http://schemas.microsoft.com/office/drawing/2010/main" val="0"/>
              </a:ext>
            </a:extLst>
          </a:blip>
          <a:srcRect l="19823" t="8605" r="20969" b="3802"/>
          <a:stretch>
            <a:fillRect/>
          </a:stretch>
        </p:blipFill>
        <p:spPr>
          <a:xfrm>
            <a:off x="7320892" y="543323"/>
            <a:ext cx="4060469" cy="60071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83ED34-20A3-8854-512A-A49D6B603183}"/>
              </a:ext>
            </a:extLst>
          </p:cNvPr>
          <p:cNvSpPr>
            <a:spLocks noGrp="1"/>
          </p:cNvSpPr>
          <p:nvPr>
            <p:ph type="title"/>
          </p:nvPr>
        </p:nvSpPr>
        <p:spPr/>
        <p:txBody>
          <a:bodyPr/>
          <a:lstStyle/>
          <a:p>
            <a:r>
              <a:rPr kumimoji="0" lang="en-US" altLang="zh-CN" sz="2400" b="1" i="0" u="none" strike="noStrike" kern="1200" cap="none" spc="200" normalizeH="0" baseline="0" noProof="0" dirty="0">
                <a:ln>
                  <a:noFill/>
                </a:ln>
                <a:solidFill>
                  <a:srgbClr val="2B4663"/>
                </a:solidFill>
                <a:effectLst/>
                <a:uLnTx/>
                <a:uFillTx/>
                <a:latin typeface="思源宋体" panose="02020400000000000000" pitchFamily="18" charset="-122"/>
                <a:ea typeface="思源宋体" panose="02020400000000000000" pitchFamily="18" charset="-122"/>
                <a:cs typeface="+mj-cs"/>
                <a:sym typeface="微软雅黑"/>
              </a:rPr>
              <a:t>01.</a:t>
            </a:r>
            <a:r>
              <a:rPr lang="zh-CN" altLang="en-US" dirty="0">
                <a:solidFill>
                  <a:srgbClr val="2B4663"/>
                </a:solidFill>
                <a:latin typeface="思源宋体" panose="02020400000000000000" pitchFamily="18" charset="-122"/>
                <a:ea typeface="思源宋体" panose="02020400000000000000" pitchFamily="18" charset="-122"/>
                <a:sym typeface="微软雅黑"/>
              </a:rPr>
              <a:t>双过程理论</a:t>
            </a:r>
            <a:endParaRPr lang="zh-CN" altLang="en-US" dirty="0"/>
          </a:p>
        </p:txBody>
      </p:sp>
      <p:sp>
        <p:nvSpPr>
          <p:cNvPr id="3" name="稻壳儿智宇https://www.docer.com/works?userid=328340712">
            <a:extLst>
              <a:ext uri="{FF2B5EF4-FFF2-40B4-BE49-F238E27FC236}">
                <a16:creationId xmlns:a16="http://schemas.microsoft.com/office/drawing/2014/main" id="{4D79A314-3C8E-AB13-14F6-BCA78C53098F}"/>
              </a:ext>
            </a:extLst>
          </p:cNvPr>
          <p:cNvSpPr txBox="1"/>
          <p:nvPr>
            <p:custDataLst>
              <p:tags r:id="rId1"/>
            </p:custDataLst>
          </p:nvPr>
        </p:nvSpPr>
        <p:spPr>
          <a:xfrm>
            <a:off x="423060" y="4314915"/>
            <a:ext cx="11345877" cy="2767424"/>
          </a:xfrm>
          <a:prstGeom prst="rect">
            <a:avLst/>
          </a:prstGeom>
          <a:noFill/>
        </p:spPr>
        <p:txBody>
          <a:bodyPr wrap="square" rtlCol="0">
            <a:spAutoFit/>
          </a:bodyPr>
          <a:lstStyle/>
          <a:p>
            <a:pPr>
              <a:lnSpc>
                <a:spcPct val="150000"/>
              </a:lnSpc>
            </a:pPr>
            <a:r>
              <a:rPr lang="zh-CN" altLang="en-US" sz="2000" dirty="0">
                <a:solidFill>
                  <a:schemeClr val="dk1"/>
                </a:solidFill>
                <a:latin typeface="思源宋体" panose="02020400000000000000" pitchFamily="18" charset="-122"/>
                <a:ea typeface="思源宋体" panose="02020400000000000000" pitchFamily="18" charset="-122"/>
                <a:sym typeface="微软雅黑"/>
              </a:rPr>
              <a:t>心理学家丹尼尔</a:t>
            </a:r>
            <a:r>
              <a:rPr lang="en-US" altLang="zh-CN" sz="2000" dirty="0">
                <a:solidFill>
                  <a:schemeClr val="dk1"/>
                </a:solidFill>
                <a:latin typeface="思源宋体" panose="02020400000000000000" pitchFamily="18" charset="-122"/>
                <a:ea typeface="思源宋体" panose="02020400000000000000" pitchFamily="18" charset="-122"/>
                <a:sym typeface="微软雅黑"/>
              </a:rPr>
              <a:t>·</a:t>
            </a:r>
            <a:r>
              <a:rPr lang="zh-CN" altLang="en-US" sz="2000" dirty="0">
                <a:solidFill>
                  <a:schemeClr val="dk1"/>
                </a:solidFill>
                <a:latin typeface="思源宋体" panose="02020400000000000000" pitchFamily="18" charset="-122"/>
                <a:ea typeface="思源宋体" panose="02020400000000000000" pitchFamily="18" charset="-122"/>
                <a:sym typeface="微软雅黑"/>
              </a:rPr>
              <a:t>卡尼曼在他的著作</a:t>
            </a:r>
            <a:r>
              <a:rPr lang="en-US" altLang="zh-CN" sz="2000" dirty="0">
                <a:solidFill>
                  <a:schemeClr val="dk1"/>
                </a:solidFill>
                <a:latin typeface="思源宋体" panose="02020400000000000000" pitchFamily="18" charset="-122"/>
                <a:ea typeface="思源宋体" panose="02020400000000000000" pitchFamily="18" charset="-122"/>
                <a:sym typeface="微软雅黑"/>
              </a:rPr>
              <a:t>《Fast and slow thinking》</a:t>
            </a:r>
            <a:r>
              <a:rPr lang="zh-CN" altLang="en-US" sz="2000" dirty="0">
                <a:solidFill>
                  <a:schemeClr val="dk1"/>
                </a:solidFill>
                <a:latin typeface="思源宋体" panose="02020400000000000000" pitchFamily="18" charset="-122"/>
                <a:ea typeface="思源宋体" panose="02020400000000000000" pitchFamily="18" charset="-122"/>
                <a:sym typeface="微软雅黑"/>
              </a:rPr>
              <a:t>中提出双过程理论 （</a:t>
            </a:r>
            <a:r>
              <a:rPr lang="en-US" altLang="zh-CN" sz="2000" dirty="0">
                <a:solidFill>
                  <a:schemeClr val="dk1"/>
                </a:solidFill>
                <a:latin typeface="思源宋体" panose="02020400000000000000" pitchFamily="18" charset="-122"/>
                <a:ea typeface="思源宋体" panose="02020400000000000000" pitchFamily="18" charset="-122"/>
                <a:sym typeface="微软雅黑"/>
              </a:rPr>
              <a:t>Dual-Process Theory</a:t>
            </a:r>
            <a:r>
              <a:rPr lang="zh-CN" altLang="en-US" sz="2000" dirty="0">
                <a:solidFill>
                  <a:schemeClr val="dk1"/>
                </a:solidFill>
                <a:latin typeface="思源宋体" panose="02020400000000000000" pitchFamily="18" charset="-122"/>
                <a:ea typeface="思源宋体" panose="02020400000000000000" pitchFamily="18" charset="-122"/>
                <a:sym typeface="微软雅黑"/>
              </a:rPr>
              <a:t>），该理论认为，人类的思考过程可以分为两个系统：</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marL="342900" indent="-342900">
              <a:lnSpc>
                <a:spcPct val="150000"/>
              </a:lnSpc>
              <a:buFont typeface="Wingdings" panose="05000000000000000000" pitchFamily="2" charset="2"/>
              <a:buChar char="Ø"/>
            </a:pPr>
            <a:r>
              <a:rPr lang="zh-CN" altLang="en-US" sz="2000" dirty="0">
                <a:solidFill>
                  <a:schemeClr val="dk1"/>
                </a:solidFill>
                <a:latin typeface="思源宋体" panose="02020400000000000000" pitchFamily="18" charset="-122"/>
                <a:ea typeface="思源宋体" panose="02020400000000000000" pitchFamily="18" charset="-122"/>
                <a:sym typeface="微软雅黑"/>
              </a:rPr>
              <a:t>系统</a:t>
            </a:r>
            <a:r>
              <a:rPr lang="en-US" altLang="zh-CN" sz="2000" dirty="0">
                <a:solidFill>
                  <a:schemeClr val="dk1"/>
                </a:solidFill>
                <a:latin typeface="思源宋体" panose="02020400000000000000" pitchFamily="18" charset="-122"/>
                <a:ea typeface="思源宋体" panose="02020400000000000000" pitchFamily="18" charset="-122"/>
                <a:sym typeface="微软雅黑"/>
              </a:rPr>
              <a:t>1</a:t>
            </a:r>
            <a:r>
              <a:rPr lang="zh-CN" altLang="en-US" sz="2000" dirty="0">
                <a:solidFill>
                  <a:schemeClr val="dk1"/>
                </a:solidFill>
                <a:latin typeface="思源宋体" panose="02020400000000000000" pitchFamily="18" charset="-122"/>
                <a:ea typeface="思源宋体" panose="02020400000000000000" pitchFamily="18" charset="-122"/>
                <a:sym typeface="微软雅黑"/>
              </a:rPr>
              <a:t>（快思考）：快速、直觉、自动化，依赖经验和情感联想，迅速对做出下意识的初步判断。</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marL="342900" indent="-342900">
              <a:lnSpc>
                <a:spcPct val="150000"/>
              </a:lnSpc>
              <a:buFont typeface="Wingdings" panose="05000000000000000000" pitchFamily="2" charset="2"/>
              <a:buChar char="Ø"/>
            </a:pPr>
            <a:r>
              <a:rPr lang="zh-CN" altLang="en-US" sz="2000" dirty="0">
                <a:solidFill>
                  <a:schemeClr val="dk1"/>
                </a:solidFill>
                <a:latin typeface="思源宋体" panose="02020400000000000000" pitchFamily="18" charset="-122"/>
                <a:ea typeface="思源宋体" panose="02020400000000000000" pitchFamily="18" charset="-122"/>
                <a:sym typeface="微软雅黑"/>
              </a:rPr>
              <a:t>系统</a:t>
            </a:r>
            <a:r>
              <a:rPr lang="en-US" altLang="zh-CN" sz="2000" dirty="0">
                <a:solidFill>
                  <a:schemeClr val="dk1"/>
                </a:solidFill>
                <a:latin typeface="思源宋体" panose="02020400000000000000" pitchFamily="18" charset="-122"/>
                <a:ea typeface="思源宋体" panose="02020400000000000000" pitchFamily="18" charset="-122"/>
                <a:sym typeface="微软雅黑"/>
              </a:rPr>
              <a:t>2 </a:t>
            </a:r>
            <a:r>
              <a:rPr lang="zh-CN" altLang="en-US" sz="2000" dirty="0">
                <a:solidFill>
                  <a:schemeClr val="dk1"/>
                </a:solidFill>
                <a:latin typeface="思源宋体" panose="02020400000000000000" pitchFamily="18" charset="-122"/>
                <a:ea typeface="思源宋体" panose="02020400000000000000" pitchFamily="18" charset="-122"/>
                <a:sym typeface="微软雅黑"/>
              </a:rPr>
              <a:t>（慢思考）：缓慢、深思熟虑、分析性，负责调动注意力，进行逻辑推理、批判性审视，并对系统</a:t>
            </a:r>
            <a:r>
              <a:rPr lang="en-US" altLang="zh-CN" sz="2000" dirty="0">
                <a:solidFill>
                  <a:schemeClr val="dk1"/>
                </a:solidFill>
                <a:latin typeface="思源宋体" panose="02020400000000000000" pitchFamily="18" charset="-122"/>
                <a:ea typeface="思源宋体" panose="02020400000000000000" pitchFamily="18" charset="-122"/>
                <a:sym typeface="微软雅黑"/>
              </a:rPr>
              <a:t>1</a:t>
            </a:r>
            <a:r>
              <a:rPr lang="zh-CN" altLang="en-US" sz="2000" dirty="0">
                <a:solidFill>
                  <a:schemeClr val="dk1"/>
                </a:solidFill>
                <a:latin typeface="思源宋体" panose="02020400000000000000" pitchFamily="18" charset="-122"/>
                <a:ea typeface="思源宋体" panose="02020400000000000000" pitchFamily="18" charset="-122"/>
                <a:sym typeface="微软雅黑"/>
              </a:rPr>
              <a:t>的直觉偏差进行“纠正”和“反思”。</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a:lnSpc>
                <a:spcPct val="150000"/>
              </a:lnSpc>
            </a:pPr>
            <a:endParaRPr lang="en-US" altLang="zh-CN" dirty="0">
              <a:solidFill>
                <a:schemeClr val="dk1"/>
              </a:solidFill>
              <a:latin typeface="思源宋体" panose="02020400000000000000" pitchFamily="18" charset="-122"/>
              <a:ea typeface="思源宋体" panose="02020400000000000000" pitchFamily="18" charset="-122"/>
              <a:sym typeface="微软雅黑"/>
            </a:endParaRPr>
          </a:p>
        </p:txBody>
      </p:sp>
      <p:pic>
        <p:nvPicPr>
          <p:cNvPr id="5" name="图片 4">
            <a:extLst>
              <a:ext uri="{FF2B5EF4-FFF2-40B4-BE49-F238E27FC236}">
                <a16:creationId xmlns:a16="http://schemas.microsoft.com/office/drawing/2014/main" id="{C53D2965-EDDB-5664-33B5-83E7A2EA1117}"/>
              </a:ext>
            </a:extLst>
          </p:cNvPr>
          <p:cNvPicPr>
            <a:picLocks noChangeAspect="1"/>
          </p:cNvPicPr>
          <p:nvPr/>
        </p:nvPicPr>
        <p:blipFill>
          <a:blip r:embed="rId4">
            <a:extLst>
              <a:ext uri="{28A0092B-C50C-407E-A947-70E740481C1C}">
                <a14:useLocalDpi xmlns:a14="http://schemas.microsoft.com/office/drawing/2010/main" val="0"/>
              </a:ext>
            </a:extLst>
          </a:blip>
          <a:srcRect t="22695" b="22458"/>
          <a:stretch>
            <a:fillRect/>
          </a:stretch>
        </p:blipFill>
        <p:spPr>
          <a:xfrm>
            <a:off x="2932880" y="702710"/>
            <a:ext cx="6326238" cy="3469709"/>
          </a:xfrm>
          <a:prstGeom prst="rect">
            <a:avLst/>
          </a:prstGeom>
        </p:spPr>
      </p:pic>
    </p:spTree>
    <p:extLst>
      <p:ext uri="{BB962C8B-B14F-4D97-AF65-F5344CB8AC3E}">
        <p14:creationId xmlns:p14="http://schemas.microsoft.com/office/powerpoint/2010/main" val="824158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稻壳儿智宇https://www.docer.com/works?userid=328340712"/>
          <p:cNvSpPr>
            <a:spLocks noGrp="1"/>
          </p:cNvSpPr>
          <p:nvPr>
            <p:ph type="body" sz="quarter" idx="10"/>
            <p:custDataLst>
              <p:tags r:id="rId1"/>
            </p:custDataLst>
          </p:nvPr>
        </p:nvSpPr>
        <p:spPr>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solidFill>
                  <a:schemeClr val="dk1"/>
                </a:solidFill>
                <a:latin typeface="思源宋体" panose="02020400000000000000" pitchFamily="18" charset="-122"/>
                <a:ea typeface="思源宋体" panose="02020400000000000000" pitchFamily="18" charset="-122"/>
                <a:sym typeface="微软雅黑"/>
              </a:rPr>
              <a:t>02</a:t>
            </a:r>
          </a:p>
        </p:txBody>
      </p:sp>
      <p:sp>
        <p:nvSpPr>
          <p:cNvPr id="19" name="稻壳儿智宇https://www.docer.com/works?userid=328340712"/>
          <p:cNvSpPr>
            <a:spLocks noGrp="1"/>
          </p:cNvSpPr>
          <p:nvPr>
            <p:ph type="body" sz="quarter" idx="12"/>
          </p:nvPr>
        </p:nvSpPr>
        <p:spPr>
          <a:xfrm>
            <a:off x="2608162" y="2967335"/>
            <a:ext cx="6975676" cy="923330"/>
          </a:xfrm>
          <a:prstGeom prst="rect">
            <a:avLst/>
          </a:prstGeom>
        </p:spPr>
        <p:txBody>
          <a:bodyPr/>
          <a:lstStyle/>
          <a:p>
            <a:r>
              <a:rPr lang="zh-CN" altLang="en-US" dirty="0">
                <a:solidFill>
                  <a:schemeClr val="lt1"/>
                </a:solidFill>
                <a:latin typeface="思源宋体" panose="02020400000000000000" pitchFamily="18" charset="-122"/>
                <a:ea typeface="思源宋体" panose="02020400000000000000" pitchFamily="18" charset="-122"/>
                <a:sym typeface="微软雅黑"/>
              </a:rPr>
              <a:t>问题剖析</a:t>
            </a:r>
          </a:p>
        </p:txBody>
      </p:sp>
      <p:sp>
        <p:nvSpPr>
          <p:cNvPr id="17" name="稻壳儿智宇https://www.docer.com/works?userid=328340712"/>
          <p:cNvSpPr>
            <a:spLocks noGrp="1"/>
          </p:cNvSpPr>
          <p:nvPr>
            <p:ph type="body" sz="quarter" idx="14"/>
            <p:custDataLst>
              <p:tags r:id="rId2"/>
            </p:custDataLst>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solidFill>
                  <a:schemeClr val="lt1"/>
                </a:solidFill>
                <a:latin typeface="思源宋体" panose="02020400000000000000" pitchFamily="18" charset="-122"/>
                <a:ea typeface="思源宋体" panose="02020400000000000000" pitchFamily="18" charset="-122"/>
                <a:sym typeface="微软雅黑"/>
              </a:rPr>
              <a:t>Part two</a:t>
            </a:r>
          </a:p>
        </p:txBody>
      </p:sp>
      <p:pic>
        <p:nvPicPr>
          <p:cNvPr id="3" name="图片 2">
            <a:extLst>
              <a:ext uri="{FF2B5EF4-FFF2-40B4-BE49-F238E27FC236}">
                <a16:creationId xmlns:a16="http://schemas.microsoft.com/office/drawing/2014/main" id="{F7841197-B3C6-971A-EE9A-E6EEF7B6D8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7519" y="5010108"/>
            <a:ext cx="4653788" cy="85260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9A164-29A4-9177-C0A0-7E1DC553A79C}"/>
            </a:ext>
          </a:extLst>
        </p:cNvPr>
        <p:cNvGrpSpPr/>
        <p:nvPr/>
      </p:nvGrpSpPr>
      <p:grpSpPr>
        <a:xfrm>
          <a:off x="0" y="0"/>
          <a:ext cx="0" cy="0"/>
          <a:chOff x="0" y="0"/>
          <a:chExt cx="0" cy="0"/>
        </a:xfrm>
      </p:grpSpPr>
      <p:sp>
        <p:nvSpPr>
          <p:cNvPr id="17" name="稻壳儿智宇https://www.docer.com/works?userid=328340712">
            <a:extLst>
              <a:ext uri="{FF2B5EF4-FFF2-40B4-BE49-F238E27FC236}">
                <a16:creationId xmlns:a16="http://schemas.microsoft.com/office/drawing/2014/main" id="{8C90744B-B063-5573-6537-156BF757B1F7}"/>
              </a:ext>
            </a:extLst>
          </p:cNvPr>
          <p:cNvSpPr/>
          <p:nvPr>
            <p:custDataLst>
              <p:tags r:id="rId1"/>
            </p:custDataLst>
          </p:nvPr>
        </p:nvSpPr>
        <p:spPr>
          <a:xfrm rot="5400000">
            <a:off x="3188145" y="-2485436"/>
            <a:ext cx="5688332" cy="12064625"/>
          </a:xfrm>
          <a:custGeom>
            <a:avLst/>
            <a:gdLst>
              <a:gd name="connsiteX0" fmla="*/ 0 w 5504960"/>
              <a:gd name="connsiteY0" fmla="*/ 7599679 h 7599679"/>
              <a:gd name="connsiteX1" fmla="*/ 824598 w 5504960"/>
              <a:gd name="connsiteY1" fmla="*/ 0 h 7599679"/>
              <a:gd name="connsiteX2" fmla="*/ 4680362 w 5504960"/>
              <a:gd name="connsiteY2" fmla="*/ 0 h 7599679"/>
              <a:gd name="connsiteX3" fmla="*/ 5504960 w 5504960"/>
              <a:gd name="connsiteY3" fmla="*/ 7599679 h 7599679"/>
            </a:gdLst>
            <a:ahLst/>
            <a:cxnLst>
              <a:cxn ang="0">
                <a:pos x="connsiteX0" y="connsiteY0"/>
              </a:cxn>
              <a:cxn ang="0">
                <a:pos x="connsiteX1" y="connsiteY1"/>
              </a:cxn>
              <a:cxn ang="0">
                <a:pos x="connsiteX2" y="connsiteY2"/>
              </a:cxn>
              <a:cxn ang="0">
                <a:pos x="connsiteX3" y="connsiteY3"/>
              </a:cxn>
            </a:cxnLst>
            <a:rect l="l" t="t" r="r" b="b"/>
            <a:pathLst>
              <a:path w="5504960" h="7599679">
                <a:moveTo>
                  <a:pt x="0" y="7599679"/>
                </a:moveTo>
                <a:lnTo>
                  <a:pt x="824598" y="0"/>
                </a:lnTo>
                <a:lnTo>
                  <a:pt x="4680362" y="0"/>
                </a:lnTo>
                <a:lnTo>
                  <a:pt x="5504960" y="7599679"/>
                </a:lnTo>
                <a:close/>
              </a:path>
            </a:pathLst>
          </a:custGeom>
          <a:gradFill flip="none" rotWithShape="1">
            <a:gsLst>
              <a:gs pos="0">
                <a:srgbClr val="DDE4E8">
                  <a:lumMod val="20000"/>
                  <a:lumOff val="80000"/>
                </a:srgbClr>
              </a:gs>
              <a:gs pos="100000">
                <a:srgbClr val="DDE4E8">
                  <a:lumMod val="20000"/>
                  <a:lumOff val="80000"/>
                  <a:alpha val="5000"/>
                </a:srgbClr>
              </a:gs>
            </a:gsLst>
            <a:lin ang="54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微软雅黑"/>
              <a:ea typeface="微软雅黑"/>
              <a:sym typeface="微软雅黑"/>
            </a:endParaRPr>
          </a:p>
        </p:txBody>
      </p:sp>
      <p:sp>
        <p:nvSpPr>
          <p:cNvPr id="4" name="稻壳儿智宇https://www.docer.com/works?userid=328340712">
            <a:extLst>
              <a:ext uri="{FF2B5EF4-FFF2-40B4-BE49-F238E27FC236}">
                <a16:creationId xmlns:a16="http://schemas.microsoft.com/office/drawing/2014/main" id="{485D1E19-9F5E-A836-6843-31D33FFD7F7A}"/>
              </a:ext>
            </a:extLst>
          </p:cNvPr>
          <p:cNvSpPr>
            <a:spLocks noGrp="1"/>
          </p:cNvSpPr>
          <p:nvPr>
            <p:ph type="title"/>
          </p:nvPr>
        </p:nvSpPr>
        <p:spPr>
          <a:prstGeom prst="rect">
            <a:avLst/>
          </a:prstGeom>
        </p:spPr>
        <p:txBody>
          <a:bodyPr>
            <a:normAutofit/>
          </a:bodyPr>
          <a:lstStyle/>
          <a:p>
            <a:r>
              <a:rPr lang="en-US" altLang="zh-CN" dirty="0">
                <a:latin typeface="思源宋体" panose="02020400000000000000" pitchFamily="18" charset="-122"/>
                <a:ea typeface="思源宋体" panose="02020400000000000000" pitchFamily="18" charset="-122"/>
                <a:sym typeface="微软雅黑"/>
              </a:rPr>
              <a:t>02.</a:t>
            </a:r>
            <a:r>
              <a:rPr lang="zh-CN" altLang="en-US" dirty="0">
                <a:latin typeface="思源宋体" panose="02020400000000000000" pitchFamily="18" charset="-122"/>
                <a:ea typeface="思源宋体" panose="02020400000000000000" pitchFamily="18" charset="-122"/>
                <a:sym typeface="微软雅黑"/>
              </a:rPr>
              <a:t>问题剖析</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6" name="稻壳儿智宇https://www.docer.com/works?userid=328340712">
            <a:extLst>
              <a:ext uri="{FF2B5EF4-FFF2-40B4-BE49-F238E27FC236}">
                <a16:creationId xmlns:a16="http://schemas.microsoft.com/office/drawing/2014/main" id="{519DB25F-9FB3-F3A5-9B17-98A5CD5BE4A5}"/>
              </a:ext>
            </a:extLst>
          </p:cNvPr>
          <p:cNvSpPr txBox="1"/>
          <p:nvPr>
            <p:custDataLst>
              <p:tags r:id="rId2"/>
            </p:custDataLst>
          </p:nvPr>
        </p:nvSpPr>
        <p:spPr>
          <a:xfrm>
            <a:off x="599690" y="1080118"/>
            <a:ext cx="4880225" cy="5116465"/>
          </a:xfrm>
          <a:prstGeom prst="rect">
            <a:avLst/>
          </a:prstGeom>
          <a:noFill/>
        </p:spPr>
        <p:txBody>
          <a:bodyPr wrap="square" rtlCol="0">
            <a:spAutoFit/>
          </a:bodyPr>
          <a:lstStyle/>
          <a:p>
            <a:pPr>
              <a:lnSpc>
                <a:spcPct val="150000"/>
              </a:lnSpc>
            </a:pPr>
            <a:r>
              <a:rPr lang="zh-CN" altLang="en-US" sz="2000" dirty="0">
                <a:solidFill>
                  <a:schemeClr val="dk1"/>
                </a:solidFill>
                <a:latin typeface="思源宋体" panose="02020400000000000000" pitchFamily="18" charset="-122"/>
                <a:ea typeface="思源宋体" panose="02020400000000000000" pitchFamily="18" charset="-122"/>
                <a:sym typeface="微软雅黑"/>
              </a:rPr>
              <a:t>现有研究主要缺乏对模态信息价值的“上下文依赖性”和模态间语义关系的“动态性”的分析：</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marL="342900" indent="-342900">
              <a:lnSpc>
                <a:spcPct val="150000"/>
              </a:lnSpc>
              <a:buFont typeface="Wingdings" panose="05000000000000000000" pitchFamily="2" charset="2"/>
              <a:buChar char="Ø"/>
            </a:pPr>
            <a:r>
              <a:rPr lang="zh-CN" altLang="en-US" sz="2000" dirty="0">
                <a:solidFill>
                  <a:schemeClr val="dk1"/>
                </a:solidFill>
                <a:latin typeface="思源宋体" panose="02020400000000000000" pitchFamily="18" charset="-122"/>
                <a:ea typeface="思源宋体" panose="02020400000000000000" pitchFamily="18" charset="-122"/>
                <a:sym typeface="微软雅黑"/>
              </a:rPr>
              <a:t>单一模态信息的价值高度依赖于上下文。在某些情境下，独立的文本或图像可能含义模糊或与主题无关，无法为立场检测提供有效证据。</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a:p>
            <a:pPr marL="342900" indent="-342900">
              <a:lnSpc>
                <a:spcPct val="150000"/>
              </a:lnSpc>
              <a:buFont typeface="Wingdings" panose="05000000000000000000" pitchFamily="2" charset="2"/>
              <a:buChar char="Ø"/>
            </a:pPr>
            <a:r>
              <a:rPr lang="zh-CN" altLang="en-US" sz="2000" dirty="0">
                <a:solidFill>
                  <a:schemeClr val="dk1"/>
                </a:solidFill>
                <a:latin typeface="思源宋体" panose="02020400000000000000" pitchFamily="18" charset="-122"/>
                <a:ea typeface="思源宋体" panose="02020400000000000000" pitchFamily="18" charset="-122"/>
                <a:sym typeface="微软雅黑"/>
              </a:rPr>
              <a:t>模态间的语义关系并非固定不变，而是从互补到矛盾动态变化的。简单的特征对齐或融合策略难以驾驭这种复杂的相互作用。</a:t>
            </a:r>
            <a:endParaRPr lang="en-US" altLang="zh-CN" sz="2000" dirty="0">
              <a:solidFill>
                <a:schemeClr val="dk1"/>
              </a:solidFill>
              <a:latin typeface="思源宋体" panose="02020400000000000000" pitchFamily="18" charset="-122"/>
              <a:ea typeface="思源宋体" panose="02020400000000000000" pitchFamily="18" charset="-122"/>
              <a:sym typeface="微软雅黑"/>
            </a:endParaRPr>
          </a:p>
        </p:txBody>
      </p:sp>
      <p:pic>
        <p:nvPicPr>
          <p:cNvPr id="7" name="图片 6">
            <a:extLst>
              <a:ext uri="{FF2B5EF4-FFF2-40B4-BE49-F238E27FC236}">
                <a16:creationId xmlns:a16="http://schemas.microsoft.com/office/drawing/2014/main" id="{F7E16FDC-85DD-828A-0CEF-1722BC8C639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41878" y="1225457"/>
            <a:ext cx="5596523" cy="4562914"/>
          </a:xfrm>
          <a:prstGeom prst="rect">
            <a:avLst/>
          </a:prstGeom>
        </p:spPr>
      </p:pic>
    </p:spTree>
    <p:extLst>
      <p:ext uri="{BB962C8B-B14F-4D97-AF65-F5344CB8AC3E}">
        <p14:creationId xmlns:p14="http://schemas.microsoft.com/office/powerpoint/2010/main" val="17001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E6C5B-6BEF-45E1-4F0A-AE6E391B981A}"/>
            </a:ext>
          </a:extLst>
        </p:cNvPr>
        <p:cNvGrpSpPr/>
        <p:nvPr/>
      </p:nvGrpSpPr>
      <p:grpSpPr>
        <a:xfrm>
          <a:off x="0" y="0"/>
          <a:ext cx="0" cy="0"/>
          <a:chOff x="0" y="0"/>
          <a:chExt cx="0" cy="0"/>
        </a:xfrm>
      </p:grpSpPr>
      <p:sp>
        <p:nvSpPr>
          <p:cNvPr id="16" name="稻壳儿智宇https://www.docer.com/works?userid=328340712">
            <a:extLst>
              <a:ext uri="{FF2B5EF4-FFF2-40B4-BE49-F238E27FC236}">
                <a16:creationId xmlns:a16="http://schemas.microsoft.com/office/drawing/2014/main" id="{D8EFF10C-9780-CA2C-5899-7D9F2109046D}"/>
              </a:ext>
            </a:extLst>
          </p:cNvPr>
          <p:cNvSpPr>
            <a:spLocks noGrp="1"/>
          </p:cNvSpPr>
          <p:nvPr>
            <p:ph type="body" sz="quarter" idx="10"/>
            <p:custDataLst>
              <p:tags r:id="rId1"/>
            </p:custDataLst>
          </p:nvPr>
        </p:nvSpPr>
        <p:spPr>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solidFill>
                  <a:schemeClr val="dk1"/>
                </a:solidFill>
                <a:latin typeface="思源宋体" panose="02020400000000000000" pitchFamily="18" charset="-122"/>
                <a:ea typeface="思源宋体" panose="02020400000000000000" pitchFamily="18" charset="-122"/>
                <a:sym typeface="微软雅黑"/>
              </a:rPr>
              <a:t>03</a:t>
            </a:r>
          </a:p>
        </p:txBody>
      </p:sp>
      <p:sp>
        <p:nvSpPr>
          <p:cNvPr id="19" name="稻壳儿智宇https://www.docer.com/works?userid=328340712">
            <a:extLst>
              <a:ext uri="{FF2B5EF4-FFF2-40B4-BE49-F238E27FC236}">
                <a16:creationId xmlns:a16="http://schemas.microsoft.com/office/drawing/2014/main" id="{22E2F13A-F95B-A42B-9863-DC9D83DBD04D}"/>
              </a:ext>
            </a:extLst>
          </p:cNvPr>
          <p:cNvSpPr>
            <a:spLocks noGrp="1"/>
          </p:cNvSpPr>
          <p:nvPr>
            <p:ph type="body" sz="quarter" idx="12"/>
          </p:nvPr>
        </p:nvSpPr>
        <p:spPr>
          <a:xfrm>
            <a:off x="2608162" y="2967335"/>
            <a:ext cx="6975676" cy="923330"/>
          </a:xfrm>
          <a:prstGeom prst="rect">
            <a:avLst/>
          </a:prstGeom>
        </p:spPr>
        <p:txBody>
          <a:bodyPr/>
          <a:lstStyle/>
          <a:p>
            <a:r>
              <a:rPr lang="zh-CN" altLang="en-US" dirty="0">
                <a:solidFill>
                  <a:schemeClr val="lt1"/>
                </a:solidFill>
                <a:latin typeface="思源宋体" panose="02020400000000000000" pitchFamily="18" charset="-122"/>
                <a:ea typeface="思源宋体" panose="02020400000000000000" pitchFamily="18" charset="-122"/>
                <a:sym typeface="微软雅黑"/>
              </a:rPr>
              <a:t>框架设计</a:t>
            </a:r>
          </a:p>
        </p:txBody>
      </p:sp>
      <p:sp>
        <p:nvSpPr>
          <p:cNvPr id="17" name="稻壳儿智宇https://www.docer.com/works?userid=328340712">
            <a:extLst>
              <a:ext uri="{FF2B5EF4-FFF2-40B4-BE49-F238E27FC236}">
                <a16:creationId xmlns:a16="http://schemas.microsoft.com/office/drawing/2014/main" id="{713F692E-09EC-2EAA-8046-6EAA0C9509F5}"/>
              </a:ext>
            </a:extLst>
          </p:cNvPr>
          <p:cNvSpPr>
            <a:spLocks noGrp="1"/>
          </p:cNvSpPr>
          <p:nvPr>
            <p:ph type="body" sz="quarter" idx="14"/>
            <p:custDataLst>
              <p:tags r:id="rId2"/>
            </p:custDataLst>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solidFill>
                  <a:schemeClr val="lt1"/>
                </a:solidFill>
                <a:latin typeface="思源宋体" panose="02020400000000000000" pitchFamily="18" charset="-122"/>
                <a:ea typeface="思源宋体" panose="02020400000000000000" pitchFamily="18" charset="-122"/>
                <a:sym typeface="微软雅黑"/>
              </a:rPr>
              <a:t>Part three</a:t>
            </a:r>
          </a:p>
        </p:txBody>
      </p:sp>
      <p:pic>
        <p:nvPicPr>
          <p:cNvPr id="3" name="图片 2">
            <a:extLst>
              <a:ext uri="{FF2B5EF4-FFF2-40B4-BE49-F238E27FC236}">
                <a16:creationId xmlns:a16="http://schemas.microsoft.com/office/drawing/2014/main" id="{C458D2DC-39C1-E1CC-27E1-B6D1CF7D40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7519" y="5010108"/>
            <a:ext cx="4653788" cy="852602"/>
          </a:xfrm>
          <a:prstGeom prst="rect">
            <a:avLst/>
          </a:prstGeom>
        </p:spPr>
      </p:pic>
    </p:spTree>
    <p:extLst>
      <p:ext uri="{BB962C8B-B14F-4D97-AF65-F5344CB8AC3E}">
        <p14:creationId xmlns:p14="http://schemas.microsoft.com/office/powerpoint/2010/main" val="3887320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30C06-112F-6363-EB8E-CFBA508DFCB9}"/>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72361417-682A-C0E3-9480-E96B3C9BAB2C}"/>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03.</a:t>
            </a:r>
            <a:r>
              <a:rPr lang="zh-CN" altLang="en-US" dirty="0">
                <a:latin typeface="思源宋体" panose="02020400000000000000" pitchFamily="18" charset="-122"/>
                <a:ea typeface="思源宋体" panose="02020400000000000000" pitchFamily="18" charset="-122"/>
                <a:sym typeface="微软雅黑"/>
              </a:rPr>
              <a:t>框架设计</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27" name="稻壳儿智宇https://www.docer.com/works?userid=328340712">
            <a:extLst>
              <a:ext uri="{FF2B5EF4-FFF2-40B4-BE49-F238E27FC236}">
                <a16:creationId xmlns:a16="http://schemas.microsoft.com/office/drawing/2014/main" id="{70922BCA-D757-C13F-1861-634EEBD783A9}"/>
              </a:ext>
            </a:extLst>
          </p:cNvPr>
          <p:cNvSpPr txBox="1"/>
          <p:nvPr>
            <p:custDataLst>
              <p:tags r:id="rId1"/>
            </p:custDataLst>
          </p:nvPr>
        </p:nvSpPr>
        <p:spPr>
          <a:xfrm>
            <a:off x="1432706" y="966169"/>
            <a:ext cx="1025922" cy="307777"/>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dk1"/>
                </a:solidFill>
                <a:latin typeface="思源宋体" panose="02020400000000000000" pitchFamily="18" charset="-122"/>
                <a:ea typeface="思源宋体" panose="02020400000000000000" pitchFamily="18" charset="-122"/>
                <a:sym typeface="微软雅黑"/>
              </a:rPr>
              <a:t>框架总览</a:t>
            </a:r>
          </a:p>
        </p:txBody>
      </p:sp>
      <p:sp>
        <p:nvSpPr>
          <p:cNvPr id="28" name="稻壳儿智宇https://www.docer.com/works?userid=328340712">
            <a:extLst>
              <a:ext uri="{FF2B5EF4-FFF2-40B4-BE49-F238E27FC236}">
                <a16:creationId xmlns:a16="http://schemas.microsoft.com/office/drawing/2014/main" id="{4F4E5F53-4A69-0665-9DCA-607079F81212}"/>
              </a:ext>
            </a:extLst>
          </p:cNvPr>
          <p:cNvSpPr txBox="1"/>
          <p:nvPr>
            <p:custDataLst>
              <p:tags r:id="rId2"/>
            </p:custDataLst>
          </p:nvPr>
        </p:nvSpPr>
        <p:spPr>
          <a:xfrm>
            <a:off x="825389" y="5174840"/>
            <a:ext cx="9609772" cy="1433982"/>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600" dirty="0">
                <a:solidFill>
                  <a:schemeClr val="dk1"/>
                </a:solidFill>
                <a:latin typeface="思源宋体" panose="02020400000000000000" pitchFamily="18" charset="-122"/>
                <a:ea typeface="思源宋体" panose="02020400000000000000" pitchFamily="18" charset="-122"/>
                <a:sym typeface="微软雅黑"/>
              </a:rPr>
              <a:t>ReMoD </a:t>
            </a:r>
            <a:r>
              <a:rPr lang="zh-CN" altLang="en-US" sz="1600" dirty="0">
                <a:solidFill>
                  <a:schemeClr val="dk1"/>
                </a:solidFill>
                <a:latin typeface="思源宋体" panose="02020400000000000000" pitchFamily="18" charset="-122"/>
                <a:ea typeface="思源宋体" panose="02020400000000000000" pitchFamily="18" charset="-122"/>
                <a:sym typeface="微软雅黑"/>
              </a:rPr>
              <a:t>框架受人类认知的双过程理论启发。它主要由三个核心组件构成：</a:t>
            </a:r>
          </a:p>
          <a:p>
            <a:pPr marL="285750" indent="-285750">
              <a:lnSpc>
                <a:spcPct val="150000"/>
              </a:lnSpc>
              <a:buFont typeface="Wingdings" panose="05000000000000000000" pitchFamily="2" charset="2"/>
              <a:buChar char="Ø"/>
            </a:pPr>
            <a:r>
              <a:rPr lang="zh-CN" altLang="en-US" sz="1600" dirty="0">
                <a:solidFill>
                  <a:schemeClr val="dk1"/>
                </a:solidFill>
                <a:latin typeface="思源宋体" panose="02020400000000000000" pitchFamily="18" charset="-122"/>
                <a:ea typeface="思源宋体" panose="02020400000000000000" pitchFamily="18" charset="-122"/>
                <a:sym typeface="微软雅黑"/>
              </a:rPr>
              <a:t>多模态知识感知</a:t>
            </a:r>
            <a:r>
              <a:rPr lang="en-US" altLang="zh-CN" sz="1600" dirty="0">
                <a:solidFill>
                  <a:schemeClr val="dk1"/>
                </a:solidFill>
                <a:latin typeface="思源宋体" panose="02020400000000000000" pitchFamily="18" charset="-122"/>
                <a:ea typeface="思源宋体" panose="02020400000000000000" pitchFamily="18" charset="-122"/>
                <a:sym typeface="微软雅黑"/>
              </a:rPr>
              <a:t>: </a:t>
            </a:r>
            <a:r>
              <a:rPr lang="zh-CN" altLang="en-US" sz="1600" dirty="0">
                <a:solidFill>
                  <a:schemeClr val="dk1"/>
                </a:solidFill>
                <a:latin typeface="思源宋体" panose="02020400000000000000" pitchFamily="18" charset="-122"/>
                <a:ea typeface="思源宋体" panose="02020400000000000000" pitchFamily="18" charset="-122"/>
                <a:sym typeface="微软雅黑"/>
              </a:rPr>
              <a:t>负责深度提取和处理图文信息，构建语义基础。</a:t>
            </a:r>
          </a:p>
          <a:p>
            <a:pPr marL="285750" indent="-285750">
              <a:lnSpc>
                <a:spcPct val="150000"/>
              </a:lnSpc>
              <a:buFont typeface="Wingdings" panose="05000000000000000000" pitchFamily="2" charset="2"/>
              <a:buChar char="Ø"/>
            </a:pPr>
            <a:r>
              <a:rPr lang="zh-CN" altLang="en-US" sz="1600" dirty="0">
                <a:solidFill>
                  <a:schemeClr val="dk1"/>
                </a:solidFill>
                <a:latin typeface="思源宋体" panose="02020400000000000000" pitchFamily="18" charset="-122"/>
                <a:ea typeface="思源宋体" panose="02020400000000000000" pitchFamily="18" charset="-122"/>
                <a:sym typeface="微软雅黑"/>
              </a:rPr>
              <a:t>经验驱动的直觉推理</a:t>
            </a:r>
            <a:r>
              <a:rPr lang="en-US" altLang="zh-CN" sz="1600" dirty="0">
                <a:solidFill>
                  <a:schemeClr val="dk1"/>
                </a:solidFill>
                <a:latin typeface="思源宋体" panose="02020400000000000000" pitchFamily="18" charset="-122"/>
                <a:ea typeface="思源宋体" panose="02020400000000000000" pitchFamily="18" charset="-122"/>
                <a:sym typeface="微软雅黑"/>
              </a:rPr>
              <a:t>: </a:t>
            </a:r>
            <a:r>
              <a:rPr lang="zh-CN" altLang="en-US" sz="1600" dirty="0">
                <a:solidFill>
                  <a:schemeClr val="dk1"/>
                </a:solidFill>
                <a:latin typeface="思源宋体" panose="02020400000000000000" pitchFamily="18" charset="-122"/>
                <a:ea typeface="思源宋体" panose="02020400000000000000" pitchFamily="18" charset="-122"/>
                <a:sym typeface="微软雅黑"/>
              </a:rPr>
              <a:t>模拟</a:t>
            </a:r>
            <a:r>
              <a:rPr lang="en-US" altLang="zh-CN" sz="1600" dirty="0">
                <a:solidFill>
                  <a:schemeClr val="dk1"/>
                </a:solidFill>
                <a:latin typeface="思源宋体" panose="02020400000000000000" pitchFamily="18" charset="-122"/>
                <a:ea typeface="思源宋体" panose="02020400000000000000" pitchFamily="18" charset="-122"/>
                <a:sym typeface="微软雅黑"/>
              </a:rPr>
              <a:t>"</a:t>
            </a:r>
            <a:r>
              <a:rPr lang="zh-CN" altLang="en-US" sz="1600" dirty="0">
                <a:solidFill>
                  <a:schemeClr val="dk1"/>
                </a:solidFill>
                <a:latin typeface="思源宋体" panose="02020400000000000000" pitchFamily="18" charset="-122"/>
                <a:ea typeface="思源宋体" panose="02020400000000000000" pitchFamily="18" charset="-122"/>
                <a:sym typeface="微软雅黑"/>
              </a:rPr>
              <a:t>系统</a:t>
            </a:r>
            <a:r>
              <a:rPr lang="en-US" altLang="zh-CN" sz="1600" dirty="0">
                <a:solidFill>
                  <a:schemeClr val="dk1"/>
                </a:solidFill>
                <a:latin typeface="思源宋体" panose="02020400000000000000" pitchFamily="18" charset="-122"/>
                <a:ea typeface="思源宋体" panose="02020400000000000000" pitchFamily="18" charset="-122"/>
                <a:sym typeface="微软雅黑"/>
              </a:rPr>
              <a:t>1"</a:t>
            </a:r>
            <a:r>
              <a:rPr lang="zh-CN" altLang="en-US" sz="1600" dirty="0">
                <a:solidFill>
                  <a:schemeClr val="dk1"/>
                </a:solidFill>
                <a:latin typeface="思源宋体" panose="02020400000000000000" pitchFamily="18" charset="-122"/>
                <a:ea typeface="思源宋体" panose="02020400000000000000" pitchFamily="18" charset="-122"/>
                <a:sym typeface="微软雅黑"/>
              </a:rPr>
              <a:t>的快速思考，利用经验池形成初始判断。</a:t>
            </a:r>
          </a:p>
          <a:p>
            <a:pPr marL="285750" indent="-285750">
              <a:lnSpc>
                <a:spcPct val="150000"/>
              </a:lnSpc>
              <a:buFont typeface="Wingdings" panose="05000000000000000000" pitchFamily="2" charset="2"/>
              <a:buChar char="Ø"/>
            </a:pPr>
            <a:r>
              <a:rPr lang="zh-CN" altLang="en-US" sz="1600" dirty="0">
                <a:solidFill>
                  <a:schemeClr val="dk1"/>
                </a:solidFill>
                <a:latin typeface="思源宋体" panose="02020400000000000000" pitchFamily="18" charset="-122"/>
                <a:ea typeface="思源宋体" panose="02020400000000000000" pitchFamily="18" charset="-122"/>
                <a:sym typeface="微软雅黑"/>
              </a:rPr>
              <a:t>深思熟虑的反思推理</a:t>
            </a:r>
            <a:r>
              <a:rPr lang="en-US" altLang="zh-CN" sz="1600" dirty="0">
                <a:solidFill>
                  <a:schemeClr val="dk1"/>
                </a:solidFill>
                <a:latin typeface="思源宋体" panose="02020400000000000000" pitchFamily="18" charset="-122"/>
                <a:ea typeface="思源宋体" panose="02020400000000000000" pitchFamily="18" charset="-122"/>
                <a:sym typeface="微软雅黑"/>
              </a:rPr>
              <a:t>: </a:t>
            </a:r>
            <a:r>
              <a:rPr lang="zh-CN" altLang="en-US" sz="1600" dirty="0">
                <a:solidFill>
                  <a:schemeClr val="dk1"/>
                </a:solidFill>
                <a:latin typeface="思源宋体" panose="02020400000000000000" pitchFamily="18" charset="-122"/>
                <a:ea typeface="思源宋体" panose="02020400000000000000" pitchFamily="18" charset="-122"/>
                <a:sym typeface="微软雅黑"/>
              </a:rPr>
              <a:t>模拟</a:t>
            </a:r>
            <a:r>
              <a:rPr lang="en-US" altLang="zh-CN" sz="1600" dirty="0">
                <a:solidFill>
                  <a:schemeClr val="dk1"/>
                </a:solidFill>
                <a:latin typeface="思源宋体" panose="02020400000000000000" pitchFamily="18" charset="-122"/>
                <a:ea typeface="思源宋体" panose="02020400000000000000" pitchFamily="18" charset="-122"/>
                <a:sym typeface="微软雅黑"/>
              </a:rPr>
              <a:t>"</a:t>
            </a:r>
            <a:r>
              <a:rPr lang="zh-CN" altLang="en-US" sz="1600" dirty="0">
                <a:solidFill>
                  <a:schemeClr val="dk1"/>
                </a:solidFill>
                <a:latin typeface="思源宋体" panose="02020400000000000000" pitchFamily="18" charset="-122"/>
                <a:ea typeface="思源宋体" panose="02020400000000000000" pitchFamily="18" charset="-122"/>
                <a:sym typeface="微软雅黑"/>
              </a:rPr>
              <a:t>系统</a:t>
            </a:r>
            <a:r>
              <a:rPr lang="en-US" altLang="zh-CN" sz="1600" dirty="0">
                <a:solidFill>
                  <a:schemeClr val="dk1"/>
                </a:solidFill>
                <a:latin typeface="思源宋体" panose="02020400000000000000" pitchFamily="18" charset="-122"/>
                <a:ea typeface="思源宋体" panose="02020400000000000000" pitchFamily="18" charset="-122"/>
                <a:sym typeface="微软雅黑"/>
              </a:rPr>
              <a:t>2"</a:t>
            </a:r>
            <a:r>
              <a:rPr lang="zh-CN" altLang="en-US" sz="1600" dirty="0">
                <a:solidFill>
                  <a:schemeClr val="dk1"/>
                </a:solidFill>
                <a:latin typeface="思源宋体" panose="02020400000000000000" pitchFamily="18" charset="-122"/>
                <a:ea typeface="思源宋体" panose="02020400000000000000" pitchFamily="18" charset="-122"/>
                <a:sym typeface="微软雅黑"/>
              </a:rPr>
              <a:t>的慢速思考，对初始判断进行批判性审查和优化。</a:t>
            </a:r>
          </a:p>
        </p:txBody>
      </p:sp>
      <p:sp>
        <p:nvSpPr>
          <p:cNvPr id="26" name="稻壳儿智宇https://www.docer.com/works?userid=328340712">
            <a:extLst>
              <a:ext uri="{FF2B5EF4-FFF2-40B4-BE49-F238E27FC236}">
                <a16:creationId xmlns:a16="http://schemas.microsoft.com/office/drawing/2014/main" id="{9AC2B3B3-5E98-F8BE-5419-C542243891CA}"/>
              </a:ext>
            </a:extLst>
          </p:cNvPr>
          <p:cNvSpPr txBox="1"/>
          <p:nvPr>
            <p:custDataLst>
              <p:tags r:id="rId3"/>
            </p:custDataLst>
          </p:nvPr>
        </p:nvSpPr>
        <p:spPr>
          <a:xfrm>
            <a:off x="540191" y="671663"/>
            <a:ext cx="776286" cy="79638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400" i="1" dirty="0">
                <a:solidFill>
                  <a:schemeClr val="accent2"/>
                </a:solidFill>
                <a:latin typeface="思源宋体" panose="02020400000000000000" pitchFamily="18" charset="-122"/>
                <a:ea typeface="思源宋体" panose="02020400000000000000" pitchFamily="18" charset="-122"/>
                <a:sym typeface="微软雅黑"/>
              </a:rPr>
              <a:t>01</a:t>
            </a:r>
          </a:p>
        </p:txBody>
      </p:sp>
      <p:pic>
        <p:nvPicPr>
          <p:cNvPr id="3" name="图片 2">
            <a:extLst>
              <a:ext uri="{FF2B5EF4-FFF2-40B4-BE49-F238E27FC236}">
                <a16:creationId xmlns:a16="http://schemas.microsoft.com/office/drawing/2014/main" id="{FBA6CF02-CB4A-5425-93A2-C5D5AFA9FA41}"/>
              </a:ext>
            </a:extLst>
          </p:cNvPr>
          <p:cNvPicPr>
            <a:picLocks noChangeAspect="1"/>
          </p:cNvPicPr>
          <p:nvPr/>
        </p:nvPicPr>
        <p:blipFill>
          <a:blip r:embed="rId6"/>
          <a:srcRect l="2607" t="3555" r="3138"/>
          <a:stretch>
            <a:fillRect/>
          </a:stretch>
        </p:blipFill>
        <p:spPr>
          <a:xfrm>
            <a:off x="691837" y="1320263"/>
            <a:ext cx="7352842" cy="3702923"/>
          </a:xfrm>
          <a:prstGeom prst="rect">
            <a:avLst/>
          </a:prstGeom>
        </p:spPr>
      </p:pic>
    </p:spTree>
    <p:extLst>
      <p:ext uri="{BB962C8B-B14F-4D97-AF65-F5344CB8AC3E}">
        <p14:creationId xmlns:p14="http://schemas.microsoft.com/office/powerpoint/2010/main" val="2651199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43526-7347-B1F7-41E2-0090941B9E82}"/>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7AA7FE2C-EAA9-D5C8-5A5C-7562B714D5C1}"/>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03.</a:t>
            </a:r>
            <a:r>
              <a:rPr lang="zh-CN" altLang="en-US" dirty="0">
                <a:latin typeface="思源宋体" panose="02020400000000000000" pitchFamily="18" charset="-122"/>
                <a:ea typeface="思源宋体" panose="02020400000000000000" pitchFamily="18" charset="-122"/>
                <a:sym typeface="微软雅黑"/>
              </a:rPr>
              <a:t>框架设计</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23" name="稻壳儿智宇https://www.docer.com/works?userid=328340712">
            <a:extLst>
              <a:ext uri="{FF2B5EF4-FFF2-40B4-BE49-F238E27FC236}">
                <a16:creationId xmlns:a16="http://schemas.microsoft.com/office/drawing/2014/main" id="{052E64D9-CD6A-2602-2C80-08E3ED95D10A}"/>
              </a:ext>
            </a:extLst>
          </p:cNvPr>
          <p:cNvSpPr txBox="1"/>
          <p:nvPr>
            <p:custDataLst>
              <p:tags r:id="rId1"/>
            </p:custDataLst>
          </p:nvPr>
        </p:nvSpPr>
        <p:spPr>
          <a:xfrm>
            <a:off x="1484587" y="1052675"/>
            <a:ext cx="1795363" cy="307777"/>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accent1"/>
                </a:solidFill>
                <a:latin typeface="思源宋体" panose="02020400000000000000" pitchFamily="18" charset="-122"/>
                <a:ea typeface="思源宋体" panose="02020400000000000000" pitchFamily="18" charset="-122"/>
                <a:sym typeface="微软雅黑"/>
              </a:rPr>
              <a:t>多模态感知模块</a:t>
            </a:r>
          </a:p>
        </p:txBody>
      </p:sp>
      <p:sp>
        <p:nvSpPr>
          <p:cNvPr id="24" name="稻壳儿智宇https://www.docer.com/works?userid=328340712">
            <a:extLst>
              <a:ext uri="{FF2B5EF4-FFF2-40B4-BE49-F238E27FC236}">
                <a16:creationId xmlns:a16="http://schemas.microsoft.com/office/drawing/2014/main" id="{F2EDF8FF-2C72-6354-FE54-977C0885F7BC}"/>
              </a:ext>
            </a:extLst>
          </p:cNvPr>
          <p:cNvSpPr txBox="1"/>
          <p:nvPr>
            <p:custDataLst>
              <p:tags r:id="rId2"/>
            </p:custDataLst>
          </p:nvPr>
        </p:nvSpPr>
        <p:spPr>
          <a:xfrm>
            <a:off x="691837" y="3267617"/>
            <a:ext cx="9609772" cy="291131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solidFill>
                  <a:schemeClr val="dk1"/>
                </a:solidFill>
                <a:latin typeface="思源宋体" panose="02020400000000000000" pitchFamily="18" charset="-122"/>
                <a:ea typeface="思源宋体" panose="02020400000000000000" pitchFamily="18" charset="-122"/>
                <a:sym typeface="微软雅黑"/>
              </a:rPr>
              <a:t>多模态知识感知模块是整个框架的基石，其目标是最大限度地从原始输入中提取结构化的语义信息，为后续的推理提供高质量的原料。这个过程分为两个并行的分支：</a:t>
            </a:r>
            <a:endParaRPr lang="en-US" altLang="zh-CN" sz="1600" dirty="0">
              <a:solidFill>
                <a:schemeClr val="dk1"/>
              </a:solidFill>
              <a:latin typeface="思源宋体" panose="02020400000000000000" pitchFamily="18" charset="-122"/>
              <a:ea typeface="思源宋体" panose="02020400000000000000" pitchFamily="18" charset="-122"/>
              <a:sym typeface="微软雅黑"/>
            </a:endParaRPr>
          </a:p>
          <a:p>
            <a:pPr marL="285750" indent="-285750">
              <a:lnSpc>
                <a:spcPct val="150000"/>
              </a:lnSpc>
              <a:buFont typeface="Wingdings" panose="05000000000000000000" pitchFamily="2" charset="2"/>
              <a:buChar char="ü"/>
            </a:pPr>
            <a:r>
              <a:rPr lang="zh-CN" altLang="en-US" sz="1600" dirty="0">
                <a:solidFill>
                  <a:schemeClr val="dk1"/>
                </a:solidFill>
                <a:latin typeface="思源宋体" panose="02020400000000000000" pitchFamily="18" charset="-122"/>
                <a:ea typeface="思源宋体" panose="02020400000000000000" pitchFamily="18" charset="-122"/>
                <a:sym typeface="微软雅黑"/>
              </a:rPr>
              <a:t>在文本处理上，首先对输入文本进行命名实体识别，再利用这些实体作为索引，从外部知识库中检索相关的背景知识和详细描述。最后，将原始文本和检索到的背景知识融合，通过大型语言模型提炼成一份精炼的、包含核心信息的“文本知识摘要”。</a:t>
            </a:r>
            <a:endParaRPr lang="en-US" altLang="zh-CN" sz="1600" dirty="0">
              <a:solidFill>
                <a:schemeClr val="dk1"/>
              </a:solidFill>
              <a:latin typeface="思源宋体" panose="02020400000000000000" pitchFamily="18" charset="-122"/>
              <a:ea typeface="思源宋体" panose="02020400000000000000" pitchFamily="18" charset="-122"/>
              <a:sym typeface="微软雅黑"/>
            </a:endParaRPr>
          </a:p>
          <a:p>
            <a:pPr marL="285750" indent="-285750">
              <a:lnSpc>
                <a:spcPct val="150000"/>
              </a:lnSpc>
              <a:buFont typeface="Wingdings" panose="05000000000000000000" pitchFamily="2" charset="2"/>
              <a:buChar char="ü"/>
            </a:pPr>
            <a:r>
              <a:rPr lang="zh-CN" altLang="en-US" sz="1600" dirty="0">
                <a:solidFill>
                  <a:schemeClr val="dk1"/>
                </a:solidFill>
                <a:latin typeface="思源宋体" panose="02020400000000000000" pitchFamily="18" charset="-122"/>
                <a:ea typeface="思源宋体" panose="02020400000000000000" pitchFamily="18" charset="-122"/>
                <a:sym typeface="微软雅黑"/>
              </a:rPr>
              <a:t>在视觉处理上，使用先进的</a:t>
            </a:r>
            <a:r>
              <a:rPr lang="en-US" altLang="zh-CN" sz="1600" dirty="0">
                <a:solidFill>
                  <a:schemeClr val="dk1"/>
                </a:solidFill>
                <a:latin typeface="思源宋体" panose="02020400000000000000" pitchFamily="18" charset="-122"/>
                <a:ea typeface="思源宋体" panose="02020400000000000000" pitchFamily="18" charset="-122"/>
                <a:sym typeface="微软雅黑"/>
              </a:rPr>
              <a:t>VLM</a:t>
            </a:r>
            <a:r>
              <a:rPr lang="zh-CN" altLang="en-US" sz="1600" dirty="0">
                <a:solidFill>
                  <a:schemeClr val="dk1"/>
                </a:solidFill>
                <a:latin typeface="思源宋体" panose="02020400000000000000" pitchFamily="18" charset="-122"/>
                <a:ea typeface="思源宋体" panose="02020400000000000000" pitchFamily="18" charset="-122"/>
                <a:sym typeface="微软雅黑"/>
              </a:rPr>
              <a:t>为图像生成详细的标题，再识别出图像中的所有关键视觉实体，随后和文本处理一样，提取出“图像知识摘要”。此外，还会利用</a:t>
            </a:r>
            <a:r>
              <a:rPr lang="en-US" altLang="zh-CN" sz="1600" dirty="0">
                <a:solidFill>
                  <a:schemeClr val="dk1"/>
                </a:solidFill>
                <a:latin typeface="思源宋体" panose="02020400000000000000" pitchFamily="18" charset="-122"/>
                <a:ea typeface="思源宋体" panose="02020400000000000000" pitchFamily="18" charset="-122"/>
                <a:sym typeface="微软雅黑"/>
              </a:rPr>
              <a:t>SAM</a:t>
            </a:r>
            <a:r>
              <a:rPr lang="zh-CN" altLang="en-US" sz="1600" dirty="0">
                <a:solidFill>
                  <a:schemeClr val="dk1"/>
                </a:solidFill>
                <a:latin typeface="思源宋体" panose="02020400000000000000" pitchFamily="18" charset="-122"/>
                <a:ea typeface="思源宋体" panose="02020400000000000000" pitchFamily="18" charset="-122"/>
                <a:sym typeface="微软雅黑"/>
              </a:rPr>
              <a:t>模型，对识别出的视觉实体进行精确的像素级分割，获取细粒度视觉信号。</a:t>
            </a:r>
          </a:p>
        </p:txBody>
      </p:sp>
      <p:sp>
        <p:nvSpPr>
          <p:cNvPr id="22" name="稻壳儿智宇https://www.docer.com/works?userid=328340712">
            <a:extLst>
              <a:ext uri="{FF2B5EF4-FFF2-40B4-BE49-F238E27FC236}">
                <a16:creationId xmlns:a16="http://schemas.microsoft.com/office/drawing/2014/main" id="{713FE5A2-9602-6FB8-80EC-23EA32D62F39}"/>
              </a:ext>
            </a:extLst>
          </p:cNvPr>
          <p:cNvSpPr txBox="1"/>
          <p:nvPr>
            <p:custDataLst>
              <p:tags r:id="rId3"/>
            </p:custDataLst>
          </p:nvPr>
        </p:nvSpPr>
        <p:spPr>
          <a:xfrm>
            <a:off x="559646" y="732806"/>
            <a:ext cx="813043"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400" i="1" dirty="0">
                <a:solidFill>
                  <a:schemeClr val="accent1"/>
                </a:solidFill>
                <a:latin typeface="思源宋体" panose="02020400000000000000" pitchFamily="18" charset="-122"/>
                <a:ea typeface="思源宋体" panose="02020400000000000000" pitchFamily="18" charset="-122"/>
                <a:sym typeface="微软雅黑"/>
              </a:rPr>
              <a:t>02</a:t>
            </a:r>
          </a:p>
        </p:txBody>
      </p:sp>
      <p:pic>
        <p:nvPicPr>
          <p:cNvPr id="5" name="图片 4">
            <a:extLst>
              <a:ext uri="{FF2B5EF4-FFF2-40B4-BE49-F238E27FC236}">
                <a16:creationId xmlns:a16="http://schemas.microsoft.com/office/drawing/2014/main" id="{6299CCA6-4979-DEF0-E82F-4EEDF34C1469}"/>
              </a:ext>
            </a:extLst>
          </p:cNvPr>
          <p:cNvPicPr>
            <a:picLocks noChangeAspect="1"/>
          </p:cNvPicPr>
          <p:nvPr/>
        </p:nvPicPr>
        <p:blipFill>
          <a:blip r:embed="rId6"/>
          <a:srcRect l="2607" t="3555" r="3138" b="59225"/>
          <a:stretch>
            <a:fillRect/>
          </a:stretch>
        </p:blipFill>
        <p:spPr>
          <a:xfrm>
            <a:off x="559646" y="1502247"/>
            <a:ext cx="8353894" cy="1623575"/>
          </a:xfrm>
          <a:prstGeom prst="rect">
            <a:avLst/>
          </a:prstGeom>
        </p:spPr>
      </p:pic>
    </p:spTree>
    <p:extLst>
      <p:ext uri="{BB962C8B-B14F-4D97-AF65-F5344CB8AC3E}">
        <p14:creationId xmlns:p14="http://schemas.microsoft.com/office/powerpoint/2010/main" val="3317897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68DCD-C0BE-F11C-41AF-2C561490D3DC}"/>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3B79630B-CB04-8437-7C18-5ECD40BB0EC4}"/>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03.</a:t>
            </a:r>
            <a:r>
              <a:rPr lang="zh-CN" altLang="en-US" dirty="0">
                <a:latin typeface="思源宋体" panose="02020400000000000000" pitchFamily="18" charset="-122"/>
                <a:ea typeface="思源宋体" panose="02020400000000000000" pitchFamily="18" charset="-122"/>
                <a:sym typeface="微软雅黑"/>
              </a:rPr>
              <a:t>框架设计</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19" name="稻壳儿智宇https://www.docer.com/works?userid=328340712">
            <a:extLst>
              <a:ext uri="{FF2B5EF4-FFF2-40B4-BE49-F238E27FC236}">
                <a16:creationId xmlns:a16="http://schemas.microsoft.com/office/drawing/2014/main" id="{7AD1D043-71EC-F12A-9F94-F39ED127CA46}"/>
              </a:ext>
            </a:extLst>
          </p:cNvPr>
          <p:cNvSpPr txBox="1"/>
          <p:nvPr>
            <p:custDataLst>
              <p:tags r:id="rId1"/>
            </p:custDataLst>
          </p:nvPr>
        </p:nvSpPr>
        <p:spPr>
          <a:xfrm>
            <a:off x="1564000" y="1006904"/>
            <a:ext cx="2821285" cy="307777"/>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dk1"/>
                </a:solidFill>
                <a:latin typeface="思源宋体" panose="02020400000000000000" pitchFamily="18" charset="-122"/>
                <a:ea typeface="思源宋体" panose="02020400000000000000" pitchFamily="18" charset="-122"/>
                <a:sym typeface="微软雅黑"/>
              </a:rPr>
              <a:t>经验驱动的直觉推理模块</a:t>
            </a:r>
          </a:p>
        </p:txBody>
      </p:sp>
      <p:sp>
        <p:nvSpPr>
          <p:cNvPr id="20" name="稻壳儿智宇https://www.docer.com/works?userid=328340712">
            <a:extLst>
              <a:ext uri="{FF2B5EF4-FFF2-40B4-BE49-F238E27FC236}">
                <a16:creationId xmlns:a16="http://schemas.microsoft.com/office/drawing/2014/main" id="{9A7F8A22-7966-8E8B-C66A-B32F0E2027B1}"/>
              </a:ext>
            </a:extLst>
          </p:cNvPr>
          <p:cNvSpPr txBox="1"/>
          <p:nvPr>
            <p:custDataLst>
              <p:tags r:id="rId2"/>
            </p:custDataLst>
          </p:nvPr>
        </p:nvSpPr>
        <p:spPr>
          <a:xfrm>
            <a:off x="691837" y="3752408"/>
            <a:ext cx="9868213" cy="291131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latin typeface="思源宋体" panose="02020400000000000000" pitchFamily="18" charset="-122"/>
                <a:ea typeface="思源宋体" panose="02020400000000000000" pitchFamily="18" charset="-122"/>
              </a:rPr>
              <a:t>经验驱动的直觉推理模块旨在模拟人类基于经验的“系统</a:t>
            </a:r>
            <a:r>
              <a:rPr lang="en-US" altLang="zh-CN" sz="1600" dirty="0">
                <a:latin typeface="思源宋体" panose="02020400000000000000" pitchFamily="18" charset="-122"/>
                <a:ea typeface="思源宋体" panose="02020400000000000000" pitchFamily="18" charset="-122"/>
              </a:rPr>
              <a:t>1”</a:t>
            </a:r>
            <a:r>
              <a:rPr lang="zh-CN" altLang="en-US" sz="1600" dirty="0">
                <a:latin typeface="思源宋体" panose="02020400000000000000" pitchFamily="18" charset="-122"/>
                <a:ea typeface="思源宋体" panose="02020400000000000000" pitchFamily="18" charset="-122"/>
              </a:rPr>
              <a:t>快速反应。此阶段的核心是利用历史经验，迅速对当前的多模态信息形成一个初步的判断。</a:t>
            </a:r>
            <a:endParaRPr lang="en-US" altLang="zh-CN" sz="1600" dirty="0">
              <a:latin typeface="思源宋体" panose="02020400000000000000" pitchFamily="18" charset="-122"/>
              <a:ea typeface="思源宋体" panose="02020400000000000000" pitchFamily="18" charset="-122"/>
            </a:endParaRPr>
          </a:p>
          <a:p>
            <a:pPr marL="285750" indent="-285750">
              <a:lnSpc>
                <a:spcPct val="150000"/>
              </a:lnSpc>
              <a:buFont typeface="Wingdings" panose="05000000000000000000" pitchFamily="2" charset="2"/>
              <a:buChar char="ü"/>
            </a:pPr>
            <a:r>
              <a:rPr lang="zh-CN" altLang="en-US" sz="1600" dirty="0">
                <a:latin typeface="思源宋体" panose="02020400000000000000" pitchFamily="18" charset="-122"/>
                <a:ea typeface="思源宋体" panose="02020400000000000000" pitchFamily="18" charset="-122"/>
              </a:rPr>
              <a:t>两个核心的经验池：模态经验池：存储了关于“如何权衡不同模态”的经验；语义经验池：存储了关于“如何理解特定语义”的经验。</a:t>
            </a:r>
            <a:endParaRPr lang="en-US" altLang="zh-CN" sz="1600" dirty="0">
              <a:latin typeface="思源宋体" panose="02020400000000000000" pitchFamily="18" charset="-122"/>
              <a:ea typeface="思源宋体" panose="02020400000000000000" pitchFamily="18" charset="-122"/>
            </a:endParaRPr>
          </a:p>
          <a:p>
            <a:pPr marL="285750" indent="-285750">
              <a:lnSpc>
                <a:spcPct val="150000"/>
              </a:lnSpc>
              <a:buFont typeface="Wingdings" panose="05000000000000000000" pitchFamily="2" charset="2"/>
              <a:buChar char="ü"/>
            </a:pPr>
            <a:r>
              <a:rPr lang="zh-CN" altLang="en-US" sz="1600" dirty="0">
                <a:latin typeface="思源宋体" panose="02020400000000000000" pitchFamily="18" charset="-122"/>
                <a:ea typeface="思源宋体" panose="02020400000000000000" pitchFamily="18" charset="-122"/>
              </a:rPr>
              <a:t>当接收到新的图文输入时，会进行模态协同检索，即获取文本和图像的加权向量嵌入，从两个经验池中检索最相关的历史经验片段。</a:t>
            </a:r>
            <a:endParaRPr lang="en-US" altLang="zh-CN" sz="1600" dirty="0">
              <a:latin typeface="思源宋体" panose="02020400000000000000" pitchFamily="18" charset="-122"/>
              <a:ea typeface="思源宋体" panose="02020400000000000000" pitchFamily="18" charset="-122"/>
            </a:endParaRPr>
          </a:p>
          <a:p>
            <a:pPr marL="285750" indent="-285750">
              <a:lnSpc>
                <a:spcPct val="150000"/>
              </a:lnSpc>
              <a:buFont typeface="Wingdings" panose="05000000000000000000" pitchFamily="2" charset="2"/>
              <a:buChar char="ü"/>
            </a:pPr>
            <a:r>
              <a:rPr lang="zh-CN" altLang="en-US" sz="1600" dirty="0">
                <a:latin typeface="思源宋体" panose="02020400000000000000" pitchFamily="18" charset="-122"/>
                <a:ea typeface="思源宋体" panose="02020400000000000000" pitchFamily="18" charset="-122"/>
              </a:rPr>
              <a:t>智能体最后将当前感知到的知识（来自多模态感知模块）与检索到的经验（来自经验池）相结合，并被要求从三个独立的角度进行快速评估，生成包含预测和理由的“初始假设”，并将其传递给模块三进行深入反思。</a:t>
            </a:r>
            <a:endParaRPr lang="zh-CN" altLang="en-US" sz="1600" dirty="0">
              <a:solidFill>
                <a:schemeClr val="dk1"/>
              </a:solidFill>
              <a:latin typeface="思源宋体" panose="02020400000000000000" pitchFamily="18" charset="-122"/>
              <a:ea typeface="思源宋体" panose="02020400000000000000" pitchFamily="18" charset="-122"/>
              <a:sym typeface="微软雅黑"/>
            </a:endParaRPr>
          </a:p>
        </p:txBody>
      </p:sp>
      <p:sp>
        <p:nvSpPr>
          <p:cNvPr id="18" name="稻壳儿智宇https://www.docer.com/works?userid=328340712">
            <a:extLst>
              <a:ext uri="{FF2B5EF4-FFF2-40B4-BE49-F238E27FC236}">
                <a16:creationId xmlns:a16="http://schemas.microsoft.com/office/drawing/2014/main" id="{1A9DD918-F915-1324-BFC6-057F85D0D035}"/>
              </a:ext>
            </a:extLst>
          </p:cNvPr>
          <p:cNvSpPr txBox="1"/>
          <p:nvPr>
            <p:custDataLst>
              <p:tags r:id="rId3"/>
            </p:custDataLst>
          </p:nvPr>
        </p:nvSpPr>
        <p:spPr>
          <a:xfrm>
            <a:off x="598557" y="689626"/>
            <a:ext cx="813043"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400" i="1" dirty="0">
                <a:solidFill>
                  <a:schemeClr val="accent2"/>
                </a:solidFill>
                <a:latin typeface="思源宋体" panose="02020400000000000000" pitchFamily="18" charset="-122"/>
                <a:ea typeface="思源宋体" panose="02020400000000000000" pitchFamily="18" charset="-122"/>
                <a:sym typeface="微软雅黑"/>
              </a:rPr>
              <a:t>03</a:t>
            </a:r>
          </a:p>
        </p:txBody>
      </p:sp>
      <p:pic>
        <p:nvPicPr>
          <p:cNvPr id="5" name="图片 4">
            <a:extLst>
              <a:ext uri="{FF2B5EF4-FFF2-40B4-BE49-F238E27FC236}">
                <a16:creationId xmlns:a16="http://schemas.microsoft.com/office/drawing/2014/main" id="{78EB68CC-52CE-1C26-3E2C-B59A8FDDBA77}"/>
              </a:ext>
            </a:extLst>
          </p:cNvPr>
          <p:cNvPicPr>
            <a:picLocks noChangeAspect="1"/>
          </p:cNvPicPr>
          <p:nvPr/>
        </p:nvPicPr>
        <p:blipFill>
          <a:blip r:embed="rId7"/>
          <a:srcRect l="3477" t="40804" r="61228" b="754"/>
          <a:stretch>
            <a:fillRect/>
          </a:stretch>
        </p:blipFill>
        <p:spPr>
          <a:xfrm>
            <a:off x="691837" y="1459067"/>
            <a:ext cx="2753382" cy="2243847"/>
          </a:xfrm>
          <a:prstGeom prst="rect">
            <a:avLst/>
          </a:prstGeom>
        </p:spPr>
      </p:pic>
      <p:pic>
        <p:nvPicPr>
          <p:cNvPr id="2" name="图片 1">
            <a:extLst>
              <a:ext uri="{FF2B5EF4-FFF2-40B4-BE49-F238E27FC236}">
                <a16:creationId xmlns:a16="http://schemas.microsoft.com/office/drawing/2014/main" id="{FB3BF0AA-1440-4FC6-29D3-25C258BFAAE0}"/>
              </a:ext>
            </a:extLst>
          </p:cNvPr>
          <p:cNvPicPr>
            <a:picLocks noChangeAspect="1"/>
          </p:cNvPicPr>
          <p:nvPr/>
        </p:nvPicPr>
        <p:blipFill>
          <a:blip r:embed="rId7"/>
          <a:srcRect l="82980" t="40532" r="3138"/>
          <a:stretch>
            <a:fillRect/>
          </a:stretch>
        </p:blipFill>
        <p:spPr>
          <a:xfrm>
            <a:off x="4446374" y="1419686"/>
            <a:ext cx="1082918" cy="2283228"/>
          </a:xfrm>
          <a:prstGeom prst="rect">
            <a:avLst/>
          </a:prstGeom>
        </p:spPr>
      </p:pic>
      <p:sp>
        <p:nvSpPr>
          <p:cNvPr id="6" name="稻壳儿智宇https://www.docer.com/works?userid=328340712">
            <a:extLst>
              <a:ext uri="{FF2B5EF4-FFF2-40B4-BE49-F238E27FC236}">
                <a16:creationId xmlns:a16="http://schemas.microsoft.com/office/drawing/2014/main" id="{AB8BF8C4-54D4-E738-6672-112F74E2B4DA}"/>
              </a:ext>
            </a:extLst>
          </p:cNvPr>
          <p:cNvSpPr txBox="1"/>
          <p:nvPr>
            <p:custDataLst>
              <p:tags r:id="rId4"/>
            </p:custDataLst>
          </p:nvPr>
        </p:nvSpPr>
        <p:spPr>
          <a:xfrm>
            <a:off x="3562571" y="2446168"/>
            <a:ext cx="766450" cy="289053"/>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pPr>
            <a:r>
              <a:rPr lang="en-US" altLang="zh-CN" sz="1600" dirty="0">
                <a:solidFill>
                  <a:schemeClr val="dk1"/>
                </a:solidFill>
                <a:latin typeface="思源宋体" panose="02020400000000000000" pitchFamily="18" charset="-122"/>
                <a:ea typeface="思源宋体" panose="02020400000000000000" pitchFamily="18" charset="-122"/>
                <a:sym typeface="微软雅黑"/>
              </a:rPr>
              <a:t>……</a:t>
            </a:r>
            <a:endParaRPr lang="zh-CN" altLang="en-US" sz="1600" dirty="0">
              <a:solidFill>
                <a:schemeClr val="dk1"/>
              </a:solidFill>
              <a:latin typeface="思源宋体" panose="02020400000000000000" pitchFamily="18" charset="-122"/>
              <a:ea typeface="思源宋体" panose="02020400000000000000" pitchFamily="18" charset="-122"/>
              <a:sym typeface="微软雅黑"/>
            </a:endParaRPr>
          </a:p>
        </p:txBody>
      </p:sp>
    </p:spTree>
    <p:extLst>
      <p:ext uri="{BB962C8B-B14F-4D97-AF65-F5344CB8AC3E}">
        <p14:creationId xmlns:p14="http://schemas.microsoft.com/office/powerpoint/2010/main" val="2387246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84E78-BD0D-6019-2A58-1C2A30E8D4E9}"/>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40BD6B07-3BB2-6F54-7C87-76AEEDA5E279}"/>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03.</a:t>
            </a:r>
            <a:r>
              <a:rPr lang="zh-CN" altLang="en-US" dirty="0">
                <a:latin typeface="思源宋体" panose="02020400000000000000" pitchFamily="18" charset="-122"/>
                <a:ea typeface="思源宋体" panose="02020400000000000000" pitchFamily="18" charset="-122"/>
                <a:sym typeface="微软雅黑"/>
              </a:rPr>
              <a:t>框架设计</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sp>
        <p:nvSpPr>
          <p:cNvPr id="20" name="稻壳儿智宇https://www.docer.com/works?userid=328340712">
            <a:extLst>
              <a:ext uri="{FF2B5EF4-FFF2-40B4-BE49-F238E27FC236}">
                <a16:creationId xmlns:a16="http://schemas.microsoft.com/office/drawing/2014/main" id="{D72B8A51-46DD-8699-697D-90388A1D1128}"/>
              </a:ext>
            </a:extLst>
          </p:cNvPr>
          <p:cNvSpPr txBox="1"/>
          <p:nvPr>
            <p:custDataLst>
              <p:tags r:id="rId1"/>
            </p:custDataLst>
          </p:nvPr>
        </p:nvSpPr>
        <p:spPr>
          <a:xfrm>
            <a:off x="691837" y="3794223"/>
            <a:ext cx="9609772" cy="291131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latin typeface="思源宋体" panose="02020400000000000000" pitchFamily="18" charset="-122"/>
                <a:ea typeface="思源宋体" panose="02020400000000000000" pitchFamily="18" charset="-122"/>
              </a:rPr>
              <a:t>深思熟虑的反思推理模块是模拟“系统</a:t>
            </a:r>
            <a:r>
              <a:rPr lang="en-US" altLang="zh-CN" sz="1600" dirty="0">
                <a:latin typeface="思源宋体" panose="02020400000000000000" pitchFamily="18" charset="-122"/>
                <a:ea typeface="思源宋体" panose="02020400000000000000" pitchFamily="18" charset="-122"/>
              </a:rPr>
              <a:t>2”</a:t>
            </a:r>
            <a:r>
              <a:rPr lang="zh-CN" altLang="en-US" sz="1600" dirty="0">
                <a:latin typeface="思源宋体" panose="02020400000000000000" pitchFamily="18" charset="-122"/>
                <a:ea typeface="思源宋体" panose="02020400000000000000" pitchFamily="18" charset="-122"/>
              </a:rPr>
              <a:t>的关键，它负责对“系统</a:t>
            </a:r>
            <a:r>
              <a:rPr lang="en-US" altLang="zh-CN" sz="1600" dirty="0">
                <a:latin typeface="思源宋体" panose="02020400000000000000" pitchFamily="18" charset="-122"/>
                <a:ea typeface="思源宋体" panose="02020400000000000000" pitchFamily="18" charset="-122"/>
              </a:rPr>
              <a:t>1”</a:t>
            </a:r>
            <a:r>
              <a:rPr lang="zh-CN" altLang="en-US" sz="1600" dirty="0">
                <a:latin typeface="思源宋体" panose="02020400000000000000" pitchFamily="18" charset="-122"/>
                <a:ea typeface="思源宋体" panose="02020400000000000000" pitchFamily="18" charset="-122"/>
              </a:rPr>
              <a:t> 提出的直觉假设进行批判性的审查、验证和优化。这一过程通过两种思维链反思机制来实现：</a:t>
            </a:r>
            <a:endParaRPr lang="en-US" altLang="zh-CN" sz="1600" dirty="0">
              <a:latin typeface="思源宋体" panose="02020400000000000000" pitchFamily="18" charset="-122"/>
              <a:ea typeface="思源宋体" panose="02020400000000000000" pitchFamily="18" charset="-122"/>
            </a:endParaRPr>
          </a:p>
          <a:p>
            <a:pPr marL="285750" indent="-285750">
              <a:lnSpc>
                <a:spcPct val="150000"/>
              </a:lnSpc>
              <a:buFont typeface="Wingdings" panose="05000000000000000000" pitchFamily="2" charset="2"/>
              <a:buChar char="ü"/>
            </a:pPr>
            <a:r>
              <a:rPr lang="zh-CN" altLang="en-US" sz="1600" dirty="0">
                <a:latin typeface="思源宋体" panose="02020400000000000000" pitchFamily="18" charset="-122"/>
                <a:ea typeface="思源宋体" panose="02020400000000000000" pitchFamily="18" charset="-122"/>
              </a:rPr>
              <a:t>模态思维链：评估不同模态在形成初始判断时的贡献和可靠性。智能体反思获得的新见解随后被用来更新模态经验池 。</a:t>
            </a:r>
            <a:endParaRPr lang="en-US" altLang="zh-CN" sz="1600" dirty="0">
              <a:latin typeface="思源宋体" panose="02020400000000000000" pitchFamily="18" charset="-122"/>
              <a:ea typeface="思源宋体" panose="02020400000000000000" pitchFamily="18" charset="-122"/>
            </a:endParaRPr>
          </a:p>
          <a:p>
            <a:pPr marL="285750" indent="-285750">
              <a:lnSpc>
                <a:spcPct val="150000"/>
              </a:lnSpc>
              <a:buFont typeface="Wingdings" panose="05000000000000000000" pitchFamily="2" charset="2"/>
              <a:buChar char="ü"/>
            </a:pPr>
            <a:r>
              <a:rPr lang="zh-CN" altLang="en-US" sz="1600" dirty="0">
                <a:latin typeface="思源宋体" panose="02020400000000000000" pitchFamily="18" charset="-122"/>
                <a:ea typeface="思源宋体" panose="02020400000000000000" pitchFamily="18" charset="-122"/>
              </a:rPr>
              <a:t>语义思维链：深入挖掘图文之间的复杂语义关系和上下文逻辑。智能体的反思会提炼出对特定“语义模式”的深刻理解，并用来更新语义经验池 。</a:t>
            </a:r>
            <a:endParaRPr lang="en-US" altLang="zh-CN" sz="1600" dirty="0">
              <a:latin typeface="思源宋体" panose="02020400000000000000" pitchFamily="18" charset="-122"/>
              <a:ea typeface="思源宋体" panose="02020400000000000000" pitchFamily="18" charset="-122"/>
            </a:endParaRPr>
          </a:p>
          <a:p>
            <a:pPr>
              <a:lnSpc>
                <a:spcPct val="150000"/>
              </a:lnSpc>
            </a:pPr>
            <a:r>
              <a:rPr lang="zh-CN" altLang="en-US" sz="1600" dirty="0">
                <a:latin typeface="思源宋体" panose="02020400000000000000" pitchFamily="18" charset="-122"/>
                <a:ea typeface="思源宋体" panose="02020400000000000000" pitchFamily="18" charset="-122"/>
              </a:rPr>
              <a:t>通过这两个思维链过程，系统不仅得出了一个经过深思熟虑的最终结论，更重要的是，它将反思中学到的经验反哺回经验池，形成了一个持续学习和自我优化的闭环。</a:t>
            </a:r>
            <a:endParaRPr lang="zh-CN" altLang="en-US" sz="1600" dirty="0">
              <a:solidFill>
                <a:schemeClr val="dk1"/>
              </a:solidFill>
              <a:latin typeface="思源宋体" panose="02020400000000000000" pitchFamily="18" charset="-122"/>
              <a:ea typeface="思源宋体" panose="02020400000000000000" pitchFamily="18" charset="-122"/>
              <a:sym typeface="微软雅黑"/>
            </a:endParaRPr>
          </a:p>
        </p:txBody>
      </p:sp>
      <p:pic>
        <p:nvPicPr>
          <p:cNvPr id="3" name="图片 2">
            <a:extLst>
              <a:ext uri="{FF2B5EF4-FFF2-40B4-BE49-F238E27FC236}">
                <a16:creationId xmlns:a16="http://schemas.microsoft.com/office/drawing/2014/main" id="{440ED2C0-730B-C396-89C0-A1CB85CB8FB6}"/>
              </a:ext>
            </a:extLst>
          </p:cNvPr>
          <p:cNvPicPr>
            <a:picLocks noChangeAspect="1"/>
          </p:cNvPicPr>
          <p:nvPr/>
        </p:nvPicPr>
        <p:blipFill>
          <a:blip r:embed="rId6"/>
          <a:srcRect l="39084" t="40439" r="3138" b="-1585"/>
          <a:stretch>
            <a:fillRect/>
          </a:stretch>
        </p:blipFill>
        <p:spPr>
          <a:xfrm>
            <a:off x="691837" y="1446615"/>
            <a:ext cx="4507259" cy="2347608"/>
          </a:xfrm>
          <a:prstGeom prst="rect">
            <a:avLst/>
          </a:prstGeom>
        </p:spPr>
      </p:pic>
      <p:sp>
        <p:nvSpPr>
          <p:cNvPr id="2" name="稻壳儿智宇https://www.docer.com/works?userid=328340712">
            <a:extLst>
              <a:ext uri="{FF2B5EF4-FFF2-40B4-BE49-F238E27FC236}">
                <a16:creationId xmlns:a16="http://schemas.microsoft.com/office/drawing/2014/main" id="{31750AF7-4C3A-DA08-C8B6-62F998F794A4}"/>
              </a:ext>
            </a:extLst>
          </p:cNvPr>
          <p:cNvSpPr txBox="1"/>
          <p:nvPr>
            <p:custDataLst>
              <p:tags r:id="rId2"/>
            </p:custDataLst>
          </p:nvPr>
        </p:nvSpPr>
        <p:spPr>
          <a:xfrm>
            <a:off x="1497557" y="983195"/>
            <a:ext cx="2821285" cy="307777"/>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dk1"/>
                </a:solidFill>
                <a:latin typeface="思源宋体" panose="02020400000000000000" pitchFamily="18" charset="-122"/>
                <a:ea typeface="思源宋体" panose="02020400000000000000" pitchFamily="18" charset="-122"/>
                <a:sym typeface="微软雅黑"/>
              </a:rPr>
              <a:t>深思熟虑的反思推理模块</a:t>
            </a:r>
          </a:p>
        </p:txBody>
      </p:sp>
      <p:sp>
        <p:nvSpPr>
          <p:cNvPr id="6" name="稻壳儿智宇https://www.docer.com/works?userid=328340712">
            <a:extLst>
              <a:ext uri="{FF2B5EF4-FFF2-40B4-BE49-F238E27FC236}">
                <a16:creationId xmlns:a16="http://schemas.microsoft.com/office/drawing/2014/main" id="{B3E36A4B-855D-293C-9C68-C766DBCE78BE}"/>
              </a:ext>
            </a:extLst>
          </p:cNvPr>
          <p:cNvSpPr txBox="1"/>
          <p:nvPr>
            <p:custDataLst>
              <p:tags r:id="rId3"/>
            </p:custDataLst>
          </p:nvPr>
        </p:nvSpPr>
        <p:spPr>
          <a:xfrm>
            <a:off x="559646" y="677174"/>
            <a:ext cx="811441"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4400" i="1" dirty="0">
                <a:solidFill>
                  <a:schemeClr val="accent2"/>
                </a:solidFill>
                <a:latin typeface="思源宋体" panose="02020400000000000000" pitchFamily="18" charset="-122"/>
                <a:ea typeface="思源宋体" panose="02020400000000000000" pitchFamily="18" charset="-122"/>
                <a:sym typeface="微软雅黑"/>
              </a:rPr>
              <a:t>04</a:t>
            </a:r>
          </a:p>
        </p:txBody>
      </p:sp>
    </p:spTree>
    <p:extLst>
      <p:ext uri="{BB962C8B-B14F-4D97-AF65-F5344CB8AC3E}">
        <p14:creationId xmlns:p14="http://schemas.microsoft.com/office/powerpoint/2010/main" val="2411902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4CF14-40BC-CEC6-6729-EC10483A0347}"/>
            </a:ext>
          </a:extLst>
        </p:cNvPr>
        <p:cNvGrpSpPr/>
        <p:nvPr/>
      </p:nvGrpSpPr>
      <p:grpSpPr>
        <a:xfrm>
          <a:off x="0" y="0"/>
          <a:ext cx="0" cy="0"/>
          <a:chOff x="0" y="0"/>
          <a:chExt cx="0" cy="0"/>
        </a:xfrm>
      </p:grpSpPr>
      <p:sp>
        <p:nvSpPr>
          <p:cNvPr id="16" name="稻壳儿智宇https://www.docer.com/works?userid=328340712">
            <a:extLst>
              <a:ext uri="{FF2B5EF4-FFF2-40B4-BE49-F238E27FC236}">
                <a16:creationId xmlns:a16="http://schemas.microsoft.com/office/drawing/2014/main" id="{FAF3FF05-0E2B-8D81-E64E-ABC9AC59CB05}"/>
              </a:ext>
            </a:extLst>
          </p:cNvPr>
          <p:cNvSpPr>
            <a:spLocks noGrp="1"/>
          </p:cNvSpPr>
          <p:nvPr>
            <p:ph type="body" sz="quarter" idx="10"/>
            <p:custDataLst>
              <p:tags r:id="rId1"/>
            </p:custDataLst>
          </p:nvPr>
        </p:nvSpPr>
        <p:spPr>
          <a:custGeom>
            <a:avLst/>
            <a:gdLst>
              <a:gd name="connsiteX0" fmla="*/ 0 w 65"/>
              <a:gd name="connsiteY0" fmla="*/ 0 h 276999"/>
              <a:gd name="connsiteX1" fmla="*/ 65 w 65"/>
              <a:gd name="connsiteY1" fmla="*/ 0 h 276999"/>
              <a:gd name="connsiteX2" fmla="*/ 65 w 65"/>
              <a:gd name="connsiteY2" fmla="*/ 276999 h 276999"/>
              <a:gd name="connsiteX3" fmla="*/ 0 w 65"/>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65" h="276999">
                <a:moveTo>
                  <a:pt x="0" y="0"/>
                </a:moveTo>
                <a:lnTo>
                  <a:pt x="65" y="0"/>
                </a:lnTo>
                <a:lnTo>
                  <a:pt x="65" y="276999"/>
                </a:lnTo>
                <a:lnTo>
                  <a:pt x="0" y="276999"/>
                </a:lnTo>
                <a:close/>
              </a:path>
            </a:pathLst>
          </a:custGeom>
        </p:spPr>
        <p:txBody>
          <a:bodyPr/>
          <a:lstStyle/>
          <a:p>
            <a:r>
              <a:rPr lang="en-US" altLang="zh-CN" dirty="0">
                <a:solidFill>
                  <a:schemeClr val="dk1"/>
                </a:solidFill>
                <a:latin typeface="思源宋体" panose="02020400000000000000" pitchFamily="18" charset="-122"/>
                <a:ea typeface="思源宋体" panose="02020400000000000000" pitchFamily="18" charset="-122"/>
                <a:sym typeface="微软雅黑"/>
              </a:rPr>
              <a:t>04</a:t>
            </a:r>
          </a:p>
        </p:txBody>
      </p:sp>
      <p:sp>
        <p:nvSpPr>
          <p:cNvPr id="19" name="稻壳儿智宇https://www.docer.com/works?userid=328340712">
            <a:extLst>
              <a:ext uri="{FF2B5EF4-FFF2-40B4-BE49-F238E27FC236}">
                <a16:creationId xmlns:a16="http://schemas.microsoft.com/office/drawing/2014/main" id="{EE62CFD4-70E3-2ECD-AA19-31F17588C8E4}"/>
              </a:ext>
            </a:extLst>
          </p:cNvPr>
          <p:cNvSpPr>
            <a:spLocks noGrp="1"/>
          </p:cNvSpPr>
          <p:nvPr>
            <p:ph type="body" sz="quarter" idx="12"/>
          </p:nvPr>
        </p:nvSpPr>
        <p:spPr>
          <a:xfrm>
            <a:off x="2608162" y="2967335"/>
            <a:ext cx="6975676" cy="923330"/>
          </a:xfrm>
          <a:prstGeom prst="rect">
            <a:avLst/>
          </a:prstGeom>
        </p:spPr>
        <p:txBody>
          <a:bodyPr/>
          <a:lstStyle/>
          <a:p>
            <a:r>
              <a:rPr lang="zh-CN" altLang="en-US" dirty="0">
                <a:solidFill>
                  <a:schemeClr val="lt1"/>
                </a:solidFill>
                <a:latin typeface="思源宋体" panose="02020400000000000000" pitchFamily="18" charset="-122"/>
                <a:ea typeface="思源宋体" panose="02020400000000000000" pitchFamily="18" charset="-122"/>
                <a:sym typeface="微软雅黑"/>
              </a:rPr>
              <a:t>实验结果</a:t>
            </a:r>
          </a:p>
        </p:txBody>
      </p:sp>
      <p:sp>
        <p:nvSpPr>
          <p:cNvPr id="17" name="稻壳儿智宇https://www.docer.com/works?userid=328340712">
            <a:extLst>
              <a:ext uri="{FF2B5EF4-FFF2-40B4-BE49-F238E27FC236}">
                <a16:creationId xmlns:a16="http://schemas.microsoft.com/office/drawing/2014/main" id="{8C35AAB3-87C9-967A-F242-C88CB3353167}"/>
              </a:ext>
            </a:extLst>
          </p:cNvPr>
          <p:cNvSpPr>
            <a:spLocks noGrp="1"/>
          </p:cNvSpPr>
          <p:nvPr>
            <p:ph type="body" sz="quarter" idx="14"/>
            <p:custDataLst>
              <p:tags r:id="rId2"/>
            </p:custDataLst>
          </p:nvPr>
        </p:nvSpPr>
        <p:spPr>
          <a:custGeom>
            <a:avLst/>
            <a:gdLst>
              <a:gd name="connsiteX0" fmla="*/ 0 w 2059940"/>
              <a:gd name="connsiteY0" fmla="*/ 0 h 276999"/>
              <a:gd name="connsiteX1" fmla="*/ 2059940 w 2059940"/>
              <a:gd name="connsiteY1" fmla="*/ 0 h 276999"/>
              <a:gd name="connsiteX2" fmla="*/ 2059940 w 2059940"/>
              <a:gd name="connsiteY2" fmla="*/ 276999 h 276999"/>
              <a:gd name="connsiteX3" fmla="*/ 0 w 2059940"/>
              <a:gd name="connsiteY3" fmla="*/ 276999 h 276999"/>
            </a:gdLst>
            <a:ahLst/>
            <a:cxnLst>
              <a:cxn ang="0">
                <a:pos x="connsiteX0" y="connsiteY0"/>
              </a:cxn>
              <a:cxn ang="0">
                <a:pos x="connsiteX1" y="connsiteY1"/>
              </a:cxn>
              <a:cxn ang="0">
                <a:pos x="connsiteX2" y="connsiteY2"/>
              </a:cxn>
              <a:cxn ang="0">
                <a:pos x="connsiteX3" y="connsiteY3"/>
              </a:cxn>
            </a:cxnLst>
            <a:rect l="l" t="t" r="r" b="b"/>
            <a:pathLst>
              <a:path w="2059940" h="276999">
                <a:moveTo>
                  <a:pt x="0" y="0"/>
                </a:moveTo>
                <a:lnTo>
                  <a:pt x="2059940" y="0"/>
                </a:lnTo>
                <a:lnTo>
                  <a:pt x="2059940" y="276999"/>
                </a:lnTo>
                <a:lnTo>
                  <a:pt x="0" y="276999"/>
                </a:lnTo>
                <a:close/>
              </a:path>
            </a:pathLst>
          </a:custGeom>
        </p:spPr>
        <p:txBody>
          <a:bodyPr/>
          <a:lstStyle/>
          <a:p>
            <a:r>
              <a:rPr lang="en-US" altLang="zh-CN" dirty="0">
                <a:solidFill>
                  <a:schemeClr val="lt1"/>
                </a:solidFill>
                <a:latin typeface="思源宋体" panose="02020400000000000000" pitchFamily="18" charset="-122"/>
                <a:ea typeface="思源宋体" panose="02020400000000000000" pitchFamily="18" charset="-122"/>
                <a:sym typeface="微软雅黑"/>
              </a:rPr>
              <a:t>Part four</a:t>
            </a:r>
          </a:p>
        </p:txBody>
      </p:sp>
      <p:pic>
        <p:nvPicPr>
          <p:cNvPr id="3" name="图片 2">
            <a:extLst>
              <a:ext uri="{FF2B5EF4-FFF2-40B4-BE49-F238E27FC236}">
                <a16:creationId xmlns:a16="http://schemas.microsoft.com/office/drawing/2014/main" id="{25C4EB10-D826-E506-0F7E-51A376964E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7519" y="5010108"/>
            <a:ext cx="4653788" cy="852602"/>
          </a:xfrm>
          <a:prstGeom prst="rect">
            <a:avLst/>
          </a:prstGeom>
        </p:spPr>
      </p:pic>
    </p:spTree>
    <p:extLst>
      <p:ext uri="{BB962C8B-B14F-4D97-AF65-F5344CB8AC3E}">
        <p14:creationId xmlns:p14="http://schemas.microsoft.com/office/powerpoint/2010/main" val="3259977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0DB6F-574E-D2B6-D3C8-5D9B8B69795D}"/>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311E8D78-0831-7C78-53C5-2A7F499D57C9}"/>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04.</a:t>
            </a:r>
            <a:r>
              <a:rPr lang="zh-CN" altLang="en-US" dirty="0">
                <a:solidFill>
                  <a:schemeClr val="accent1"/>
                </a:solidFill>
                <a:latin typeface="思源宋体" panose="02020400000000000000" pitchFamily="18" charset="-122"/>
                <a:ea typeface="思源宋体" panose="02020400000000000000" pitchFamily="18" charset="-122"/>
                <a:sym typeface="微软雅黑"/>
              </a:rPr>
              <a:t>实验设置</a:t>
            </a:r>
          </a:p>
        </p:txBody>
      </p:sp>
      <p:sp>
        <p:nvSpPr>
          <p:cNvPr id="69" name="稻壳儿智宇https://www.docer.com/works?userid=328340712">
            <a:extLst>
              <a:ext uri="{FF2B5EF4-FFF2-40B4-BE49-F238E27FC236}">
                <a16:creationId xmlns:a16="http://schemas.microsoft.com/office/drawing/2014/main" id="{B57A8A9E-5A1E-08E3-3347-ED18013E3EA7}"/>
              </a:ext>
            </a:extLst>
          </p:cNvPr>
          <p:cNvSpPr txBox="1"/>
          <p:nvPr/>
        </p:nvSpPr>
        <p:spPr>
          <a:xfrm flipH="1">
            <a:off x="480120" y="1141442"/>
            <a:ext cx="4775879" cy="3280642"/>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latin typeface="思源宋体" panose="02020400000000000000" pitchFamily="18" charset="-122"/>
                <a:ea typeface="思源宋体" panose="02020400000000000000" pitchFamily="18" charset="-122"/>
              </a:rPr>
              <a:t>选择使用 </a:t>
            </a:r>
            <a:r>
              <a:rPr lang="en-US" altLang="zh-CN" sz="1600" dirty="0">
                <a:latin typeface="Times New Roman" panose="02020603050405020304" pitchFamily="18" charset="0"/>
                <a:ea typeface="思源宋体" panose="02020400000000000000" pitchFamily="18" charset="-122"/>
                <a:cs typeface="Times New Roman" panose="02020603050405020304" pitchFamily="18" charset="0"/>
              </a:rPr>
              <a:t>MMSD</a:t>
            </a:r>
            <a:r>
              <a:rPr lang="en-US" altLang="zh-CN" sz="1600" dirty="0">
                <a:latin typeface="思源宋体" panose="02020400000000000000" pitchFamily="18" charset="-122"/>
                <a:ea typeface="思源宋体" panose="02020400000000000000" pitchFamily="18" charset="-122"/>
              </a:rPr>
              <a:t> </a:t>
            </a:r>
            <a:r>
              <a:rPr lang="zh-CN" altLang="en-US" sz="1600" dirty="0">
                <a:latin typeface="思源宋体" panose="02020400000000000000" pitchFamily="18" charset="-122"/>
                <a:ea typeface="思源宋体" panose="02020400000000000000" pitchFamily="18" charset="-122"/>
              </a:rPr>
              <a:t>数据集测试该框架的性能。</a:t>
            </a:r>
            <a:endParaRPr lang="en-US" altLang="zh-CN" sz="1600" dirty="0">
              <a:latin typeface="思源宋体" panose="02020400000000000000" pitchFamily="18" charset="-122"/>
              <a:ea typeface="思源宋体" panose="02020400000000000000" pitchFamily="18" charset="-122"/>
            </a:endParaRPr>
          </a:p>
          <a:p>
            <a:pPr>
              <a:lnSpc>
                <a:spcPct val="150000"/>
              </a:lnSpc>
            </a:pPr>
            <a:r>
              <a:rPr lang="zh-CN" altLang="en-US" sz="1600" dirty="0">
                <a:latin typeface="思源宋体" panose="02020400000000000000" pitchFamily="18" charset="-122"/>
                <a:ea typeface="思源宋体" panose="02020400000000000000" pitchFamily="18" charset="-122"/>
              </a:rPr>
              <a:t>该数据集包含五个不同的领域：</a:t>
            </a:r>
            <a:endParaRPr lang="en-US" altLang="zh-CN" sz="1600" dirty="0">
              <a:latin typeface="思源宋体" panose="02020400000000000000" pitchFamily="18" charset="-122"/>
              <a:ea typeface="思源宋体" panose="02020400000000000000" pitchFamily="18" charset="-122"/>
            </a:endParaRPr>
          </a:p>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ea typeface="思源宋体" panose="02020400000000000000" pitchFamily="18" charset="-122"/>
                <a:cs typeface="Times New Roman" panose="02020603050405020304" pitchFamily="18" charset="0"/>
              </a:rPr>
              <a:t>Multi-modal COVID-CQ (MCCQ)</a:t>
            </a:r>
          </a:p>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ea typeface="思源宋体" panose="02020400000000000000" pitchFamily="18" charset="-122"/>
                <a:cs typeface="Times New Roman" panose="02020603050405020304" pitchFamily="18" charset="0"/>
              </a:rPr>
              <a:t>Multi-modal Russo-Ukrainian Conflict (MRUC)</a:t>
            </a:r>
          </a:p>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ea typeface="思源宋体" panose="02020400000000000000" pitchFamily="18" charset="-122"/>
                <a:cs typeface="Times New Roman" panose="02020603050405020304" pitchFamily="18" charset="0"/>
              </a:rPr>
              <a:t>Multi-modal Taiwan Question (MTWQ)</a:t>
            </a:r>
          </a:p>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ea typeface="思源宋体" panose="02020400000000000000" pitchFamily="18" charset="-122"/>
                <a:cs typeface="Times New Roman" panose="02020603050405020304" pitchFamily="18" charset="0"/>
              </a:rPr>
              <a:t>Multi-modal Twitter Stance Election 2020 (MTSE) </a:t>
            </a:r>
          </a:p>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ea typeface="思源宋体" panose="02020400000000000000" pitchFamily="18" charset="-122"/>
                <a:cs typeface="Times New Roman" panose="02020603050405020304" pitchFamily="18" charset="0"/>
              </a:rPr>
              <a:t>Multi-modal Will-They-Won’t-They (MWTWT)</a:t>
            </a:r>
            <a:endParaRPr lang="zh-CN" altLang="en-US" sz="1600" dirty="0">
              <a:latin typeface="Times New Roman" panose="02020603050405020304" pitchFamily="18" charset="0"/>
              <a:ea typeface="思源宋体" panose="02020400000000000000" pitchFamily="18" charset="-122"/>
              <a:cs typeface="Times New Roman" panose="02020603050405020304" pitchFamily="18" charset="0"/>
            </a:endParaRPr>
          </a:p>
          <a:p>
            <a:pPr>
              <a:lnSpc>
                <a:spcPct val="150000"/>
              </a:lnSpc>
            </a:pPr>
            <a:r>
              <a:rPr lang="zh-CN" altLang="en-US" sz="1600" dirty="0">
                <a:latin typeface="思源宋体" panose="02020400000000000000" pitchFamily="18" charset="-122"/>
                <a:ea typeface="思源宋体" panose="02020400000000000000" pitchFamily="18" charset="-122"/>
              </a:rPr>
              <a:t>遵循数据集论文中的评测方法，采用 </a:t>
            </a:r>
            <a:r>
              <a:rPr lang="en-US" altLang="zh-CN" sz="1600" dirty="0">
                <a:latin typeface="Times New Roman" panose="02020603050405020304" pitchFamily="18" charset="0"/>
                <a:ea typeface="思源宋体" panose="02020400000000000000" pitchFamily="18" charset="-122"/>
                <a:cs typeface="Times New Roman" panose="02020603050405020304" pitchFamily="18" charset="0"/>
              </a:rPr>
              <a:t>Macro-F1 </a:t>
            </a:r>
            <a:r>
              <a:rPr lang="zh-CN" altLang="en-US" sz="1600" dirty="0">
                <a:latin typeface="思源宋体" panose="02020400000000000000" pitchFamily="18" charset="-122"/>
                <a:ea typeface="思源宋体" panose="02020400000000000000" pitchFamily="18" charset="-122"/>
              </a:rPr>
              <a:t>作为主要指标进行评测。</a:t>
            </a:r>
            <a:endParaRPr lang="en-US" altLang="zh-CN" sz="1600" dirty="0">
              <a:latin typeface="思源宋体" panose="02020400000000000000" pitchFamily="18" charset="-122"/>
              <a:ea typeface="思源宋体" panose="02020400000000000000" pitchFamily="18" charset="-122"/>
            </a:endParaRPr>
          </a:p>
        </p:txBody>
      </p:sp>
      <p:pic>
        <p:nvPicPr>
          <p:cNvPr id="8" name="图片 7">
            <a:extLst>
              <a:ext uri="{FF2B5EF4-FFF2-40B4-BE49-F238E27FC236}">
                <a16:creationId xmlns:a16="http://schemas.microsoft.com/office/drawing/2014/main" id="{94E9AFA9-AC2A-AAB2-D537-68E6AC65652D}"/>
              </a:ext>
            </a:extLst>
          </p:cNvPr>
          <p:cNvPicPr>
            <a:picLocks noChangeAspect="1"/>
          </p:cNvPicPr>
          <p:nvPr/>
        </p:nvPicPr>
        <p:blipFill>
          <a:blip r:embed="rId3"/>
          <a:stretch>
            <a:fillRect/>
          </a:stretch>
        </p:blipFill>
        <p:spPr>
          <a:xfrm>
            <a:off x="5501460" y="954342"/>
            <a:ext cx="3818762" cy="4415668"/>
          </a:xfrm>
          <a:prstGeom prst="rect">
            <a:avLst/>
          </a:prstGeom>
        </p:spPr>
      </p:pic>
      <p:pic>
        <p:nvPicPr>
          <p:cNvPr id="3" name="图片 2">
            <a:extLst>
              <a:ext uri="{FF2B5EF4-FFF2-40B4-BE49-F238E27FC236}">
                <a16:creationId xmlns:a16="http://schemas.microsoft.com/office/drawing/2014/main" id="{DAFEE294-3116-3BBC-C0CC-73A6E6C8DD0A}"/>
              </a:ext>
            </a:extLst>
          </p:cNvPr>
          <p:cNvPicPr>
            <a:picLocks noChangeAspect="1"/>
          </p:cNvPicPr>
          <p:nvPr/>
        </p:nvPicPr>
        <p:blipFill>
          <a:blip r:embed="rId4"/>
          <a:stretch>
            <a:fillRect/>
          </a:stretch>
        </p:blipFill>
        <p:spPr>
          <a:xfrm>
            <a:off x="9442622" y="1025747"/>
            <a:ext cx="2490489" cy="4165453"/>
          </a:xfrm>
          <a:prstGeom prst="rect">
            <a:avLst/>
          </a:prstGeom>
        </p:spPr>
      </p:pic>
    </p:spTree>
    <p:custDataLst>
      <p:tags r:id="rId1"/>
    </p:custDataLst>
    <p:extLst>
      <p:ext uri="{BB962C8B-B14F-4D97-AF65-F5344CB8AC3E}">
        <p14:creationId xmlns:p14="http://schemas.microsoft.com/office/powerpoint/2010/main" val="262211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4BB0A-F15F-7401-29D3-EBA447A44ACF}"/>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EB492DCA-4AC9-E9C3-36FA-B7F98B48568B}"/>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04.</a:t>
            </a:r>
            <a:r>
              <a:rPr lang="zh-CN" altLang="en-US" dirty="0">
                <a:latin typeface="思源宋体" panose="02020400000000000000" pitchFamily="18" charset="-122"/>
                <a:ea typeface="思源宋体" panose="02020400000000000000" pitchFamily="18" charset="-122"/>
                <a:sym typeface="微软雅黑"/>
              </a:rPr>
              <a:t>实验结果</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pic>
        <p:nvPicPr>
          <p:cNvPr id="3" name="图片 2">
            <a:extLst>
              <a:ext uri="{FF2B5EF4-FFF2-40B4-BE49-F238E27FC236}">
                <a16:creationId xmlns:a16="http://schemas.microsoft.com/office/drawing/2014/main" id="{424A1B22-ADB3-D691-FB5C-3551A41629D3}"/>
              </a:ext>
            </a:extLst>
          </p:cNvPr>
          <p:cNvPicPr>
            <a:picLocks noChangeAspect="1"/>
          </p:cNvPicPr>
          <p:nvPr/>
        </p:nvPicPr>
        <p:blipFill>
          <a:blip r:embed="rId3"/>
          <a:srcRect b="13363"/>
          <a:stretch>
            <a:fillRect/>
          </a:stretch>
        </p:blipFill>
        <p:spPr>
          <a:xfrm>
            <a:off x="607381" y="753510"/>
            <a:ext cx="7963213" cy="3919141"/>
          </a:xfrm>
          <a:prstGeom prst="rect">
            <a:avLst/>
          </a:prstGeom>
        </p:spPr>
      </p:pic>
      <p:sp>
        <p:nvSpPr>
          <p:cNvPr id="2" name="稻壳儿智宇https://www.docer.com/works?userid=328340712">
            <a:extLst>
              <a:ext uri="{FF2B5EF4-FFF2-40B4-BE49-F238E27FC236}">
                <a16:creationId xmlns:a16="http://schemas.microsoft.com/office/drawing/2014/main" id="{2C6BA645-B4C7-EC31-6271-ED95E829E341}"/>
              </a:ext>
            </a:extLst>
          </p:cNvPr>
          <p:cNvSpPr txBox="1"/>
          <p:nvPr>
            <p:custDataLst>
              <p:tags r:id="rId1"/>
            </p:custDataLst>
          </p:nvPr>
        </p:nvSpPr>
        <p:spPr>
          <a:xfrm>
            <a:off x="691837" y="4835623"/>
            <a:ext cx="9711369" cy="1425477"/>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600" dirty="0">
                <a:latin typeface="思源宋体" panose="02020400000000000000" pitchFamily="18" charset="-122"/>
                <a:ea typeface="思源宋体" panose="02020400000000000000" pitchFamily="18" charset="-122"/>
              </a:rPr>
              <a:t>ReMoD </a:t>
            </a:r>
            <a:r>
              <a:rPr lang="zh-CN" altLang="en-US" sz="1600" dirty="0">
                <a:latin typeface="思源宋体" panose="02020400000000000000" pitchFamily="18" charset="-122"/>
                <a:ea typeface="思源宋体" panose="02020400000000000000" pitchFamily="18" charset="-122"/>
              </a:rPr>
              <a:t>在多个场景中，相对于大多数基线模型，包括 </a:t>
            </a:r>
            <a:r>
              <a:rPr lang="en-US" altLang="zh-CN" sz="1600" dirty="0">
                <a:latin typeface="思源宋体" panose="02020400000000000000" pitchFamily="18" charset="-122"/>
                <a:ea typeface="思源宋体" panose="02020400000000000000" pitchFamily="18" charset="-122"/>
              </a:rPr>
              <a:t>GPT4 </a:t>
            </a:r>
            <a:r>
              <a:rPr lang="zh-CN" altLang="en-US" sz="1600" dirty="0">
                <a:latin typeface="思源宋体" panose="02020400000000000000" pitchFamily="18" charset="-122"/>
                <a:ea typeface="思源宋体" panose="02020400000000000000" pitchFamily="18" charset="-122"/>
              </a:rPr>
              <a:t>和 </a:t>
            </a:r>
            <a:r>
              <a:rPr lang="en-US" altLang="zh-CN" sz="1600" dirty="0">
                <a:latin typeface="思源宋体" panose="02020400000000000000" pitchFamily="18" charset="-122"/>
                <a:ea typeface="思源宋体" panose="02020400000000000000" pitchFamily="18" charset="-122"/>
              </a:rPr>
              <a:t>GPT4-Vision </a:t>
            </a:r>
            <a:r>
              <a:rPr lang="zh-CN" altLang="en-US" sz="1600" dirty="0">
                <a:latin typeface="思源宋体" panose="02020400000000000000" pitchFamily="18" charset="-122"/>
                <a:ea typeface="思源宋体" panose="02020400000000000000" pitchFamily="18" charset="-122"/>
              </a:rPr>
              <a:t>等强大的大型语言模型，都取得了具有竞争力的性能。虽然 </a:t>
            </a:r>
            <a:r>
              <a:rPr lang="en-US" altLang="zh-CN" sz="1600" dirty="0" err="1">
                <a:latin typeface="思源宋体" panose="02020400000000000000" pitchFamily="18" charset="-122"/>
                <a:ea typeface="思源宋体" panose="02020400000000000000" pitchFamily="18" charset="-122"/>
              </a:rPr>
              <a:t>TMPT+CoT</a:t>
            </a:r>
            <a:r>
              <a:rPr lang="en-US" altLang="zh-CN" sz="1600" dirty="0">
                <a:latin typeface="思源宋体" panose="02020400000000000000" pitchFamily="18" charset="-122"/>
                <a:ea typeface="思源宋体" panose="02020400000000000000" pitchFamily="18" charset="-122"/>
              </a:rPr>
              <a:t> </a:t>
            </a:r>
            <a:r>
              <a:rPr lang="zh-CN" altLang="en-US" sz="1600" dirty="0">
                <a:latin typeface="思源宋体" panose="02020400000000000000" pitchFamily="18" charset="-122"/>
                <a:ea typeface="思源宋体" panose="02020400000000000000" pitchFamily="18" charset="-122"/>
              </a:rPr>
              <a:t>在某些目标上表现出更强的结果，但它依赖于使用 </a:t>
            </a:r>
            <a:r>
              <a:rPr lang="en-US" altLang="zh-CN" sz="1600" dirty="0">
                <a:latin typeface="思源宋体" panose="02020400000000000000" pitchFamily="18" charset="-122"/>
                <a:ea typeface="思源宋体" panose="02020400000000000000" pitchFamily="18" charset="-122"/>
              </a:rPr>
              <a:t>GPT4 </a:t>
            </a:r>
            <a:r>
              <a:rPr lang="zh-CN" altLang="en-US" sz="1600" dirty="0">
                <a:latin typeface="思源宋体" panose="02020400000000000000" pitchFamily="18" charset="-122"/>
                <a:ea typeface="思源宋体" panose="02020400000000000000" pitchFamily="18" charset="-122"/>
              </a:rPr>
              <a:t>生成的思维链示例进行训练。相比之下，</a:t>
            </a:r>
            <a:r>
              <a:rPr lang="en-US" altLang="zh-CN" sz="1600" dirty="0">
                <a:latin typeface="思源宋体" panose="02020400000000000000" pitchFamily="18" charset="-122"/>
                <a:ea typeface="思源宋体" panose="02020400000000000000" pitchFamily="18" charset="-122"/>
              </a:rPr>
              <a:t>ReMoD </a:t>
            </a:r>
            <a:r>
              <a:rPr lang="zh-CN" altLang="en-US" sz="1600" dirty="0">
                <a:latin typeface="思源宋体" panose="02020400000000000000" pitchFamily="18" charset="-122"/>
                <a:ea typeface="思源宋体" panose="02020400000000000000" pitchFamily="18" charset="-122"/>
              </a:rPr>
              <a:t>凭借利用累积经验进行自适应模态贡献重新思考，凸显了其无需训练的优势。</a:t>
            </a:r>
            <a:endParaRPr lang="en-US" altLang="zh-CN" sz="1600" dirty="0">
              <a:latin typeface="思源宋体" panose="02020400000000000000" pitchFamily="18" charset="-122"/>
              <a:ea typeface="思源宋体" panose="02020400000000000000" pitchFamily="18" charset="-122"/>
            </a:endParaRPr>
          </a:p>
        </p:txBody>
      </p:sp>
    </p:spTree>
    <p:extLst>
      <p:ext uri="{BB962C8B-B14F-4D97-AF65-F5344CB8AC3E}">
        <p14:creationId xmlns:p14="http://schemas.microsoft.com/office/powerpoint/2010/main" val="806270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E9986-44A6-DCE9-A115-9830E2629E80}"/>
            </a:ext>
          </a:extLst>
        </p:cNvPr>
        <p:cNvGrpSpPr/>
        <p:nvPr/>
      </p:nvGrpSpPr>
      <p:grpSpPr>
        <a:xfrm>
          <a:off x="0" y="0"/>
          <a:ext cx="0" cy="0"/>
          <a:chOff x="0" y="0"/>
          <a:chExt cx="0" cy="0"/>
        </a:xfrm>
      </p:grpSpPr>
      <p:sp>
        <p:nvSpPr>
          <p:cNvPr id="4" name="稻壳儿智宇https://www.docer.com/works?userid=328340712">
            <a:extLst>
              <a:ext uri="{FF2B5EF4-FFF2-40B4-BE49-F238E27FC236}">
                <a16:creationId xmlns:a16="http://schemas.microsoft.com/office/drawing/2014/main" id="{E5DB5627-F0A1-0030-1C83-8185422CE13F}"/>
              </a:ext>
            </a:extLst>
          </p:cNvPr>
          <p:cNvSpPr>
            <a:spLocks noGrp="1"/>
          </p:cNvSpPr>
          <p:nvPr>
            <p:ph type="title"/>
          </p:nvPr>
        </p:nvSpPr>
        <p:spPr>
          <a:prstGeom prst="rect">
            <a:avLst/>
          </a:prstGeom>
        </p:spPr>
        <p:txBody>
          <a:bodyPr>
            <a:normAutofit/>
          </a:bodyPr>
          <a:lstStyle/>
          <a:p>
            <a:r>
              <a:rPr lang="en-US" altLang="zh-CN" dirty="0">
                <a:solidFill>
                  <a:schemeClr val="accent1"/>
                </a:solidFill>
                <a:latin typeface="思源宋体" panose="02020400000000000000" pitchFamily="18" charset="-122"/>
                <a:ea typeface="思源宋体" panose="02020400000000000000" pitchFamily="18" charset="-122"/>
                <a:sym typeface="微软雅黑"/>
              </a:rPr>
              <a:t>04.</a:t>
            </a:r>
            <a:r>
              <a:rPr lang="zh-CN" altLang="en-US" dirty="0">
                <a:latin typeface="思源宋体" panose="02020400000000000000" pitchFamily="18" charset="-122"/>
                <a:ea typeface="思源宋体" panose="02020400000000000000" pitchFamily="18" charset="-122"/>
                <a:sym typeface="微软雅黑"/>
              </a:rPr>
              <a:t>实验结果</a:t>
            </a:r>
            <a:endParaRPr lang="zh-CN" altLang="en-US" dirty="0">
              <a:solidFill>
                <a:schemeClr val="accent1"/>
              </a:solidFill>
              <a:latin typeface="思源宋体" panose="02020400000000000000" pitchFamily="18" charset="-122"/>
              <a:ea typeface="思源宋体" panose="02020400000000000000" pitchFamily="18" charset="-122"/>
              <a:sym typeface="微软雅黑"/>
            </a:endParaRPr>
          </a:p>
        </p:txBody>
      </p:sp>
      <p:pic>
        <p:nvPicPr>
          <p:cNvPr id="7" name="图片 6">
            <a:extLst>
              <a:ext uri="{FF2B5EF4-FFF2-40B4-BE49-F238E27FC236}">
                <a16:creationId xmlns:a16="http://schemas.microsoft.com/office/drawing/2014/main" id="{35DA1C7C-06D7-4E9D-367E-88B9CCAD218A}"/>
              </a:ext>
            </a:extLst>
          </p:cNvPr>
          <p:cNvPicPr>
            <a:picLocks noChangeAspect="1"/>
          </p:cNvPicPr>
          <p:nvPr/>
        </p:nvPicPr>
        <p:blipFill>
          <a:blip r:embed="rId3"/>
          <a:stretch>
            <a:fillRect/>
          </a:stretch>
        </p:blipFill>
        <p:spPr>
          <a:xfrm>
            <a:off x="615636" y="807044"/>
            <a:ext cx="7082185" cy="3879806"/>
          </a:xfrm>
          <a:prstGeom prst="rect">
            <a:avLst/>
          </a:prstGeom>
        </p:spPr>
      </p:pic>
      <p:sp>
        <p:nvSpPr>
          <p:cNvPr id="8" name="稻壳儿智宇https://www.docer.com/works?userid=328340712">
            <a:extLst>
              <a:ext uri="{FF2B5EF4-FFF2-40B4-BE49-F238E27FC236}">
                <a16:creationId xmlns:a16="http://schemas.microsoft.com/office/drawing/2014/main" id="{204349E4-2C33-64D9-E611-7EB8F5A74B49}"/>
              </a:ext>
            </a:extLst>
          </p:cNvPr>
          <p:cNvSpPr txBox="1"/>
          <p:nvPr>
            <p:custDataLst>
              <p:tags r:id="rId1"/>
            </p:custDataLst>
          </p:nvPr>
        </p:nvSpPr>
        <p:spPr>
          <a:xfrm>
            <a:off x="691837" y="4860482"/>
            <a:ext cx="9711369" cy="1803314"/>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600" dirty="0">
                <a:latin typeface="思源宋体" panose="02020400000000000000" pitchFamily="18" charset="-122"/>
                <a:ea typeface="思源宋体" panose="02020400000000000000" pitchFamily="18" charset="-122"/>
              </a:rPr>
              <a:t>如图所示，该结果揭示了依赖域内训练的模型的固有脆弱性。虽然 </a:t>
            </a:r>
            <a:r>
              <a:rPr lang="en-US" altLang="zh-CN" sz="1600" dirty="0">
                <a:latin typeface="思源宋体" panose="02020400000000000000" pitchFamily="18" charset="-122"/>
                <a:ea typeface="思源宋体" panose="02020400000000000000" pitchFamily="18" charset="-122"/>
              </a:rPr>
              <a:t>BERT </a:t>
            </a:r>
            <a:r>
              <a:rPr lang="zh-CN" altLang="en-US" sz="1600" dirty="0">
                <a:latin typeface="思源宋体" panose="02020400000000000000" pitchFamily="18" charset="-122"/>
                <a:ea typeface="思源宋体" panose="02020400000000000000" pitchFamily="18" charset="-122"/>
              </a:rPr>
              <a:t>和 </a:t>
            </a:r>
            <a:r>
              <a:rPr lang="en-US" altLang="zh-CN" sz="1600" dirty="0" err="1">
                <a:latin typeface="思源宋体" panose="02020400000000000000" pitchFamily="18" charset="-122"/>
                <a:ea typeface="思源宋体" panose="02020400000000000000" pitchFamily="18" charset="-122"/>
              </a:rPr>
              <a:t>RoBERTA</a:t>
            </a:r>
            <a:r>
              <a:rPr lang="en-US" altLang="zh-CN" sz="1600" dirty="0">
                <a:latin typeface="思源宋体" panose="02020400000000000000" pitchFamily="18" charset="-122"/>
                <a:ea typeface="思源宋体" panose="02020400000000000000" pitchFamily="18" charset="-122"/>
              </a:rPr>
              <a:t> </a:t>
            </a:r>
            <a:r>
              <a:rPr lang="zh-CN" altLang="en-US" sz="1600" dirty="0">
                <a:latin typeface="思源宋体" panose="02020400000000000000" pitchFamily="18" charset="-122"/>
                <a:ea typeface="思源宋体" panose="02020400000000000000" pitchFamily="18" charset="-122"/>
              </a:rPr>
              <a:t>等较小的架构性能急剧下降，但即使是 </a:t>
            </a:r>
            <a:r>
              <a:rPr lang="en-US" altLang="zh-CN" sz="1600" dirty="0">
                <a:latin typeface="思源宋体" panose="02020400000000000000" pitchFamily="18" charset="-122"/>
                <a:ea typeface="思源宋体" panose="02020400000000000000" pitchFamily="18" charset="-122"/>
              </a:rPr>
              <a:t>GPT4 </a:t>
            </a:r>
            <a:r>
              <a:rPr lang="zh-CN" altLang="en-US" sz="1600" dirty="0">
                <a:latin typeface="思源宋体" panose="02020400000000000000" pitchFamily="18" charset="-122"/>
                <a:ea typeface="思源宋体" panose="02020400000000000000" pitchFamily="18" charset="-122"/>
              </a:rPr>
              <a:t>和 </a:t>
            </a:r>
            <a:r>
              <a:rPr lang="en-US" altLang="zh-CN" sz="1600" dirty="0">
                <a:latin typeface="思源宋体" panose="02020400000000000000" pitchFamily="18" charset="-122"/>
                <a:ea typeface="思源宋体" panose="02020400000000000000" pitchFamily="18" charset="-122"/>
              </a:rPr>
              <a:t>GPT4-Vision </a:t>
            </a:r>
            <a:r>
              <a:rPr lang="zh-CN" altLang="en-US" sz="1600" dirty="0">
                <a:latin typeface="思源宋体" panose="02020400000000000000" pitchFamily="18" charset="-122"/>
                <a:ea typeface="思源宋体" panose="02020400000000000000" pitchFamily="18" charset="-122"/>
              </a:rPr>
              <a:t>这样强大的大型语言模型，在面对未见过的目标时，也表现出显著的性能波动。这强调了当前范式的一个根本局限：真正的零样本泛化仍然是一个艰巨且基本未解决的挑战。在这种要求苛刻的场景中，</a:t>
            </a:r>
            <a:r>
              <a:rPr lang="en-US" altLang="zh-CN" sz="1600" dirty="0">
                <a:latin typeface="思源宋体" panose="02020400000000000000" pitchFamily="18" charset="-122"/>
                <a:ea typeface="思源宋体" panose="02020400000000000000" pitchFamily="18" charset="-122"/>
              </a:rPr>
              <a:t>ReMoD </a:t>
            </a:r>
            <a:r>
              <a:rPr lang="zh-CN" altLang="en-US" sz="1600" dirty="0">
                <a:latin typeface="思源宋体" panose="02020400000000000000" pitchFamily="18" charset="-122"/>
                <a:ea typeface="思源宋体" panose="02020400000000000000" pitchFamily="18" charset="-122"/>
              </a:rPr>
              <a:t>为鲁棒性和适应性树立了新的标准。它在大多数评估的数据集上取得了最先进的结果。</a:t>
            </a:r>
            <a:endParaRPr lang="en-US" altLang="zh-CN" sz="1600" dirty="0">
              <a:latin typeface="思源宋体" panose="02020400000000000000" pitchFamily="18" charset="-122"/>
              <a:ea typeface="思源宋体" panose="02020400000000000000" pitchFamily="18" charset="-122"/>
            </a:endParaRPr>
          </a:p>
        </p:txBody>
      </p:sp>
    </p:spTree>
    <p:extLst>
      <p:ext uri="{BB962C8B-B14F-4D97-AF65-F5344CB8AC3E}">
        <p14:creationId xmlns:p14="http://schemas.microsoft.com/office/powerpoint/2010/main" val="2571615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2774A-C0E6-F49E-A5B7-F040F95B5245}"/>
            </a:ext>
          </a:extLst>
        </p:cNvPr>
        <p:cNvGrpSpPr/>
        <p:nvPr/>
      </p:nvGrpSpPr>
      <p:grpSpPr>
        <a:xfrm>
          <a:off x="0" y="0"/>
          <a:ext cx="0" cy="0"/>
          <a:chOff x="0" y="0"/>
          <a:chExt cx="0" cy="0"/>
        </a:xfrm>
      </p:grpSpPr>
      <p:pic>
        <p:nvPicPr>
          <p:cNvPr id="23" name="稻壳儿智宇https://www.docer.com/works?userid=328340712" descr="背景图案&#10;&#10;描述已自动生成">
            <a:extLst>
              <a:ext uri="{FF2B5EF4-FFF2-40B4-BE49-F238E27FC236}">
                <a16:creationId xmlns:a16="http://schemas.microsoft.com/office/drawing/2014/main" id="{8ECCB966-EE48-B1AB-A6E1-420C917D93C4}"/>
              </a:ext>
            </a:extLst>
          </p:cNvPr>
          <p:cNvPicPr>
            <a:picLocks noChangeAspect="1"/>
          </p:cNvPicPr>
          <p:nvPr/>
        </p:nvPicPr>
        <p:blipFill>
          <a:blip r:embed="rId5" cstate="print"/>
          <a:srcRect/>
          <a:stretch>
            <a:fillRect/>
          </a:stretch>
        </p:blipFill>
        <p:spPr>
          <a:xfrm>
            <a:off x="0" y="0"/>
            <a:ext cx="12192000" cy="6858000"/>
          </a:xfrm>
          <a:prstGeom prst="rect">
            <a:avLst/>
          </a:prstGeom>
        </p:spPr>
      </p:pic>
      <p:sp>
        <p:nvSpPr>
          <p:cNvPr id="2" name="稻壳儿智宇https://www.docer.com/works?userid=328340712">
            <a:extLst>
              <a:ext uri="{FF2B5EF4-FFF2-40B4-BE49-F238E27FC236}">
                <a16:creationId xmlns:a16="http://schemas.microsoft.com/office/drawing/2014/main" id="{1F3196E0-1854-C817-A743-EA13E71C7E9F}"/>
              </a:ext>
            </a:extLst>
          </p:cNvPr>
          <p:cNvSpPr/>
          <p:nvPr>
            <p:custDataLst>
              <p:tags r:id="rId1"/>
            </p:custDataLst>
          </p:nvPr>
        </p:nvSpPr>
        <p:spPr>
          <a:xfrm>
            <a:off x="0" y="2060745"/>
            <a:ext cx="12192000" cy="2736510"/>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a:ea typeface="微软雅黑"/>
              <a:sym typeface="微软雅黑"/>
            </a:endParaRPr>
          </a:p>
        </p:txBody>
      </p:sp>
      <p:sp>
        <p:nvSpPr>
          <p:cNvPr id="81" name="稻壳儿智宇https://www.docer.com/works?userid=328340712">
            <a:extLst>
              <a:ext uri="{FF2B5EF4-FFF2-40B4-BE49-F238E27FC236}">
                <a16:creationId xmlns:a16="http://schemas.microsoft.com/office/drawing/2014/main" id="{2A132B57-FE7A-350A-3D97-5868B982EA5E}"/>
              </a:ext>
            </a:extLst>
          </p:cNvPr>
          <p:cNvSpPr/>
          <p:nvPr/>
        </p:nvSpPr>
        <p:spPr>
          <a:xfrm>
            <a:off x="1791381" y="2921168"/>
            <a:ext cx="8609237" cy="1015663"/>
          </a:xfrm>
          <a:prstGeom prst="rect">
            <a:avLst/>
          </a:prstGeom>
        </p:spPr>
        <p:txBody>
          <a:bodyPr wrap="square" lIns="0" tIns="0" rIns="0" bIns="0">
            <a:spAutoFit/>
          </a:bodyPr>
          <a:lstStyle/>
          <a:p>
            <a:pPr algn="ctr" fontAlgn="base"/>
            <a:r>
              <a:rPr lang="zh-CN" altLang="en-US" sz="6600" dirty="0">
                <a:solidFill>
                  <a:schemeClr val="lt1"/>
                </a:solidFill>
                <a:latin typeface="思源宋体" panose="02020400000000000000" pitchFamily="18" charset="-122"/>
                <a:ea typeface="思源宋体" panose="02020400000000000000" pitchFamily="18" charset="-122"/>
                <a:sym typeface="微软雅黑"/>
              </a:rPr>
              <a:t>感谢老师的观看</a:t>
            </a:r>
          </a:p>
        </p:txBody>
      </p:sp>
      <p:sp>
        <p:nvSpPr>
          <p:cNvPr id="4" name="稻壳儿智宇https://www.docer.com/works?userid=328340712">
            <a:extLst>
              <a:ext uri="{FF2B5EF4-FFF2-40B4-BE49-F238E27FC236}">
                <a16:creationId xmlns:a16="http://schemas.microsoft.com/office/drawing/2014/main" id="{88C57FC9-75B9-E9F4-DD6E-3EE6202DD5CB}"/>
              </a:ext>
            </a:extLst>
          </p:cNvPr>
          <p:cNvSpPr txBox="1"/>
          <p:nvPr>
            <p:custDataLst>
              <p:tags r:id="rId2"/>
            </p:custDataLst>
          </p:nvPr>
        </p:nvSpPr>
        <p:spPr>
          <a:xfrm>
            <a:off x="3194304" y="5008729"/>
            <a:ext cx="5803392" cy="929229"/>
          </a:xfrm>
          <a:prstGeom prst="rect">
            <a:avLst/>
          </a:prstGeom>
        </p:spPr>
        <p:txBody>
          <a:bodyPr wrap="square" lIns="0" tIns="0" rIns="0" bIns="0">
            <a:spAutoFit/>
          </a:bodyPr>
          <a:lstStyle>
            <a:defPPr>
              <a:defRPr lang="zh-CN"/>
            </a:defPPr>
            <a:lvl1pPr algn="dist" fontAlgn="base">
              <a:defRPr sz="1600" b="0" i="0">
                <a:solidFill>
                  <a:schemeClr val="accent5">
                    <a:lumMod val="50000"/>
                  </a:schemeClr>
                </a:solidFill>
                <a:effectLst/>
                <a:latin typeface="+mn-ea"/>
              </a:defRPr>
            </a:lvl1pPr>
          </a:lstStyle>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汇报人：金正达</a:t>
            </a:r>
            <a:r>
              <a:rPr lang="en-US" altLang="zh-CN" spc="300" dirty="0">
                <a:solidFill>
                  <a:schemeClr val="dk1"/>
                </a:solidFill>
                <a:latin typeface="思源宋体" panose="02020400000000000000" pitchFamily="18" charset="-122"/>
                <a:ea typeface="思源宋体" panose="02020400000000000000" pitchFamily="18" charset="-122"/>
                <a:sym typeface="微软雅黑"/>
              </a:rPr>
              <a:t> </a:t>
            </a:r>
          </a:p>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学院：计算机科学与技术学院</a:t>
            </a:r>
            <a:endParaRPr lang="en-US" altLang="zh-CN" spc="300" dirty="0">
              <a:solidFill>
                <a:schemeClr val="dk1"/>
              </a:solidFill>
              <a:latin typeface="思源宋体" panose="02020400000000000000" pitchFamily="18" charset="-122"/>
              <a:ea typeface="思源宋体" panose="02020400000000000000" pitchFamily="18" charset="-122"/>
              <a:sym typeface="微软雅黑"/>
            </a:endParaRPr>
          </a:p>
          <a:p>
            <a:pPr algn="ctr">
              <a:lnSpc>
                <a:spcPct val="130000"/>
              </a:lnSpc>
            </a:pPr>
            <a:r>
              <a:rPr lang="zh-CN" altLang="en-US" spc="300" dirty="0">
                <a:solidFill>
                  <a:schemeClr val="dk1"/>
                </a:solidFill>
                <a:latin typeface="思源宋体" panose="02020400000000000000" pitchFamily="18" charset="-122"/>
                <a:ea typeface="思源宋体" panose="02020400000000000000" pitchFamily="18" charset="-122"/>
                <a:sym typeface="微软雅黑"/>
              </a:rPr>
              <a:t>指导教师：徐睿峰教授</a:t>
            </a:r>
          </a:p>
        </p:txBody>
      </p:sp>
      <p:pic>
        <p:nvPicPr>
          <p:cNvPr id="6" name="图片 5">
            <a:extLst>
              <a:ext uri="{FF2B5EF4-FFF2-40B4-BE49-F238E27FC236}">
                <a16:creationId xmlns:a16="http://schemas.microsoft.com/office/drawing/2014/main" id="{815AD683-6F05-03A4-9814-078F1857C6C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9105" y="996669"/>
            <a:ext cx="4653788" cy="852602"/>
          </a:xfrm>
          <a:prstGeom prst="rect">
            <a:avLst/>
          </a:prstGeom>
        </p:spPr>
      </p:pic>
    </p:spTree>
    <p:extLst>
      <p:ext uri="{BB962C8B-B14F-4D97-AF65-F5344CB8AC3E}">
        <p14:creationId xmlns:p14="http://schemas.microsoft.com/office/powerpoint/2010/main" val="2920582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null,&quot;Name&quot;:&quot;适中&quot;,&quot;HeaderHeight&quot;:10.0,&quot;FooterHeight&quot;:5.0,&quot;SideMargin&quot;:5.0,&quot;TopMargin&quot;:0.0,&quot;BottomMargin&quot;:0.0,&quot;IntervalMargin&quot;:1.5,&quot;SettingType&quot;:&quot;System&quot;}"/>
  <p:tag name="KSO_WPP_MARK_KEY" val="fa47d307-c4b8-4d6e-85db-a4194826635c"/>
  <p:tag name="COMMONDATA" val="eyJjb3VudCI6MiwiaGRpZCI6IjgwMTEzOTMxYTllMDgyYmY3MGViZDIyZjNkZWMzYTdkIiwidXNlckNvdW50Ijoy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LINE_FORE_SCHEMECOLOR_INDEX_1_BRIGHTNESS" val="-0.15"/>
  <p:tag name="KSO_WM_UNIT_LINE_FORE_SCHEMECOLOR_INDEX_1" val="14"/>
  <p:tag name="KSO_WM_UNIT_LINE_FORE_SCHEMECOLOR_INDEX_1_POS" val="0"/>
  <p:tag name="KSO_WM_UNIT_LINE_FORE_SCHEMECOLOR_INDEX_1_TRANS" val="0"/>
  <p:tag name="KSO_WM_UNIT_LINE_FORE_SCHEMECOLOR_INDEX_2_BRIGHTNESS" val="0"/>
  <p:tag name="KSO_WM_UNIT_LINE_FORE_SCHEMECOLOR_INDEX_2" val="14"/>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 name="KSO_WM_UNIT_TEXT_FILL_FORE_SCHEMECOLOR_INDEX_BRIGHTNESS" val="0"/>
  <p:tag name="KSO_WM_UNIT_TEXT_FILL_FORE_SCHEMECOLOR_INDEX" val="2"/>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UNIT_LINE_FORE_SCHEMECOLOR_INDEX_1_BRIGHTNESS" val="-0.15"/>
  <p:tag name="KSO_WM_UNIT_LINE_FORE_SCHEMECOLOR_INDEX_1" val="14"/>
  <p:tag name="KSO_WM_UNIT_LINE_FORE_SCHEMECOLOR_INDEX_1_POS" val="0"/>
  <p:tag name="KSO_WM_UNIT_LINE_FORE_SCHEMECOLOR_INDEX_1_TRANS" val="0"/>
  <p:tag name="KSO_WM_UNIT_LINE_FORE_SCHEMECOLOR_INDEX_2_BRIGHTNESS" val="0"/>
  <p:tag name="KSO_WM_UNIT_LINE_FORE_SCHEMECOLOR_INDEX_2" val="14"/>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 name="KSO_WM_UNIT_TEXT_FILL_FORE_SCHEMECOLOR_INDEX_BRIGHTNESS" val="0"/>
  <p:tag name="KSO_WM_UNIT_TEXT_FILL_FORE_SCHEMECOLOR_INDEX" val="2"/>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LINE_FORE_SCHEMECOLOR_INDEX_1_BRIGHTNESS" val="-0.15"/>
  <p:tag name="KSO_WM_UNIT_LINE_FORE_SCHEMECOLOR_INDEX_1" val="14"/>
  <p:tag name="KSO_WM_UNIT_LINE_FORE_SCHEMECOLOR_INDEX_1_POS" val="0"/>
  <p:tag name="KSO_WM_UNIT_LINE_FORE_SCHEMECOLOR_INDEX_1_TRANS" val="0"/>
  <p:tag name="KSO_WM_UNIT_LINE_FORE_SCHEMECOLOR_INDEX_2_BRIGHTNESS" val="0"/>
  <p:tag name="KSO_WM_UNIT_LINE_FORE_SCHEMECOLOR_INDEX_2" val="14"/>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 name="KSO_WM_UNIT_TEXT_FILL_FORE_SCHEMECOLOR_INDEX_BRIGHTNESS" val="0"/>
  <p:tag name="KSO_WM_UNIT_TEXT_FILL_FORE_SCHEMECOLOR_INDEX" val="2"/>
  <p:tag name="KSO_WM_UNIT_TEX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LINE_FORE_SCHEMECOLOR_INDEX_1_BRIGHTNESS" val="-0.15"/>
  <p:tag name="KSO_WM_UNIT_LINE_FORE_SCHEMECOLOR_INDEX_1" val="14"/>
  <p:tag name="KSO_WM_UNIT_LINE_FORE_SCHEMECOLOR_INDEX_1_POS" val="0"/>
  <p:tag name="KSO_WM_UNIT_LINE_FORE_SCHEMECOLOR_INDEX_1_TRANS" val="0"/>
  <p:tag name="KSO_WM_UNIT_LINE_FORE_SCHEMECOLOR_INDEX_2_BRIGHTNESS" val="0"/>
  <p:tag name="KSO_WM_UNIT_LINE_FORE_SCHEMECOLOR_INDEX_2" val="14"/>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 name="KSO_WM_UNIT_TEXT_FILL_FORE_SCHEMECOLOR_INDEX_BRIGHTNESS" val="0"/>
  <p:tag name="KSO_WM_UNIT_TEXT_FILL_FORE_SCHEMECOLOR_INDEX" val="2"/>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2"/>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6"/>
  <p:tag name="KSO_WM_UNIT_LINE_FILL_TYPE" val="2"/>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FILL_FORE_SCHEMECOLOR_INDEX_1_BRIGHTNESS" val="0.8"/>
  <p:tag name="KSO_WM_UNIT_FILL_FORE_SCHEMECOLOR_INDEX_1" val="6"/>
  <p:tag name="KSO_WM_UNIT_FILL_FORE_SCHEMECOLOR_INDEX_1_POS" val="0"/>
  <p:tag name="KSO_WM_UNIT_FILL_FORE_SCHEMECOLOR_INDEX_1_TRANS" val="0"/>
  <p:tag name="KSO_WM_UNIT_FILL_FORE_SCHEMECOLOR_INDEX_2_BRIGHTNESS" val="0.8"/>
  <p:tag name="KSO_WM_UNIT_FILL_FORE_SCHEMECOLOR_INDEX_2" val="6"/>
  <p:tag name="KSO_WM_UNIT_FILL_FORE_SCHEMECOLOR_INDEX_2_POS" val="1"/>
  <p:tag name="KSO_WM_UNIT_FILL_FORE_SCHEMECOLOR_INDEX_2_TRANS" val="0.95"/>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UNIT_FILL_FORE_SCHEMECOLOR_INDEX_1_BRIGHTNESS" val="0.8"/>
  <p:tag name="KSO_WM_UNIT_FILL_FORE_SCHEMECOLOR_INDEX_1" val="6"/>
  <p:tag name="KSO_WM_UNIT_FILL_FORE_SCHEMECOLOR_INDEX_1_POS" val="0"/>
  <p:tag name="KSO_WM_UNIT_FILL_FORE_SCHEMECOLOR_INDEX_1_TRANS" val="0"/>
  <p:tag name="KSO_WM_UNIT_FILL_FORE_SCHEMECOLOR_INDEX_2_BRIGHTNESS" val="0.8"/>
  <p:tag name="KSO_WM_UNIT_FILL_FORE_SCHEMECOLOR_INDEX_2" val="6"/>
  <p:tag name="KSO_WM_UNIT_FILL_FORE_SCHEMECOLOR_INDEX_2_POS" val="1"/>
  <p:tag name="KSO_WM_UNIT_FILL_FORE_SCHEMECOLOR_INDEX_2_TRANS" val="0.95"/>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6"/>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6"/>
  <p:tag name="KSO_WM_UNIT_TEXT_FILL_TYPE" val="1"/>
</p:tagLst>
</file>

<file path=ppt/tags/tag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6"/>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4"/>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ISLIDE.DIAGRAM" val="#467493;"/>
  <p:tag name="ISLIDE.ICON" val="#398555;#402765;#394246;"/>
</p:tagLst>
</file>

<file path=ppt/tags/tag6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6.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heme/theme1.xml><?xml version="1.0" encoding="utf-8"?>
<a:theme xmlns:a="http://schemas.openxmlformats.org/drawingml/2006/main" name="第一PPT，www.1ppt.com">
  <a:themeElements>
    <a:clrScheme name="文案邦设计主题色-20190404-171738">
      <a:dk1>
        <a:srgbClr val="000000"/>
      </a:dk1>
      <a:lt1>
        <a:srgbClr val="FFFFFF"/>
      </a:lt1>
      <a:dk2>
        <a:srgbClr val="0F2344"/>
      </a:dk2>
      <a:lt2>
        <a:srgbClr val="C7D7F3"/>
      </a:lt2>
      <a:accent1>
        <a:srgbClr val="1E4588"/>
      </a:accent1>
      <a:accent2>
        <a:srgbClr val="D7C39F"/>
      </a:accent2>
      <a:accent3>
        <a:srgbClr val="1E4588"/>
      </a:accent3>
      <a:accent4>
        <a:srgbClr val="D7C39F"/>
      </a:accent4>
      <a:accent5>
        <a:srgbClr val="1E4588"/>
      </a:accent5>
      <a:accent6>
        <a:srgbClr val="D7C39F"/>
      </a:accent6>
      <a:hlink>
        <a:srgbClr val="0563C1"/>
      </a:hlink>
      <a:folHlink>
        <a:srgbClr val="954F72"/>
      </a:folHlink>
    </a:clrScheme>
    <a:fontScheme name="自定义 18">
      <a:majorFont>
        <a:latin typeface="汉仪雅酷黑 65W"/>
        <a:ea typeface="汉仪雅酷黑 65W"/>
        <a:cs typeface=""/>
      </a:majorFont>
      <a:minorFont>
        <a:latin typeface="汉仪旗黑-45S"/>
        <a:ea typeface="汉仪旗黑-45S"/>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
      <a:dk1>
        <a:srgbClr val="000000"/>
      </a:dk1>
      <a:lt1>
        <a:srgbClr val="FFFFFF"/>
      </a:lt1>
      <a:dk2>
        <a:srgbClr val="E8EEF2"/>
      </a:dk2>
      <a:lt2>
        <a:srgbClr val="F9FAFB"/>
      </a:lt2>
      <a:accent1>
        <a:srgbClr val="2B4663"/>
      </a:accent1>
      <a:accent2>
        <a:srgbClr val="5C7885"/>
      </a:accent2>
      <a:accent3>
        <a:srgbClr val="94ACBC"/>
      </a:accent3>
      <a:accent4>
        <a:srgbClr val="B9CAE1"/>
      </a:accent4>
      <a:accent5>
        <a:srgbClr val="97ABBD"/>
      </a:accent5>
      <a:accent6>
        <a:srgbClr val="3B606F"/>
      </a:accent6>
      <a:hlink>
        <a:srgbClr val="5FCBFB"/>
      </a:hlink>
      <a:folHlink>
        <a:srgbClr val="B759BC"/>
      </a:folHlink>
    </a:clrScheme>
    <a:fontScheme name="自定义 18">
      <a:majorFont>
        <a:latin typeface="汉仪雅酷黑 65W"/>
        <a:ea typeface="汉仪雅酷黑 65W"/>
        <a:cs typeface=""/>
      </a:majorFont>
      <a:minorFont>
        <a:latin typeface="汉仪旗黑-45S"/>
        <a:ea typeface="汉仪旗黑-45S"/>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817</TotalTime>
  <Words>1352</Words>
  <Application>Microsoft Office PowerPoint</Application>
  <PresentationFormat>宽屏</PresentationFormat>
  <Paragraphs>84</Paragraphs>
  <Slides>17</Slides>
  <Notes>10</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17</vt:i4>
      </vt:variant>
    </vt:vector>
  </HeadingPairs>
  <TitlesOfParts>
    <vt:vector size="27" baseType="lpstr">
      <vt:lpstr>汉仪旗黑-45S</vt:lpstr>
      <vt:lpstr>思源宋体</vt:lpstr>
      <vt:lpstr>微软雅黑</vt:lpstr>
      <vt:lpstr>Arial</vt:lpstr>
      <vt:lpstr>Calibri</vt:lpstr>
      <vt:lpstr>Times New Roman</vt:lpstr>
      <vt:lpstr>Wingdings</vt:lpstr>
      <vt:lpstr>第一PPT，www.1ppt.com</vt:lpstr>
      <vt:lpstr>第一PPT，www.1ppt.com </vt:lpstr>
      <vt:lpstr>自定义设计方案</vt:lpstr>
      <vt:lpstr>PowerPoint 演示文稿</vt:lpstr>
      <vt:lpstr>PowerPoint 演示文稿</vt:lpstr>
      <vt:lpstr>PowerPoint 演示文稿</vt:lpstr>
      <vt:lpstr>01.多模态立场检测任务</vt:lpstr>
      <vt:lpstr>01.双过程理论</vt:lpstr>
      <vt:lpstr>PowerPoint 演示文稿</vt:lpstr>
      <vt:lpstr>02.问题剖析</vt:lpstr>
      <vt:lpstr>PowerPoint 演示文稿</vt:lpstr>
      <vt:lpstr>03.框架设计</vt:lpstr>
      <vt:lpstr>03.框架设计</vt:lpstr>
      <vt:lpstr>03.框架设计</vt:lpstr>
      <vt:lpstr>03.框架设计</vt:lpstr>
      <vt:lpstr>PowerPoint 演示文稿</vt:lpstr>
      <vt:lpstr>04.实验设置</vt:lpstr>
      <vt:lpstr>04.实验结果</vt:lpstr>
      <vt:lpstr>04.实验结果</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description>www.1ppt.com</dc:description>
  <cp:lastModifiedBy>正达 金</cp:lastModifiedBy>
  <cp:revision>29</cp:revision>
  <dcterms:created xsi:type="dcterms:W3CDTF">2022-03-22T04:00:00Z</dcterms:created>
  <dcterms:modified xsi:type="dcterms:W3CDTF">2025-11-12T08:26:02Z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B2CFBE5D82A249AF984D70F277C2B786_12</vt:lpwstr>
  </property>
  <property fmtid="{D5CDD505-2E9C-101B-9397-08002B2CF9AE}" pid="3" name="KSOProductBuildVer">
    <vt:lpwstr>2052-12.1.0.15374</vt:lpwstr>
  </property>
</Properties>
</file>