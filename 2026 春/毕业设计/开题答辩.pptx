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3.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737" r:id="rId3"/>
  </p:sldMasterIdLst>
  <p:notesMasterIdLst>
    <p:notesMasterId r:id="rId23"/>
  </p:notesMasterIdLst>
  <p:handoutMasterIdLst>
    <p:handoutMasterId r:id="rId24"/>
  </p:handoutMasterIdLst>
  <p:sldIdLst>
    <p:sldId id="691" r:id="rId4"/>
    <p:sldId id="714" r:id="rId5"/>
    <p:sldId id="693" r:id="rId6"/>
    <p:sldId id="715" r:id="rId7"/>
    <p:sldId id="716" r:id="rId8"/>
    <p:sldId id="717" r:id="rId9"/>
    <p:sldId id="696" r:id="rId10"/>
    <p:sldId id="697" r:id="rId11"/>
    <p:sldId id="718" r:id="rId12"/>
    <p:sldId id="719" r:id="rId13"/>
    <p:sldId id="720" r:id="rId14"/>
    <p:sldId id="721" r:id="rId15"/>
    <p:sldId id="722" r:id="rId16"/>
    <p:sldId id="723" r:id="rId17"/>
    <p:sldId id="726" r:id="rId18"/>
    <p:sldId id="727" r:id="rId19"/>
    <p:sldId id="728" r:id="rId20"/>
    <p:sldId id="729" r:id="rId21"/>
    <p:sldId id="730"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1"/>
    <a:srgbClr val="022539"/>
    <a:srgbClr val="FB991C"/>
    <a:srgbClr val="1E7590"/>
    <a:srgbClr val="666666"/>
    <a:srgbClr val="DEDAD7"/>
    <a:srgbClr val="72929D"/>
    <a:srgbClr val="8A8A8A"/>
    <a:srgbClr val="535D5F"/>
    <a:srgbClr val="7293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2" autoAdjust="0"/>
    <p:restoredTop sz="87671" autoAdjust="0"/>
  </p:normalViewPr>
  <p:slideViewPr>
    <p:cSldViewPr snapToGrid="0">
      <p:cViewPr varScale="1">
        <p:scale>
          <a:sx n="90" d="100"/>
          <a:sy n="90" d="100"/>
        </p:scale>
        <p:origin x="696" y="6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2025/10/21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232209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45S" panose="00020600040101010101" pitchFamily="18" charset="-122"/>
                <a:ea typeface="汉仪旗黑-45S" panose="00020600040101010101" pitchFamily="18" charset="-122"/>
              </a:defRPr>
            </a:lvl1pPr>
          </a:lstStyle>
          <a:p>
            <a:fld id="{F87F258B-B836-4A03-90D9-E39CD78388D8}" type="datetimeFigureOut">
              <a:rPr lang="zh-CN" altLang="en-US" smtClean="0"/>
              <a:t>2025/10/21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45S" panose="00020600040101010101" pitchFamily="18" charset="-122"/>
                <a:ea typeface="汉仪旗黑-45S" panose="00020600040101010101" pitchFamily="18" charset="-122"/>
              </a:defRPr>
            </a:lvl1pPr>
          </a:lstStyle>
          <a:p>
            <a:fld id="{56961F87-20C5-4746-9C61-F4321B4DA788}" type="slidenum">
              <a:rPr lang="zh-CN" altLang="en-US" smtClean="0"/>
              <a:t>‹#›</a:t>
            </a:fld>
            <a:endParaRPr lang="zh-CN" altLang="en-US" dirty="0"/>
          </a:p>
        </p:txBody>
      </p:sp>
    </p:spTree>
    <p:extLst>
      <p:ext uri="{BB962C8B-B14F-4D97-AF65-F5344CB8AC3E}">
        <p14:creationId xmlns:p14="http://schemas.microsoft.com/office/powerpoint/2010/main" val="25796837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1pPr>
    <a:lvl2pPr marL="4572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2pPr>
    <a:lvl3pPr marL="9144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3pPr>
    <a:lvl4pPr marL="13716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4pPr>
    <a:lvl5pPr marL="18288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131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768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02243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73968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1A28-0A0F-39D1-F78B-2AA16FCC6A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FCFAF-F408-D784-A890-096CAE4CB9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F92F0D-217D-72B4-54FD-030B30259A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20479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E398D-6DD0-8EDE-F734-CDF937B364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43E5D0-76A6-D338-95F9-1CECD0BF57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1C6E9-103F-E2A2-5C49-5D9E43E1955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8237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EAB3-9FB5-88CD-1BB2-DEA787C3F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DFFF-5DDF-00F0-E6D0-0B52F1DAF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5D35B4-D79F-610B-1295-57AF47E417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39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523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39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9701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1700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657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5397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338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2019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02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1836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915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942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821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158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64636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236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643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2068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88568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211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7577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208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2719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54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0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3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0620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816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875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327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198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436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796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186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27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2739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4378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9781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087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376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282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991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6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918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9954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0344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808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000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6929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948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770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14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53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61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2496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357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96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421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296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244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09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9963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687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81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14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877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361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71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7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875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26830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5545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8524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2025/10/21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459963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2025/10/21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490655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6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61" Type="http://schemas.openxmlformats.org/officeDocument/2006/relationships/slideLayout" Target="../slideLayouts/slideLayout68.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80" Type="http://schemas.openxmlformats.org/officeDocument/2006/relationships/slideLayout" Target="../slideLayouts/slideLayout87.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slideLayout" Target="../slideLayouts/slideLayout89.xml"/><Relationship Id="rId1" Type="http://schemas.openxmlformats.org/officeDocument/2006/relationships/slideLayout" Target="../slideLayouts/slideLayout8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661" r:id="rId78"/>
    <p:sldLayoutId id="2147483662" r:id="rId79"/>
    <p:sldLayoutId id="2147483663"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3731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26" Type="http://schemas.openxmlformats.org/officeDocument/2006/relationships/image" Target="../media/image1.jpeg"/><Relationship Id="rId3" Type="http://schemas.openxmlformats.org/officeDocument/2006/relationships/tags" Target="../tags/tag16.xml"/><Relationship Id="rId21" Type="http://schemas.openxmlformats.org/officeDocument/2006/relationships/tags" Target="../tags/tag3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5" Type="http://schemas.openxmlformats.org/officeDocument/2006/relationships/notesSlide" Target="../notesSlides/notesSlide2.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24" Type="http://schemas.openxmlformats.org/officeDocument/2006/relationships/slideLayout" Target="../slideLayouts/slideLayout8.xml"/><Relationship Id="rId5" Type="http://schemas.openxmlformats.org/officeDocument/2006/relationships/tags" Target="../tags/tag18.xml"/><Relationship Id="rId15" Type="http://schemas.openxmlformats.org/officeDocument/2006/relationships/tags" Target="../tags/tag28.xml"/><Relationship Id="rId23" Type="http://schemas.openxmlformats.org/officeDocument/2006/relationships/tags" Target="../tags/tag36.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tags" Target="../tags/tag35.xml"/><Relationship Id="rId27"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0.xml"/><Relationship Id="rId1" Type="http://schemas.openxmlformats.org/officeDocument/2006/relationships/tags" Target="../tags/tag3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4.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notesSlide" Target="../notesSlides/notesSlide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11.xml"/><Relationship Id="rId5" Type="http://schemas.openxmlformats.org/officeDocument/2006/relationships/tags" Target="../tags/tag51.xml"/><Relationship Id="rId4" Type="http://schemas.openxmlformats.org/officeDocument/2006/relationships/tags" Target="../tags/tag50.xml"/></Relationships>
</file>

<file path=ppt/slides/_rels/slide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11.xml"/><Relationship Id="rId5" Type="http://schemas.openxmlformats.org/officeDocument/2006/relationships/tags" Target="../tags/tag56.xml"/><Relationship Id="rId4" Type="http://schemas.openxmlformats.org/officeDocument/2006/relationships/tags" Target="../tags/tag55.xml"/></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7" Type="http://schemas.openxmlformats.org/officeDocument/2006/relationships/notesSlide" Target="../notesSlides/notesSlide4.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11.xml"/><Relationship Id="rId5" Type="http://schemas.openxmlformats.org/officeDocument/2006/relationships/tags" Target="../tags/tag61.xml"/><Relationship Id="rId4" Type="http://schemas.openxmlformats.org/officeDocument/2006/relationships/tags" Target="../tags/tag6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tags" Target="../tags/tag7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notesSlide" Target="../notesSlides/notesSlide5.xml"/><Relationship Id="rId5" Type="http://schemas.openxmlformats.org/officeDocument/2006/relationships/tags" Target="../tags/tag68.xml"/><Relationship Id="rId10" Type="http://schemas.openxmlformats.org/officeDocument/2006/relationships/slideLayout" Target="../slideLayouts/slideLayout11.xml"/><Relationship Id="rId4" Type="http://schemas.openxmlformats.org/officeDocument/2006/relationships/tags" Target="../tags/tag67.xml"/><Relationship Id="rId9" Type="http://schemas.openxmlformats.org/officeDocument/2006/relationships/tags" Target="../tags/tag72.xml"/></Relationships>
</file>

<file path=ppt/slides/_rels/slide13.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notesSlide" Target="../notesSlides/notesSlide6.xml"/><Relationship Id="rId5" Type="http://schemas.openxmlformats.org/officeDocument/2006/relationships/tags" Target="../tags/tag77.xml"/><Relationship Id="rId10" Type="http://schemas.openxmlformats.org/officeDocument/2006/relationships/slideLayout" Target="../slideLayouts/slideLayout11.xml"/><Relationship Id="rId4" Type="http://schemas.openxmlformats.org/officeDocument/2006/relationships/tags" Target="../tags/tag76.xml"/><Relationship Id="rId9" Type="http://schemas.openxmlformats.org/officeDocument/2006/relationships/tags" Target="../tags/tag81.xml"/></Relationships>
</file>

<file path=ppt/slides/_rels/slide14.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9"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00.xml"/></Relationships>
</file>

<file path=ppt/slides/_rels/slide18.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slideLayout" Target="../slideLayouts/slideLayout11.xm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tags" Target="../tags/tag112.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tags" Target="../tags/tag111.xml"/><Relationship Id="rId5" Type="http://schemas.openxmlformats.org/officeDocument/2006/relationships/tags" Target="../tags/tag105.xm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稻壳儿智宇https://www.docer.com/works?userid=328340712" descr="背景图案&#10;&#10;描述已自动生成"/>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p:cNvSpPr/>
          <p:nvPr/>
        </p:nvSpPr>
        <p:spPr>
          <a:xfrm>
            <a:off x="1791380" y="2467685"/>
            <a:ext cx="8609237" cy="2031325"/>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认知双过程驱动的</a:t>
            </a:r>
            <a:endParaRPr lang="en-US" altLang="zh-CN" sz="6600" dirty="0">
              <a:solidFill>
                <a:schemeClr val="lt1"/>
              </a:solidFill>
              <a:latin typeface="思源宋体" panose="02020400000000000000" pitchFamily="18" charset="-122"/>
              <a:ea typeface="思源宋体" panose="02020400000000000000" pitchFamily="18" charset="-122"/>
              <a:sym typeface="微软雅黑"/>
            </a:endParaRPr>
          </a:p>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多模态立场检测</a:t>
            </a:r>
          </a:p>
        </p:txBody>
      </p:sp>
      <p:sp>
        <p:nvSpPr>
          <p:cNvPr id="4" name="稻壳儿智宇https://www.docer.com/works?userid=328340712">
            <a:extLst>
              <a:ext uri="{FF2B5EF4-FFF2-40B4-BE49-F238E27FC236}">
                <a16:creationId xmlns:a16="http://schemas.microsoft.com/office/drawing/2014/main" id="{75325AA1-304B-B428-3288-4E10BA09D632}"/>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答辩人：金正达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7AB70BEB-A434-D6A2-6B72-0238D6597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稻壳儿智宇https://www.docer.com/works?userid=328340712" descr="背景图案&#10;&#10;描述已自动生成"/>
          <p:cNvPicPr>
            <a:picLocks noChangeAspect="1"/>
          </p:cNvPicPr>
          <p:nvPr/>
        </p:nvPicPr>
        <p:blipFill>
          <a:blip r:embed="rId26" cstate="print"/>
          <a:srcRect/>
          <a:stretch>
            <a:fillRect/>
          </a:stretch>
        </p:blipFill>
        <p:spPr>
          <a:xfrm>
            <a:off x="0" y="0"/>
            <a:ext cx="12192000" cy="6858000"/>
          </a:xfrm>
          <a:prstGeom prst="rect">
            <a:avLst/>
          </a:prstGeom>
        </p:spPr>
      </p:pic>
      <p:sp>
        <p:nvSpPr>
          <p:cNvPr id="24" name="稻壳儿智宇https://www.docer.com/works?userid=328340712"/>
          <p:cNvSpPr/>
          <p:nvPr>
            <p:custDataLst>
              <p:tags r:id="rId1"/>
            </p:custDataLst>
          </p:nvPr>
        </p:nvSpPr>
        <p:spPr>
          <a:xfrm>
            <a:off x="0" y="0"/>
            <a:ext cx="12192000" cy="1927285"/>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60" name="稻壳儿智宇https://www.docer.com/works?userid=328340712"/>
          <p:cNvSpPr/>
          <p:nvPr/>
        </p:nvSpPr>
        <p:spPr>
          <a:xfrm>
            <a:off x="613433" y="821166"/>
            <a:ext cx="1119116" cy="677108"/>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cs typeface="+mn-cs"/>
                <a:sym typeface="微软雅黑"/>
              </a:rPr>
              <a:t>目录</a:t>
            </a:r>
          </a:p>
        </p:txBody>
      </p:sp>
      <p:sp>
        <p:nvSpPr>
          <p:cNvPr id="61" name="稻壳儿智宇https://www.docer.com/works?userid=328340712"/>
          <p:cNvSpPr/>
          <p:nvPr>
            <p:custDataLst>
              <p:tags r:id="rId2"/>
            </p:custDataLst>
          </p:nvPr>
        </p:nvSpPr>
        <p:spPr>
          <a:xfrm>
            <a:off x="1935678" y="1159720"/>
            <a:ext cx="1605688" cy="276999"/>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CONTENT</a:t>
            </a:r>
          </a:p>
        </p:txBody>
      </p:sp>
      <p:sp>
        <p:nvSpPr>
          <p:cNvPr id="15" name="稻壳儿智宇https://www.docer.com/works?userid=328340712"/>
          <p:cNvSpPr/>
          <p:nvPr>
            <p:custDataLst>
              <p:tags r:id="rId3"/>
            </p:custDataLst>
          </p:nvPr>
        </p:nvSpPr>
        <p:spPr>
          <a:xfrm>
            <a:off x="9050208"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1" name="稻壳儿智宇https://www.docer.com/works?userid=328340712"/>
          <p:cNvSpPr/>
          <p:nvPr>
            <p:custDataLst>
              <p:tags r:id="rId4"/>
            </p:custDataLst>
          </p:nvPr>
        </p:nvSpPr>
        <p:spPr>
          <a:xfrm rot="2700000">
            <a:off x="10070063"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7" name="稻壳儿智宇https://www.docer.com/works?userid=328340712"/>
          <p:cNvSpPr/>
          <p:nvPr>
            <p:custDataLst>
              <p:tags r:id="rId5"/>
            </p:custDataLst>
          </p:nvPr>
        </p:nvSpPr>
        <p:spPr>
          <a:xfrm rot="2700000">
            <a:off x="9970921"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9" name="稻壳儿智宇https://www.docer.com/works?userid=328340712"/>
          <p:cNvSpPr/>
          <p:nvPr>
            <p:custDataLst>
              <p:tags r:id="rId6"/>
            </p:custDataLst>
          </p:nvPr>
        </p:nvSpPr>
        <p:spPr>
          <a:xfrm>
            <a:off x="9995873"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04</a:t>
            </a:r>
          </a:p>
        </p:txBody>
      </p:sp>
      <p:sp>
        <p:nvSpPr>
          <p:cNvPr id="57" name="稻壳儿智宇https://www.docer.com/works?userid=328340712"/>
          <p:cNvSpPr txBox="1"/>
          <p:nvPr>
            <p:custDataLst>
              <p:tags r:id="rId7"/>
            </p:custDataLst>
          </p:nvPr>
        </p:nvSpPr>
        <p:spPr>
          <a:xfrm>
            <a:off x="9000976"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预期安排及困难</a:t>
            </a:r>
          </a:p>
        </p:txBody>
      </p:sp>
      <p:sp>
        <p:nvSpPr>
          <p:cNvPr id="13" name="稻壳儿智宇https://www.docer.com/works?userid=328340712"/>
          <p:cNvSpPr/>
          <p:nvPr>
            <p:custDataLst>
              <p:tags r:id="rId8"/>
            </p:custDataLst>
          </p:nvPr>
        </p:nvSpPr>
        <p:spPr>
          <a:xfrm>
            <a:off x="3421860"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0" name="稻壳儿智宇https://www.docer.com/works?userid=328340712"/>
          <p:cNvSpPr/>
          <p:nvPr>
            <p:custDataLst>
              <p:tags r:id="rId9"/>
            </p:custDataLst>
          </p:nvPr>
        </p:nvSpPr>
        <p:spPr>
          <a:xfrm rot="2700000">
            <a:off x="4432918"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0" name="稻壳儿智宇https://www.docer.com/works?userid=328340712"/>
          <p:cNvSpPr/>
          <p:nvPr>
            <p:custDataLst>
              <p:tags r:id="rId10"/>
            </p:custDataLst>
          </p:nvPr>
        </p:nvSpPr>
        <p:spPr>
          <a:xfrm rot="2700000">
            <a:off x="4333776"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2" name="稻壳儿智宇https://www.docer.com/works?userid=328340712"/>
          <p:cNvSpPr/>
          <p:nvPr>
            <p:custDataLst>
              <p:tags r:id="rId11"/>
            </p:custDataLst>
          </p:nvPr>
        </p:nvSpPr>
        <p:spPr>
          <a:xfrm>
            <a:off x="4358728"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02</a:t>
            </a:r>
          </a:p>
        </p:txBody>
      </p:sp>
      <p:sp>
        <p:nvSpPr>
          <p:cNvPr id="51" name="稻壳儿智宇https://www.docer.com/works?userid=328340712"/>
          <p:cNvSpPr txBox="1"/>
          <p:nvPr>
            <p:custDataLst>
              <p:tags r:id="rId12"/>
            </p:custDataLst>
          </p:nvPr>
        </p:nvSpPr>
        <p:spPr>
          <a:xfrm>
            <a:off x="3376459"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研究现状及分析</a:t>
            </a:r>
          </a:p>
        </p:txBody>
      </p:sp>
      <p:sp>
        <p:nvSpPr>
          <p:cNvPr id="14" name="稻壳儿智宇https://www.docer.com/works?userid=328340712"/>
          <p:cNvSpPr/>
          <p:nvPr>
            <p:custDataLst>
              <p:tags r:id="rId13"/>
            </p:custDataLst>
          </p:nvPr>
        </p:nvSpPr>
        <p:spPr>
          <a:xfrm>
            <a:off x="6237949"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2" name="稻壳儿智宇https://www.docer.com/works?userid=328340712"/>
          <p:cNvSpPr/>
          <p:nvPr>
            <p:custDataLst>
              <p:tags r:id="rId14"/>
            </p:custDataLst>
          </p:nvPr>
        </p:nvSpPr>
        <p:spPr>
          <a:xfrm rot="2700000">
            <a:off x="7251489"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3" name="稻壳儿智宇https://www.docer.com/works?userid=328340712"/>
          <p:cNvSpPr/>
          <p:nvPr>
            <p:custDataLst>
              <p:tags r:id="rId15"/>
            </p:custDataLst>
          </p:nvPr>
        </p:nvSpPr>
        <p:spPr>
          <a:xfrm rot="2700000">
            <a:off x="7152347"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5" name="稻壳儿智宇https://www.docer.com/works?userid=328340712"/>
          <p:cNvSpPr/>
          <p:nvPr>
            <p:custDataLst>
              <p:tags r:id="rId16"/>
            </p:custDataLst>
          </p:nvPr>
        </p:nvSpPr>
        <p:spPr>
          <a:xfrm>
            <a:off x="7177299"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03</a:t>
            </a:r>
          </a:p>
        </p:txBody>
      </p:sp>
      <p:sp>
        <p:nvSpPr>
          <p:cNvPr id="54" name="稻壳儿智宇https://www.docer.com/works?userid=328340712"/>
          <p:cNvSpPr txBox="1"/>
          <p:nvPr>
            <p:custDataLst>
              <p:tags r:id="rId17"/>
            </p:custDataLst>
          </p:nvPr>
        </p:nvSpPr>
        <p:spPr>
          <a:xfrm>
            <a:off x="6188717"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研究内容及方案</a:t>
            </a:r>
          </a:p>
        </p:txBody>
      </p:sp>
      <p:sp>
        <p:nvSpPr>
          <p:cNvPr id="12" name="稻壳儿智宇https://www.docer.com/works?userid=328340712"/>
          <p:cNvSpPr/>
          <p:nvPr>
            <p:custDataLst>
              <p:tags r:id="rId18"/>
            </p:custDataLst>
          </p:nvPr>
        </p:nvSpPr>
        <p:spPr>
          <a:xfrm>
            <a:off x="613433"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59" name="稻壳儿智宇https://www.docer.com/works?userid=328340712"/>
          <p:cNvSpPr/>
          <p:nvPr>
            <p:custDataLst>
              <p:tags r:id="rId19"/>
            </p:custDataLst>
          </p:nvPr>
        </p:nvSpPr>
        <p:spPr>
          <a:xfrm rot="2700000">
            <a:off x="1614346"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6" name="稻壳儿智宇https://www.docer.com/works?userid=328340712"/>
          <p:cNvSpPr/>
          <p:nvPr>
            <p:custDataLst>
              <p:tags r:id="rId20"/>
            </p:custDataLst>
          </p:nvPr>
        </p:nvSpPr>
        <p:spPr>
          <a:xfrm rot="2700000">
            <a:off x="1515204"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8" name="稻壳儿智宇https://www.docer.com/works?userid=328340712"/>
          <p:cNvSpPr/>
          <p:nvPr>
            <p:custDataLst>
              <p:tags r:id="rId21"/>
            </p:custDataLst>
          </p:nvPr>
        </p:nvSpPr>
        <p:spPr>
          <a:xfrm>
            <a:off x="1540156"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01</a:t>
            </a:r>
          </a:p>
        </p:txBody>
      </p:sp>
      <p:sp>
        <p:nvSpPr>
          <p:cNvPr id="48" name="稻壳儿智宇https://www.docer.com/works?userid=328340712"/>
          <p:cNvSpPr txBox="1"/>
          <p:nvPr>
            <p:custDataLst>
              <p:tags r:id="rId22"/>
            </p:custDataLst>
          </p:nvPr>
        </p:nvSpPr>
        <p:spPr>
          <a:xfrm>
            <a:off x="564201"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研究背景及意义</a:t>
            </a:r>
          </a:p>
        </p:txBody>
      </p:sp>
      <p:cxnSp>
        <p:nvCxnSpPr>
          <p:cNvPr id="19" name="稻壳儿智宇https://www.docer.com/works?userid=328340712" hidden="1"/>
          <p:cNvCxnSpPr/>
          <p:nvPr>
            <p:custDataLst>
              <p:tags r:id="rId23"/>
            </p:custDataLst>
          </p:nvPr>
        </p:nvCxnSpPr>
        <p:spPr>
          <a:xfrm flipH="1">
            <a:off x="613433" y="1680244"/>
            <a:ext cx="109689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行业</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PPT</a:t>
            </a: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模板</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http://www.1ppt.com/hangye/</a:t>
            </a:r>
          </a:p>
        </p:txBody>
      </p:sp>
      <p:pic>
        <p:nvPicPr>
          <p:cNvPr id="6" name="图片 5">
            <a:extLst>
              <a:ext uri="{FF2B5EF4-FFF2-40B4-BE49-F238E27FC236}">
                <a16:creationId xmlns:a16="http://schemas.microsoft.com/office/drawing/2014/main" id="{9F607593-D368-C89E-0479-A4BA7C9D81F0}"/>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237424" y="934321"/>
            <a:ext cx="3707965" cy="6793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01</a:t>
            </a:r>
          </a:p>
        </p:txBody>
      </p:sp>
      <p:sp>
        <p:nvSpPr>
          <p:cNvPr id="19" name="稻壳儿智宇https://www.docer.com/works?userid=328340712"/>
          <p:cNvSpPr>
            <a:spLocks noGrp="1"/>
          </p:cNvSpPr>
          <p:nvPr>
            <p:ph type="body" sz="quarter" idx="12"/>
          </p:nvPr>
        </p:nvSpPr>
        <p:spPr>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研究背景及意义</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one</a:t>
            </a:r>
          </a:p>
        </p:txBody>
      </p:sp>
      <p:pic>
        <p:nvPicPr>
          <p:cNvPr id="2" name="图片 1">
            <a:extLst>
              <a:ext uri="{FF2B5EF4-FFF2-40B4-BE49-F238E27FC236}">
                <a16:creationId xmlns:a16="http://schemas.microsoft.com/office/drawing/2014/main" id="{FD380396-68BB-126C-EF92-2D1D40A9E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稻壳儿智宇https://www.docer.com/works?userid=328340712"/>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研究</a:t>
            </a:r>
            <a:r>
              <a:rPr lang="zh-CN" altLang="en-US" dirty="0">
                <a:solidFill>
                  <a:schemeClr val="accent1"/>
                </a:solidFill>
                <a:latin typeface="思源宋体" panose="02020400000000000000" pitchFamily="18" charset="-122"/>
                <a:ea typeface="思源宋体" panose="02020400000000000000" pitchFamily="18" charset="-122"/>
                <a:sym typeface="微软雅黑"/>
              </a:rPr>
              <a:t>背景</a:t>
            </a:r>
          </a:p>
        </p:txBody>
      </p:sp>
      <p:sp>
        <p:nvSpPr>
          <p:cNvPr id="6" name="稻壳儿智宇https://www.docer.com/works?userid=328340712"/>
          <p:cNvSpPr txBox="1"/>
          <p:nvPr>
            <p:custDataLst>
              <p:tags r:id="rId2"/>
            </p:custDataLst>
          </p:nvPr>
        </p:nvSpPr>
        <p:spPr>
          <a:xfrm>
            <a:off x="599690" y="1080118"/>
            <a:ext cx="8410496" cy="4062651"/>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随着支持图文等多种形式内容的社交媒体平台的普及，多模态立场检测已成为理解公众意见的关键任务。多模态立场检测旨在通过综合分析文本与图像两种信息，识别出用户对于特定目标的所表达的态度。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当前，已有的多模态立场检测方法主要致力于提升模型提取多模态特征的能力。然而，这些方法大多倾向于简单地融合来自不同模态的信息来学习立场表达，却忽略了一个关键问题：在不同的样本中，不同模态（文本或图像）对最终立场决策的贡献度是动态变化的。</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A164-29A4-9177-C0A0-7E1DC553A79C}"/>
            </a:ext>
          </a:extLst>
        </p:cNvPr>
        <p:cNvGrpSpPr/>
        <p:nvPr/>
      </p:nvGrpSpPr>
      <p:grpSpPr>
        <a:xfrm>
          <a:off x="0" y="0"/>
          <a:ext cx="0" cy="0"/>
          <a:chOff x="0" y="0"/>
          <a:chExt cx="0" cy="0"/>
        </a:xfrm>
      </p:grpSpPr>
      <p:sp>
        <p:nvSpPr>
          <p:cNvPr id="17" name="稻壳儿智宇https://www.docer.com/works?userid=328340712">
            <a:extLst>
              <a:ext uri="{FF2B5EF4-FFF2-40B4-BE49-F238E27FC236}">
                <a16:creationId xmlns:a16="http://schemas.microsoft.com/office/drawing/2014/main" id="{8C90744B-B063-5573-6537-156BF757B1F7}"/>
              </a:ext>
            </a:extLst>
          </p:cNvPr>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a:extLst>
              <a:ext uri="{FF2B5EF4-FFF2-40B4-BE49-F238E27FC236}">
                <a16:creationId xmlns:a16="http://schemas.microsoft.com/office/drawing/2014/main" id="{485D1E19-9F5E-A836-6843-31D33FFD7F7A}"/>
              </a:ext>
            </a:extLst>
          </p:cNvPr>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研究</a:t>
            </a:r>
            <a:r>
              <a:rPr lang="zh-CN" altLang="en-US" dirty="0">
                <a:solidFill>
                  <a:schemeClr val="accent1"/>
                </a:solidFill>
                <a:latin typeface="思源宋体" panose="02020400000000000000" pitchFamily="18" charset="-122"/>
                <a:ea typeface="思源宋体" panose="02020400000000000000" pitchFamily="18" charset="-122"/>
                <a:sym typeface="微软雅黑"/>
              </a:rPr>
              <a:t>背景</a:t>
            </a:r>
          </a:p>
        </p:txBody>
      </p:sp>
      <p:sp>
        <p:nvSpPr>
          <p:cNvPr id="6" name="稻壳儿智宇https://www.docer.com/works?userid=328340712">
            <a:extLst>
              <a:ext uri="{FF2B5EF4-FFF2-40B4-BE49-F238E27FC236}">
                <a16:creationId xmlns:a16="http://schemas.microsoft.com/office/drawing/2014/main" id="{519DB25F-9FB3-F3A5-9B17-98A5CD5BE4A5}"/>
              </a:ext>
            </a:extLst>
          </p:cNvPr>
          <p:cNvSpPr txBox="1"/>
          <p:nvPr>
            <p:custDataLst>
              <p:tags r:id="rId2"/>
            </p:custDataLst>
          </p:nvPr>
        </p:nvSpPr>
        <p:spPr>
          <a:xfrm>
            <a:off x="599690" y="1080118"/>
            <a:ext cx="5749072" cy="4193136"/>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现有研究在这一方面存在两点主要局限：</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单一模态信息的价值高度依赖于上下文。在某些情境下，独立的文本或图像可能含义模糊或与主题无关，无法为立场检测提供有效证据。</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模态间的语义关系并非固定不变，而是从互补到矛盾动态变化的。简单的特征对齐或融合策略难以驾驭这种复杂的相互作用。</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7" name="图片 6">
            <a:extLst>
              <a:ext uri="{FF2B5EF4-FFF2-40B4-BE49-F238E27FC236}">
                <a16:creationId xmlns:a16="http://schemas.microsoft.com/office/drawing/2014/main" id="{F7E16FDC-85DD-828A-0CEF-1722BC8C63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27182" y="1144670"/>
            <a:ext cx="5243548" cy="4275129"/>
          </a:xfrm>
          <a:prstGeom prst="rect">
            <a:avLst/>
          </a:prstGeom>
        </p:spPr>
      </p:pic>
    </p:spTree>
    <p:extLst>
      <p:ext uri="{BB962C8B-B14F-4D97-AF65-F5344CB8AC3E}">
        <p14:creationId xmlns:p14="http://schemas.microsoft.com/office/powerpoint/2010/main" val="170014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1A8D-6FF5-162E-F862-F53571BE8D5C}"/>
            </a:ext>
          </a:extLst>
        </p:cNvPr>
        <p:cNvGrpSpPr/>
        <p:nvPr/>
      </p:nvGrpSpPr>
      <p:grpSpPr>
        <a:xfrm>
          <a:off x="0" y="0"/>
          <a:ext cx="0" cy="0"/>
          <a:chOff x="0" y="0"/>
          <a:chExt cx="0" cy="0"/>
        </a:xfrm>
      </p:grpSpPr>
      <p:sp>
        <p:nvSpPr>
          <p:cNvPr id="17" name="稻壳儿智宇https://www.docer.com/works?userid=328340712">
            <a:extLst>
              <a:ext uri="{FF2B5EF4-FFF2-40B4-BE49-F238E27FC236}">
                <a16:creationId xmlns:a16="http://schemas.microsoft.com/office/drawing/2014/main" id="{42D81B05-4231-D4F1-F41F-71615CE61FF1}"/>
              </a:ext>
            </a:extLst>
          </p:cNvPr>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a:extLst>
              <a:ext uri="{FF2B5EF4-FFF2-40B4-BE49-F238E27FC236}">
                <a16:creationId xmlns:a16="http://schemas.microsoft.com/office/drawing/2014/main" id="{2368E8F3-AB6E-0C1A-2965-D4DAA7FCDDC4}"/>
              </a:ext>
            </a:extLst>
          </p:cNvPr>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研究意义</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a:extLst>
              <a:ext uri="{FF2B5EF4-FFF2-40B4-BE49-F238E27FC236}">
                <a16:creationId xmlns:a16="http://schemas.microsoft.com/office/drawing/2014/main" id="{CEDF3F4C-8136-A232-64B4-B3DA6D0B3606}"/>
              </a:ext>
            </a:extLst>
          </p:cNvPr>
          <p:cNvSpPr txBox="1"/>
          <p:nvPr>
            <p:custDataLst>
              <p:tags r:id="rId2"/>
            </p:custDataLst>
          </p:nvPr>
        </p:nvSpPr>
        <p:spPr>
          <a:xfrm>
            <a:off x="599691" y="1080118"/>
            <a:ext cx="8507138" cy="5116465"/>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本课题的研究意义主要体现在理论创新与实践应用两个层面：</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在理论层面，本研究引入人类认知的“双过程理论”，构建融合直觉与反思推理的双重推理范式。这一探索挑战当前主流静态融合模式，为处理模态间质量差异与语义不对齐等长期难题提供新思路，有望推动多模态智能分析领域的进一步发展。</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在实践层面，本研究有望显著提升多模态立场检测的鲁棒性与准确性。模型通过动态评估文本与图像的重要性，自适应学习最优融合策略，更精准捕捉公众情绪和态度。这不仅能为舆情监测提供可靠数据，还能智能降低误导性模态权重，提高虚假信息检测的可信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1612363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研究现状及分析</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two</a:t>
            </a:r>
          </a:p>
        </p:txBody>
      </p:sp>
      <p:pic>
        <p:nvPicPr>
          <p:cNvPr id="3" name="图片 2">
            <a:extLst>
              <a:ext uri="{FF2B5EF4-FFF2-40B4-BE49-F238E27FC236}">
                <a16:creationId xmlns:a16="http://schemas.microsoft.com/office/drawing/2014/main" id="{F7841197-B3C6-971A-EE9A-E6EEF7B6D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rPr>
              <a:t>基于大型语言模型的立场检测研究现状</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39" name="稻壳儿智宇https://www.docer.com/works?userid=328340712"/>
          <p:cNvSpPr txBox="1"/>
          <p:nvPr>
            <p:custDataLst>
              <p:tags r:id="rId2"/>
            </p:custDataLst>
          </p:nvPr>
        </p:nvSpPr>
        <p:spPr>
          <a:xfrm>
            <a:off x="609600" y="993807"/>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研究现状：</a:t>
            </a:r>
          </a:p>
        </p:txBody>
      </p:sp>
      <p:sp>
        <p:nvSpPr>
          <p:cNvPr id="40" name="稻壳儿智宇https://www.docer.com/works?userid=328340712"/>
          <p:cNvSpPr txBox="1"/>
          <p:nvPr>
            <p:custDataLst>
              <p:tags r:id="rId3"/>
            </p:custDataLst>
          </p:nvPr>
        </p:nvSpPr>
        <p:spPr>
          <a:xfrm>
            <a:off x="609600" y="4109678"/>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现状分析：</a:t>
            </a:r>
          </a:p>
        </p:txBody>
      </p:sp>
      <p:sp>
        <p:nvSpPr>
          <p:cNvPr id="19" name="稻壳儿智宇https://www.docer.com/works?userid=328340712"/>
          <p:cNvSpPr txBox="1"/>
          <p:nvPr>
            <p:custDataLst>
              <p:tags r:id="rId4"/>
            </p:custDataLst>
          </p:nvPr>
        </p:nvSpPr>
        <p:spPr>
          <a:xfrm>
            <a:off x="609599" y="1560684"/>
            <a:ext cx="10623396" cy="2346476"/>
          </a:xfrm>
          <a:prstGeom prst="rect">
            <a:avLst/>
          </a:prstGeom>
          <a:noFill/>
        </p:spPr>
        <p:txBody>
          <a:bodyPr wrap="square" rtlCol="0">
            <a:spAutoFit/>
          </a:bodyPr>
          <a:lstStyle/>
          <a:p>
            <a:pPr>
              <a:lnSpc>
                <a:spcPct val="150000"/>
              </a:lnSpc>
            </a:pPr>
            <a:r>
              <a:rPr lang="zh-CN" altLang="en-US" sz="2000" dirty="0">
                <a:latin typeface="思源宋体" panose="02020400000000000000" pitchFamily="18" charset="-122"/>
                <a:ea typeface="思源宋体" panose="02020400000000000000" pitchFamily="18" charset="-122"/>
              </a:rPr>
              <a:t>当前研究更强调利用</a:t>
            </a:r>
            <a:r>
              <a:rPr lang="en-US" altLang="zh-CN" sz="2000" dirty="0">
                <a:latin typeface="思源宋体" panose="02020400000000000000" pitchFamily="18" charset="-122"/>
                <a:ea typeface="思源宋体" panose="02020400000000000000" pitchFamily="18" charset="-122"/>
              </a:rPr>
              <a:t>LLM</a:t>
            </a:r>
            <a:r>
              <a:rPr lang="zh-CN" altLang="en-US" sz="2000" dirty="0">
                <a:latin typeface="思源宋体" panose="02020400000000000000" pitchFamily="18" charset="-122"/>
                <a:ea typeface="思源宋体" panose="02020400000000000000" pitchFamily="18" charset="-122"/>
              </a:rPr>
              <a:t>的零样本与少样本能力，主要包括：</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设计指令化提示，使模型在任务目标和输出格式上获得明确约束；</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结合思维链等逐步推理策略，在弱监督条件下给出较为稳定的判断与解释；</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引入外部知识和结构化证据，弥补模型在事实理解与可追溯性方面的不足；</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采用轻量化参数更新策略，实现小规模微调。</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20" name="稻壳儿智宇https://www.docer.com/works?userid=328340712"/>
          <p:cNvSpPr txBox="1"/>
          <p:nvPr>
            <p:custDataLst>
              <p:tags r:id="rId5"/>
            </p:custDataLst>
          </p:nvPr>
        </p:nvSpPr>
        <p:spPr>
          <a:xfrm>
            <a:off x="609599" y="4646422"/>
            <a:ext cx="9374460" cy="188481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提示多样化的探索等有效提升了复杂场景下的论证能力与结果可解释性。</a:t>
            </a:r>
            <a:endParaRPr lang="en-US" altLang="zh-CN" sz="20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模型仍存在对提示设计敏感、生成理由的可核验性不足以及推理成本较高等问题。</a:t>
            </a:r>
            <a:endParaRPr lang="en-US" altLang="zh-CN" sz="20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如何在保证推理一致性与稳定性的同时兼顾计算效率与可控性是未来研究的重要方向。</a:t>
            </a:r>
            <a:endParaRPr lang="en-US" altLang="zh-CN" sz="2000" dirty="0">
              <a:latin typeface="思源宋体" panose="02020400000000000000" pitchFamily="18" charset="-122"/>
              <a:ea typeface="思源宋体" panose="02020400000000000000" pitchFamily="18" charset="-122"/>
              <a:sym typeface="微软雅黑"/>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03B88-3DAD-177A-9E78-8FC5ADAB54E6}"/>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F1C24CB6-5DDF-07D2-DF78-2890EC814307}"/>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rPr>
              <a:t>多模态立场检测研究现状</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39" name="稻壳儿智宇https://www.docer.com/works?userid=328340712">
            <a:extLst>
              <a:ext uri="{FF2B5EF4-FFF2-40B4-BE49-F238E27FC236}">
                <a16:creationId xmlns:a16="http://schemas.microsoft.com/office/drawing/2014/main" id="{8FD45D0C-CA72-05E9-72C2-1A84DF149A9A}"/>
              </a:ext>
            </a:extLst>
          </p:cNvPr>
          <p:cNvSpPr txBox="1"/>
          <p:nvPr>
            <p:custDataLst>
              <p:tags r:id="rId2"/>
            </p:custDataLst>
          </p:nvPr>
        </p:nvSpPr>
        <p:spPr>
          <a:xfrm>
            <a:off x="609600" y="993807"/>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研究现状：</a:t>
            </a:r>
          </a:p>
        </p:txBody>
      </p:sp>
      <p:sp>
        <p:nvSpPr>
          <p:cNvPr id="40" name="稻壳儿智宇https://www.docer.com/works?userid=328340712">
            <a:extLst>
              <a:ext uri="{FF2B5EF4-FFF2-40B4-BE49-F238E27FC236}">
                <a16:creationId xmlns:a16="http://schemas.microsoft.com/office/drawing/2014/main" id="{CC2AC711-A304-AAFC-B58B-0A89787AA4BD}"/>
              </a:ext>
            </a:extLst>
          </p:cNvPr>
          <p:cNvSpPr txBox="1"/>
          <p:nvPr>
            <p:custDataLst>
              <p:tags r:id="rId3"/>
            </p:custDataLst>
          </p:nvPr>
        </p:nvSpPr>
        <p:spPr>
          <a:xfrm>
            <a:off x="609600" y="4109678"/>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现状分析：</a:t>
            </a:r>
          </a:p>
        </p:txBody>
      </p:sp>
      <p:sp>
        <p:nvSpPr>
          <p:cNvPr id="19" name="稻壳儿智宇https://www.docer.com/works?userid=328340712">
            <a:extLst>
              <a:ext uri="{FF2B5EF4-FFF2-40B4-BE49-F238E27FC236}">
                <a16:creationId xmlns:a16="http://schemas.microsoft.com/office/drawing/2014/main" id="{FC3C45AB-AFF0-BBD2-3E61-AA347EA0FCCC}"/>
              </a:ext>
            </a:extLst>
          </p:cNvPr>
          <p:cNvSpPr txBox="1"/>
          <p:nvPr>
            <p:custDataLst>
              <p:tags r:id="rId4"/>
            </p:custDataLst>
          </p:nvPr>
        </p:nvSpPr>
        <p:spPr>
          <a:xfrm>
            <a:off x="609599" y="1560684"/>
            <a:ext cx="10623396" cy="2346476"/>
          </a:xfrm>
          <a:prstGeom prst="rect">
            <a:avLst/>
          </a:prstGeom>
          <a:noFill/>
        </p:spPr>
        <p:txBody>
          <a:bodyPr wrap="square" rtlCol="0">
            <a:spAutoFit/>
          </a:bodyPr>
          <a:lstStyle/>
          <a:p>
            <a:pPr>
              <a:lnSpc>
                <a:spcPct val="150000"/>
              </a:lnSpc>
            </a:pPr>
            <a:r>
              <a:rPr lang="zh-CN" altLang="en-US" sz="2000" dirty="0">
                <a:latin typeface="思源宋体" panose="02020400000000000000" pitchFamily="18" charset="-122"/>
                <a:ea typeface="思源宋体" panose="02020400000000000000" pitchFamily="18" charset="-122"/>
              </a:rPr>
              <a:t>当前多模态立场检测研究随着社交媒体与短视频内容的兴起而迅速发展，主要包括：</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构建跨模态语义映射，处理不同模态间的上下文依赖与指涉关系；</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改进融合策略，从静态拼接或简单加权转向跨模态注意力机制；</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在视觉</a:t>
            </a:r>
            <a:r>
              <a:rPr lang="en-US" altLang="zh-CN" sz="2000" dirty="0">
                <a:latin typeface="思源宋体" panose="02020400000000000000" pitchFamily="18" charset="-122"/>
                <a:ea typeface="思源宋体" panose="02020400000000000000" pitchFamily="18" charset="-122"/>
              </a:rPr>
              <a:t>—</a:t>
            </a:r>
            <a:r>
              <a:rPr lang="zh-CN" altLang="en-US" sz="2000" dirty="0">
                <a:latin typeface="思源宋体" panose="02020400000000000000" pitchFamily="18" charset="-122"/>
                <a:ea typeface="思源宋体" panose="02020400000000000000" pitchFamily="18" charset="-122"/>
              </a:rPr>
              <a:t>语言预训练框架下，实现文本与图像的细粒度对齐与建模；</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将文本、图像及社会信号等多源信息纳入统一推理过程。</a:t>
            </a:r>
            <a:endParaRPr lang="en-US" altLang="zh-CN" sz="2000" dirty="0">
              <a:latin typeface="思源宋体" panose="02020400000000000000" pitchFamily="18" charset="-122"/>
              <a:ea typeface="思源宋体" panose="02020400000000000000" pitchFamily="18" charset="-122"/>
            </a:endParaRPr>
          </a:p>
        </p:txBody>
      </p:sp>
      <p:sp>
        <p:nvSpPr>
          <p:cNvPr id="20" name="稻壳儿智宇https://www.docer.com/works?userid=328340712">
            <a:extLst>
              <a:ext uri="{FF2B5EF4-FFF2-40B4-BE49-F238E27FC236}">
                <a16:creationId xmlns:a16="http://schemas.microsoft.com/office/drawing/2014/main" id="{D7D0F4B5-B31A-0661-B74E-F641B207F0CC}"/>
              </a:ext>
            </a:extLst>
          </p:cNvPr>
          <p:cNvSpPr txBox="1"/>
          <p:nvPr>
            <p:custDataLst>
              <p:tags r:id="rId5"/>
            </p:custDataLst>
          </p:nvPr>
        </p:nvSpPr>
        <p:spPr>
          <a:xfrm>
            <a:off x="609599" y="4705896"/>
            <a:ext cx="9590050" cy="142314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仍存在动态可靠性估计不足、冲突感知不完善及证据级对齐可解释性较弱等问题。</a:t>
            </a:r>
            <a:endParaRPr lang="en-US" altLang="zh-CN" sz="20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未来研究需在保证融合有效性与推理一致性的同时，提升对复杂语义冲突的感知与解释能力。</a:t>
            </a:r>
            <a:endParaRPr lang="en-US" altLang="zh-CN" sz="2000" dirty="0">
              <a:latin typeface="思源宋体" panose="02020400000000000000" pitchFamily="18" charset="-122"/>
              <a:ea typeface="思源宋体" panose="02020400000000000000" pitchFamily="18" charset="-122"/>
              <a:sym typeface="微软雅黑"/>
            </a:endParaRPr>
          </a:p>
        </p:txBody>
      </p:sp>
    </p:spTree>
    <p:custDataLst>
      <p:tags r:id="rId1"/>
    </p:custDataLst>
    <p:extLst>
      <p:ext uri="{BB962C8B-B14F-4D97-AF65-F5344CB8AC3E}">
        <p14:creationId xmlns:p14="http://schemas.microsoft.com/office/powerpoint/2010/main" val="556618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AF6E-7C58-B232-56DC-D027D93DDA15}"/>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A525E75D-9A24-5D1D-912E-DF214C218C3E}"/>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rPr>
              <a:t>快慢思考机制研究现状</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39" name="稻壳儿智宇https://www.docer.com/works?userid=328340712">
            <a:extLst>
              <a:ext uri="{FF2B5EF4-FFF2-40B4-BE49-F238E27FC236}">
                <a16:creationId xmlns:a16="http://schemas.microsoft.com/office/drawing/2014/main" id="{9DEDEE8A-112F-CB6E-ECC6-89108DEEBE52}"/>
              </a:ext>
            </a:extLst>
          </p:cNvPr>
          <p:cNvSpPr txBox="1"/>
          <p:nvPr>
            <p:custDataLst>
              <p:tags r:id="rId2"/>
            </p:custDataLst>
          </p:nvPr>
        </p:nvSpPr>
        <p:spPr>
          <a:xfrm>
            <a:off x="609600" y="993807"/>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研究现状：</a:t>
            </a:r>
          </a:p>
        </p:txBody>
      </p:sp>
      <p:sp>
        <p:nvSpPr>
          <p:cNvPr id="40" name="稻壳儿智宇https://www.docer.com/works?userid=328340712">
            <a:extLst>
              <a:ext uri="{FF2B5EF4-FFF2-40B4-BE49-F238E27FC236}">
                <a16:creationId xmlns:a16="http://schemas.microsoft.com/office/drawing/2014/main" id="{59587A79-5AB6-4028-8CFB-1B260997A934}"/>
              </a:ext>
            </a:extLst>
          </p:cNvPr>
          <p:cNvSpPr txBox="1"/>
          <p:nvPr>
            <p:custDataLst>
              <p:tags r:id="rId3"/>
            </p:custDataLst>
          </p:nvPr>
        </p:nvSpPr>
        <p:spPr>
          <a:xfrm>
            <a:off x="609600" y="4109678"/>
            <a:ext cx="1890531" cy="393700"/>
          </a:xfrm>
          <a:prstGeom prst="roundRect">
            <a:avLst>
              <a:gd name="adj" fmla="val 50000"/>
            </a:avLst>
          </a:prstGeom>
          <a:solidFill>
            <a:schemeClr val="accent2">
              <a:lumMod val="20000"/>
              <a:lumOff val="80000"/>
            </a:schemeClr>
          </a:solidFill>
        </p:spPr>
        <p:txBody>
          <a:bodyPr wrap="square" lIns="131040" tIns="45720" rIns="91440" bIns="45720" rtlCol="0" anchor="ctr" anchorCtr="0">
            <a:noAutofit/>
          </a:bodyPr>
          <a:lstStyle/>
          <a:p>
            <a:r>
              <a:rPr lang="zh-CN" altLang="en-US" sz="2000" b="1" spc="300" dirty="0">
                <a:solidFill>
                  <a:schemeClr val="accent1"/>
                </a:solidFill>
                <a:latin typeface="思源宋体" panose="02020400000000000000" pitchFamily="18" charset="-122"/>
                <a:ea typeface="思源宋体" panose="02020400000000000000" pitchFamily="18" charset="-122"/>
                <a:sym typeface="微软雅黑"/>
              </a:rPr>
              <a:t>现状分析：</a:t>
            </a:r>
          </a:p>
        </p:txBody>
      </p:sp>
      <p:sp>
        <p:nvSpPr>
          <p:cNvPr id="19" name="稻壳儿智宇https://www.docer.com/works?userid=328340712">
            <a:extLst>
              <a:ext uri="{FF2B5EF4-FFF2-40B4-BE49-F238E27FC236}">
                <a16:creationId xmlns:a16="http://schemas.microsoft.com/office/drawing/2014/main" id="{4C22AC53-2CD5-D518-5C58-AE8153A2DA58}"/>
              </a:ext>
            </a:extLst>
          </p:cNvPr>
          <p:cNvSpPr txBox="1"/>
          <p:nvPr>
            <p:custDataLst>
              <p:tags r:id="rId4"/>
            </p:custDataLst>
          </p:nvPr>
        </p:nvSpPr>
        <p:spPr>
          <a:xfrm>
            <a:off x="609599" y="1560684"/>
            <a:ext cx="10623396" cy="2346476"/>
          </a:xfrm>
          <a:prstGeom prst="rect">
            <a:avLst/>
          </a:prstGeom>
          <a:noFill/>
        </p:spPr>
        <p:txBody>
          <a:bodyPr wrap="square" rtlCol="0">
            <a:spAutoFit/>
          </a:bodyPr>
          <a:lstStyle/>
          <a:p>
            <a:pPr>
              <a:lnSpc>
                <a:spcPct val="150000"/>
              </a:lnSpc>
            </a:pPr>
            <a:r>
              <a:rPr lang="zh-CN" altLang="en-US" sz="2000" dirty="0">
                <a:latin typeface="思源宋体" panose="02020400000000000000" pitchFamily="18" charset="-122"/>
                <a:ea typeface="思源宋体" panose="02020400000000000000" pitchFamily="18" charset="-122"/>
              </a:rPr>
              <a:t>快慢思考源于认知心理学范式，近年来被广泛引入大语言模型研究，主要包括：</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利用大小模型协作的结构模拟人类快思考与慢思考的认知机制；</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在任务求解中结合快慢思考范式，提升模型在复杂任务中的连贯性与表现；</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采用多阶段推理结构，增强推理能力并优化计算效率；</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将该范式扩展至多模态场景，动态调整推理深度，提高视觉语言模型的准确性与效率。</a:t>
            </a:r>
            <a:endParaRPr lang="en-US" altLang="zh-CN" sz="2000" dirty="0">
              <a:latin typeface="思源宋体" panose="02020400000000000000" pitchFamily="18" charset="-122"/>
              <a:ea typeface="思源宋体" panose="02020400000000000000" pitchFamily="18" charset="-122"/>
            </a:endParaRPr>
          </a:p>
        </p:txBody>
      </p:sp>
      <p:sp>
        <p:nvSpPr>
          <p:cNvPr id="20" name="稻壳儿智宇https://www.docer.com/works?userid=328340712">
            <a:extLst>
              <a:ext uri="{FF2B5EF4-FFF2-40B4-BE49-F238E27FC236}">
                <a16:creationId xmlns:a16="http://schemas.microsoft.com/office/drawing/2014/main" id="{54B2A66E-EC82-963C-1547-89BB5DAB3F0F}"/>
              </a:ext>
            </a:extLst>
          </p:cNvPr>
          <p:cNvSpPr txBox="1"/>
          <p:nvPr>
            <p:custDataLst>
              <p:tags r:id="rId5"/>
            </p:custDataLst>
          </p:nvPr>
        </p:nvSpPr>
        <p:spPr>
          <a:xfrm>
            <a:off x="609599" y="4705896"/>
            <a:ext cx="9590050" cy="142314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快慢思考框架的核心优势在于模拟人类的认知动态以实现效率与精度的平衡。</a:t>
            </a:r>
            <a:endParaRPr lang="en-US" altLang="zh-CN" sz="20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尚需进一步探索该范式如何在模态间动态分配推理资源、实现信息融合与一致性维护。</a:t>
            </a:r>
            <a:endParaRPr lang="en-US" altLang="zh-CN" sz="2000" dirty="0">
              <a:latin typeface="思源宋体" panose="02020400000000000000" pitchFamily="18" charset="-122"/>
              <a:ea typeface="思源宋体" panose="02020400000000000000" pitchFamily="18" charset="-122"/>
              <a:sym typeface="微软雅黑"/>
            </a:endParaRPr>
          </a:p>
        </p:txBody>
      </p:sp>
    </p:spTree>
    <p:custDataLst>
      <p:tags r:id="rId1"/>
    </p:custDataLst>
    <p:extLst>
      <p:ext uri="{BB962C8B-B14F-4D97-AF65-F5344CB8AC3E}">
        <p14:creationId xmlns:p14="http://schemas.microsoft.com/office/powerpoint/2010/main" val="30723884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6C5B-6BEF-45E1-4F0A-AE6E391B981A}"/>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D8EFF10C-9780-CA2C-5899-7D9F2109046D}"/>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03</a:t>
            </a:r>
          </a:p>
        </p:txBody>
      </p:sp>
      <p:sp>
        <p:nvSpPr>
          <p:cNvPr id="19" name="稻壳儿智宇https://www.docer.com/works?userid=328340712">
            <a:extLst>
              <a:ext uri="{FF2B5EF4-FFF2-40B4-BE49-F238E27FC236}">
                <a16:creationId xmlns:a16="http://schemas.microsoft.com/office/drawing/2014/main" id="{22E2F13A-F95B-A42B-9863-DC9D83DBD04D}"/>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研究内容及方案</a:t>
            </a:r>
          </a:p>
        </p:txBody>
      </p:sp>
      <p:sp>
        <p:nvSpPr>
          <p:cNvPr id="17" name="稻壳儿智宇https://www.docer.com/works?userid=328340712">
            <a:extLst>
              <a:ext uri="{FF2B5EF4-FFF2-40B4-BE49-F238E27FC236}">
                <a16:creationId xmlns:a16="http://schemas.microsoft.com/office/drawing/2014/main" id="{713F692E-09EC-2EAA-8046-6EAA0C9509F5}"/>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three</a:t>
            </a:r>
          </a:p>
        </p:txBody>
      </p:sp>
      <p:pic>
        <p:nvPicPr>
          <p:cNvPr id="3" name="图片 2">
            <a:extLst>
              <a:ext uri="{FF2B5EF4-FFF2-40B4-BE49-F238E27FC236}">
                <a16:creationId xmlns:a16="http://schemas.microsoft.com/office/drawing/2014/main" id="{C458D2DC-39C1-E1CC-27E1-B6D1CF7D40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8873202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3526-7347-B1F7-41E2-0090941B9E8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AA7FE2C-EAA9-D5C8-5A5C-7562B714D5C1}"/>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研究内容</a:t>
            </a:r>
          </a:p>
        </p:txBody>
      </p:sp>
      <p:sp>
        <p:nvSpPr>
          <p:cNvPr id="27" name="稻壳儿智宇https://www.docer.com/works?userid=328340712">
            <a:extLst>
              <a:ext uri="{FF2B5EF4-FFF2-40B4-BE49-F238E27FC236}">
                <a16:creationId xmlns:a16="http://schemas.microsoft.com/office/drawing/2014/main" id="{FDBAC93F-A39B-7A04-2C72-5504A08ABF7A}"/>
              </a:ext>
            </a:extLst>
          </p:cNvPr>
          <p:cNvSpPr txBox="1"/>
          <p:nvPr>
            <p:custDataLst>
              <p:tags r:id="rId1"/>
            </p:custDataLst>
          </p:nvPr>
        </p:nvSpPr>
        <p:spPr>
          <a:xfrm>
            <a:off x="1718051" y="1138838"/>
            <a:ext cx="2308324"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研究目标与核心问题</a:t>
            </a:r>
          </a:p>
        </p:txBody>
      </p:sp>
      <p:sp>
        <p:nvSpPr>
          <p:cNvPr id="28" name="稻壳儿智宇https://www.docer.com/works?userid=328340712">
            <a:extLst>
              <a:ext uri="{FF2B5EF4-FFF2-40B4-BE49-F238E27FC236}">
                <a16:creationId xmlns:a16="http://schemas.microsoft.com/office/drawing/2014/main" id="{4D1824A8-5EE3-BE63-D706-6EE723C6FAB7}"/>
              </a:ext>
            </a:extLst>
          </p:cNvPr>
          <p:cNvSpPr txBox="1"/>
          <p:nvPr>
            <p:custDataLst>
              <p:tags r:id="rId2"/>
            </p:custDataLst>
          </p:nvPr>
        </p:nvSpPr>
        <p:spPr>
          <a:xfrm>
            <a:off x="864940" y="1554146"/>
            <a:ext cx="9609772" cy="106465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本研究聚焦多模态立场检测任务，旨在构建一个具备动态模态理解与自适应推理能力的检测框架，以提升社交媒体文本分析的准确性与可解释性。现有模型多采用静态模态融合策略，难以捕捉语境中不同模态的差异化贡献，导致语义偏差与噪声放大等问题。本研究希望通过引入认知启发的动态机制，突破这一瓶颈。</a:t>
            </a:r>
          </a:p>
        </p:txBody>
      </p:sp>
      <p:sp>
        <p:nvSpPr>
          <p:cNvPr id="26" name="稻壳儿智宇https://www.docer.com/works?userid=328340712">
            <a:extLst>
              <a:ext uri="{FF2B5EF4-FFF2-40B4-BE49-F238E27FC236}">
                <a16:creationId xmlns:a16="http://schemas.microsoft.com/office/drawing/2014/main" id="{B13504BD-A78D-83F2-D733-4BF5D8ACB438}"/>
              </a:ext>
            </a:extLst>
          </p:cNvPr>
          <p:cNvSpPr txBox="1"/>
          <p:nvPr>
            <p:custDataLst>
              <p:tags r:id="rId3"/>
            </p:custDataLst>
          </p:nvPr>
        </p:nvSpPr>
        <p:spPr>
          <a:xfrm>
            <a:off x="741229" y="835139"/>
            <a:ext cx="76495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01</a:t>
            </a:r>
          </a:p>
        </p:txBody>
      </p:sp>
      <p:sp>
        <p:nvSpPr>
          <p:cNvPr id="23" name="稻壳儿智宇https://www.docer.com/works?userid=328340712">
            <a:extLst>
              <a:ext uri="{FF2B5EF4-FFF2-40B4-BE49-F238E27FC236}">
                <a16:creationId xmlns:a16="http://schemas.microsoft.com/office/drawing/2014/main" id="{052E64D9-CD6A-2602-2C80-08E3ED95D10A}"/>
              </a:ext>
            </a:extLst>
          </p:cNvPr>
          <p:cNvSpPr txBox="1"/>
          <p:nvPr>
            <p:custDataLst>
              <p:tags r:id="rId4"/>
            </p:custDataLst>
          </p:nvPr>
        </p:nvSpPr>
        <p:spPr>
          <a:xfrm>
            <a:off x="1718052" y="3189898"/>
            <a:ext cx="3077766"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理论基础：双系统认知模型</a:t>
            </a:r>
          </a:p>
        </p:txBody>
      </p:sp>
      <p:sp>
        <p:nvSpPr>
          <p:cNvPr id="24" name="稻壳儿智宇https://www.docer.com/works?userid=328340712">
            <a:extLst>
              <a:ext uri="{FF2B5EF4-FFF2-40B4-BE49-F238E27FC236}">
                <a16:creationId xmlns:a16="http://schemas.microsoft.com/office/drawing/2014/main" id="{F2EDF8FF-2C72-6354-FE54-977C0885F7BC}"/>
              </a:ext>
            </a:extLst>
          </p:cNvPr>
          <p:cNvSpPr txBox="1"/>
          <p:nvPr>
            <p:custDataLst>
              <p:tags r:id="rId5"/>
            </p:custDataLst>
          </p:nvPr>
        </p:nvSpPr>
        <p:spPr>
          <a:xfrm>
            <a:off x="864941" y="3518590"/>
            <a:ext cx="9609772" cy="106465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本研究借鉴认知心理学中的“双系统理论”，模拟人类的直觉式推理（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System 1</a:t>
            </a:r>
            <a:r>
              <a:rPr lang="zh-CN" altLang="en-US" sz="1600" dirty="0">
                <a:solidFill>
                  <a:schemeClr val="dk1"/>
                </a:solidFill>
                <a:latin typeface="思源宋体" panose="02020400000000000000" pitchFamily="18" charset="-122"/>
                <a:ea typeface="思源宋体" panose="02020400000000000000" pitchFamily="18" charset="-122"/>
                <a:sym typeface="微软雅黑"/>
              </a:rPr>
              <a:t>）与反思式推理（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System 2</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）的协作模式。通过在模型中引入这两种推理机制，系统能够在快速直觉判断与理性反思修正之间实现动态平衡，从而在不同话题、风格及跨域场景中保持鲁棒的立场判断能力。</a:t>
            </a:r>
          </a:p>
        </p:txBody>
      </p:sp>
      <p:sp>
        <p:nvSpPr>
          <p:cNvPr id="22" name="稻壳儿智宇https://www.docer.com/works?userid=328340712">
            <a:extLst>
              <a:ext uri="{FF2B5EF4-FFF2-40B4-BE49-F238E27FC236}">
                <a16:creationId xmlns:a16="http://schemas.microsoft.com/office/drawing/2014/main" id="{713FE5A2-9602-6FB8-80EC-23EA32D62F39}"/>
              </a:ext>
            </a:extLst>
          </p:cNvPr>
          <p:cNvSpPr txBox="1"/>
          <p:nvPr>
            <p:custDataLst>
              <p:tags r:id="rId6"/>
            </p:custDataLst>
          </p:nvPr>
        </p:nvSpPr>
        <p:spPr>
          <a:xfrm>
            <a:off x="741229" y="2908123"/>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a:extLst>
              <a:ext uri="{FF2B5EF4-FFF2-40B4-BE49-F238E27FC236}">
                <a16:creationId xmlns:a16="http://schemas.microsoft.com/office/drawing/2014/main" id="{4D4B4201-4267-0F26-D0C7-26581E3BCEB5}"/>
              </a:ext>
            </a:extLst>
          </p:cNvPr>
          <p:cNvSpPr txBox="1"/>
          <p:nvPr>
            <p:custDataLst>
              <p:tags r:id="rId7"/>
            </p:custDataLst>
          </p:nvPr>
        </p:nvSpPr>
        <p:spPr>
          <a:xfrm>
            <a:off x="1718052" y="5168084"/>
            <a:ext cx="2753382"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总体框架设计：</a:t>
            </a:r>
            <a:r>
              <a:rPr lang="en-US" altLang="zh-CN" sz="2000" b="1" dirty="0">
                <a:solidFill>
                  <a:schemeClr val="dk1"/>
                </a:solidFill>
                <a:latin typeface="思源宋体" panose="02020400000000000000" pitchFamily="18" charset="-122"/>
                <a:ea typeface="思源宋体" panose="02020400000000000000" pitchFamily="18" charset="-122"/>
                <a:sym typeface="微软雅黑"/>
              </a:rPr>
              <a:t>ReMoD</a:t>
            </a:r>
            <a:endParaRPr lang="zh-CN" altLang="en-US" sz="2000" b="1" dirty="0">
              <a:solidFill>
                <a:schemeClr val="dk1"/>
              </a:solidFill>
              <a:latin typeface="思源宋体" panose="02020400000000000000" pitchFamily="18" charset="-122"/>
              <a:ea typeface="思源宋体" panose="02020400000000000000" pitchFamily="18" charset="-122"/>
              <a:sym typeface="微软雅黑"/>
            </a:endParaRPr>
          </a:p>
        </p:txBody>
      </p:sp>
      <p:sp>
        <p:nvSpPr>
          <p:cNvPr id="20" name="稻壳儿智宇https://www.docer.com/works?userid=328340712">
            <a:extLst>
              <a:ext uri="{FF2B5EF4-FFF2-40B4-BE49-F238E27FC236}">
                <a16:creationId xmlns:a16="http://schemas.microsoft.com/office/drawing/2014/main" id="{81DCCF15-3225-ACBD-7A90-6B510603D0D3}"/>
              </a:ext>
            </a:extLst>
          </p:cNvPr>
          <p:cNvSpPr txBox="1"/>
          <p:nvPr>
            <p:custDataLst>
              <p:tags r:id="rId8"/>
            </p:custDataLst>
          </p:nvPr>
        </p:nvSpPr>
        <p:spPr>
          <a:xfrm>
            <a:off x="864940" y="5496776"/>
            <a:ext cx="9609772" cy="92910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600" dirty="0">
                <a:latin typeface="思源宋体" panose="02020400000000000000" pitchFamily="18" charset="-122"/>
                <a:ea typeface="思源宋体" panose="02020400000000000000" pitchFamily="18" charset="-122"/>
              </a:rPr>
              <a:t>ReMoD</a:t>
            </a:r>
            <a:r>
              <a:rPr lang="zh-CN" altLang="en-US" sz="1600" dirty="0">
                <a:latin typeface="思源宋体" panose="02020400000000000000" pitchFamily="18" charset="-122"/>
                <a:ea typeface="思源宋体" panose="02020400000000000000" pitchFamily="18" charset="-122"/>
              </a:rPr>
              <a:t>（</a:t>
            </a:r>
            <a:r>
              <a:rPr lang="en-US" altLang="zh-CN" sz="1600" dirty="0">
                <a:latin typeface="思源宋体" panose="02020400000000000000" pitchFamily="18" charset="-122"/>
                <a:ea typeface="思源宋体" panose="02020400000000000000" pitchFamily="18" charset="-122"/>
              </a:rPr>
              <a:t>Rethinking Modality Contribution</a:t>
            </a:r>
            <a:r>
              <a:rPr lang="zh-CN" altLang="en-US" sz="1600" dirty="0">
                <a:latin typeface="思源宋体" panose="02020400000000000000" pitchFamily="18" charset="-122"/>
                <a:ea typeface="思源宋体" panose="02020400000000000000" pitchFamily="18" charset="-122"/>
              </a:rPr>
              <a:t>）框架以“动态再思考”为核心思想，将知识感知、经验推理与反思优化有机结合。模型在文本与图像模态上同步获取知识并对齐证据，通过跨模态记忆池实现可检索的经验积累与自适应推理，使每个推断结果都具有可追溯依据与可解释链条。</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91F9E210-C7F9-C6D2-38DA-BDFBA02DA1A4}"/>
              </a:ext>
            </a:extLst>
          </p:cNvPr>
          <p:cNvSpPr txBox="1"/>
          <p:nvPr>
            <p:custDataLst>
              <p:tags r:id="rId9"/>
            </p:custDataLst>
          </p:nvPr>
        </p:nvSpPr>
        <p:spPr>
          <a:xfrm>
            <a:off x="741229" y="4872567"/>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03</a:t>
            </a:r>
          </a:p>
        </p:txBody>
      </p:sp>
    </p:spTree>
    <p:extLst>
      <p:ext uri="{BB962C8B-B14F-4D97-AF65-F5344CB8AC3E}">
        <p14:creationId xmlns:p14="http://schemas.microsoft.com/office/powerpoint/2010/main" val="3317897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FA21-3F13-E2C9-534E-855A729C8823}"/>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C1F365D9-6F19-F01A-1D92-8B69714AD2DA}"/>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研究内容</a:t>
            </a:r>
          </a:p>
        </p:txBody>
      </p:sp>
      <p:sp>
        <p:nvSpPr>
          <p:cNvPr id="27" name="稻壳儿智宇https://www.docer.com/works?userid=328340712">
            <a:extLst>
              <a:ext uri="{FF2B5EF4-FFF2-40B4-BE49-F238E27FC236}">
                <a16:creationId xmlns:a16="http://schemas.microsoft.com/office/drawing/2014/main" id="{34A651CA-70D9-14D7-37AF-28B6225699AF}"/>
              </a:ext>
            </a:extLst>
          </p:cNvPr>
          <p:cNvSpPr txBox="1"/>
          <p:nvPr>
            <p:custDataLst>
              <p:tags r:id="rId1"/>
            </p:custDataLst>
          </p:nvPr>
        </p:nvSpPr>
        <p:spPr>
          <a:xfrm>
            <a:off x="1718051" y="1138838"/>
            <a:ext cx="2308324"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知识感知与证据构建</a:t>
            </a:r>
          </a:p>
        </p:txBody>
      </p:sp>
      <p:sp>
        <p:nvSpPr>
          <p:cNvPr id="28" name="稻壳儿智宇https://www.docer.com/works?userid=328340712">
            <a:extLst>
              <a:ext uri="{FF2B5EF4-FFF2-40B4-BE49-F238E27FC236}">
                <a16:creationId xmlns:a16="http://schemas.microsoft.com/office/drawing/2014/main" id="{79A355D8-BF74-7D41-D088-23900CEA3C6C}"/>
              </a:ext>
            </a:extLst>
          </p:cNvPr>
          <p:cNvSpPr txBox="1"/>
          <p:nvPr>
            <p:custDataLst>
              <p:tags r:id="rId2"/>
            </p:custDataLst>
          </p:nvPr>
        </p:nvSpPr>
        <p:spPr>
          <a:xfrm>
            <a:off x="864940" y="1554146"/>
            <a:ext cx="9609772" cy="106465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在文本侧，系统通过大模型进行语义实体识别、事件抽取与背景知识检索，并压缩生成高密度文本知识；在视觉侧，利用 </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SAM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实现语义级图像解析，将实体与像素证据精确对齐。两条路径共同为后续推理提供语义与感知双支撑。</a:t>
            </a:r>
          </a:p>
        </p:txBody>
      </p:sp>
      <p:sp>
        <p:nvSpPr>
          <p:cNvPr id="26" name="稻壳儿智宇https://www.docer.com/works?userid=328340712">
            <a:extLst>
              <a:ext uri="{FF2B5EF4-FFF2-40B4-BE49-F238E27FC236}">
                <a16:creationId xmlns:a16="http://schemas.microsoft.com/office/drawing/2014/main" id="{28EC9276-3710-2BE0-4FBC-62F0D880D416}"/>
              </a:ext>
            </a:extLst>
          </p:cNvPr>
          <p:cNvSpPr txBox="1"/>
          <p:nvPr>
            <p:custDataLst>
              <p:tags r:id="rId3"/>
            </p:custDataLst>
          </p:nvPr>
        </p:nvSpPr>
        <p:spPr>
          <a:xfrm>
            <a:off x="741229" y="835139"/>
            <a:ext cx="811441"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04</a:t>
            </a:r>
          </a:p>
        </p:txBody>
      </p:sp>
      <p:sp>
        <p:nvSpPr>
          <p:cNvPr id="23" name="稻壳儿智宇https://www.docer.com/works?userid=328340712">
            <a:extLst>
              <a:ext uri="{FF2B5EF4-FFF2-40B4-BE49-F238E27FC236}">
                <a16:creationId xmlns:a16="http://schemas.microsoft.com/office/drawing/2014/main" id="{D3322B4B-E475-A0CA-696F-B0520885025E}"/>
              </a:ext>
            </a:extLst>
          </p:cNvPr>
          <p:cNvSpPr txBox="1"/>
          <p:nvPr>
            <p:custDataLst>
              <p:tags r:id="rId4"/>
            </p:custDataLst>
          </p:nvPr>
        </p:nvSpPr>
        <p:spPr>
          <a:xfrm>
            <a:off x="1718052" y="3189898"/>
            <a:ext cx="2308324"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直觉推理与经验检索</a:t>
            </a:r>
          </a:p>
        </p:txBody>
      </p:sp>
      <p:sp>
        <p:nvSpPr>
          <p:cNvPr id="24" name="稻壳儿智宇https://www.docer.com/works?userid=328340712">
            <a:extLst>
              <a:ext uri="{FF2B5EF4-FFF2-40B4-BE49-F238E27FC236}">
                <a16:creationId xmlns:a16="http://schemas.microsoft.com/office/drawing/2014/main" id="{353BE46A-3B1F-4DBA-2CC8-3F8BBBF8B2E1}"/>
              </a:ext>
            </a:extLst>
          </p:cNvPr>
          <p:cNvSpPr txBox="1"/>
          <p:nvPr>
            <p:custDataLst>
              <p:tags r:id="rId5"/>
            </p:custDataLst>
          </p:nvPr>
        </p:nvSpPr>
        <p:spPr>
          <a:xfrm>
            <a:off x="864941" y="3518590"/>
            <a:ext cx="9609772" cy="106465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维护两类经验池，分别用于模态权衡与领域语义的快速决策。面对新样本时，系统通过跨模态相似度检索获得最相关经验，以文本内容、图像证据与示例推理为上下文生成初步立场假设，并附带推理链，为后续反思提供可诊断依据。</a:t>
            </a:r>
          </a:p>
        </p:txBody>
      </p:sp>
      <p:sp>
        <p:nvSpPr>
          <p:cNvPr id="22" name="稻壳儿智宇https://www.docer.com/works?userid=328340712">
            <a:extLst>
              <a:ext uri="{FF2B5EF4-FFF2-40B4-BE49-F238E27FC236}">
                <a16:creationId xmlns:a16="http://schemas.microsoft.com/office/drawing/2014/main" id="{04CF5619-F754-EE36-CB1E-E7301BD7173C}"/>
              </a:ext>
            </a:extLst>
          </p:cNvPr>
          <p:cNvSpPr txBox="1"/>
          <p:nvPr>
            <p:custDataLst>
              <p:tags r:id="rId6"/>
            </p:custDataLst>
          </p:nvPr>
        </p:nvSpPr>
        <p:spPr>
          <a:xfrm>
            <a:off x="741229" y="2908123"/>
            <a:ext cx="84510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1"/>
                </a:solidFill>
                <a:latin typeface="思源宋体" panose="02020400000000000000" pitchFamily="18" charset="-122"/>
                <a:ea typeface="思源宋体" panose="02020400000000000000" pitchFamily="18" charset="-122"/>
                <a:sym typeface="微软雅黑"/>
              </a:rPr>
              <a:t>05</a:t>
            </a:r>
          </a:p>
        </p:txBody>
      </p:sp>
      <p:sp>
        <p:nvSpPr>
          <p:cNvPr id="19" name="稻壳儿智宇https://www.docer.com/works?userid=328340712">
            <a:extLst>
              <a:ext uri="{FF2B5EF4-FFF2-40B4-BE49-F238E27FC236}">
                <a16:creationId xmlns:a16="http://schemas.microsoft.com/office/drawing/2014/main" id="{8974B401-F191-9CCF-81FC-8FF25B16C44D}"/>
              </a:ext>
            </a:extLst>
          </p:cNvPr>
          <p:cNvSpPr txBox="1"/>
          <p:nvPr>
            <p:custDataLst>
              <p:tags r:id="rId7"/>
            </p:custDataLst>
          </p:nvPr>
        </p:nvSpPr>
        <p:spPr>
          <a:xfrm>
            <a:off x="1718052" y="5168084"/>
            <a:ext cx="1795363"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反思与经验演化</a:t>
            </a:r>
          </a:p>
        </p:txBody>
      </p:sp>
      <p:sp>
        <p:nvSpPr>
          <p:cNvPr id="20" name="稻壳儿智宇https://www.docer.com/works?userid=328340712">
            <a:extLst>
              <a:ext uri="{FF2B5EF4-FFF2-40B4-BE49-F238E27FC236}">
                <a16:creationId xmlns:a16="http://schemas.microsoft.com/office/drawing/2014/main" id="{BF2AD9B5-B8B6-37F5-7DCD-5174CDB92125}"/>
              </a:ext>
            </a:extLst>
          </p:cNvPr>
          <p:cNvSpPr txBox="1"/>
          <p:nvPr>
            <p:custDataLst>
              <p:tags r:id="rId8"/>
            </p:custDataLst>
          </p:nvPr>
        </p:nvSpPr>
        <p:spPr>
          <a:xfrm>
            <a:off x="864940" y="5496776"/>
            <a:ext cx="9609772" cy="92910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latin typeface="思源宋体" panose="02020400000000000000" pitchFamily="18" charset="-122"/>
                <a:ea typeface="思源宋体" panose="02020400000000000000" pitchFamily="18" charset="-122"/>
              </a:rPr>
              <a:t>在反思阶段，系统对直觉阶段结论进行一致性分析与结构化复审，提炼关于模态贡献与语义理解的“模态洞见”和“语义洞见”。新的洞见与历史经验进行融合、去冗与更新，形成可持续演化的长期记忆，从而使系统在时间维度上实现认知层面的稳定增长。</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BCDF65D5-D8A8-9DFE-E73F-0F14DB03FF39}"/>
              </a:ext>
            </a:extLst>
          </p:cNvPr>
          <p:cNvSpPr txBox="1"/>
          <p:nvPr>
            <p:custDataLst>
              <p:tags r:id="rId9"/>
            </p:custDataLst>
          </p:nvPr>
        </p:nvSpPr>
        <p:spPr>
          <a:xfrm>
            <a:off x="741229" y="4872567"/>
            <a:ext cx="84510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06</a:t>
            </a:r>
          </a:p>
        </p:txBody>
      </p:sp>
    </p:spTree>
    <p:extLst>
      <p:ext uri="{BB962C8B-B14F-4D97-AF65-F5344CB8AC3E}">
        <p14:creationId xmlns:p14="http://schemas.microsoft.com/office/powerpoint/2010/main" val="1874641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128D-6DD2-46A4-5657-0FCD24D300D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414CC79C-197A-2346-DBD2-CFFB0912F9EB}"/>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研究方案</a:t>
            </a:r>
          </a:p>
        </p:txBody>
      </p:sp>
      <p:sp>
        <p:nvSpPr>
          <p:cNvPr id="26" name="稻壳儿智宇https://www.docer.com/works?userid=328340712">
            <a:extLst>
              <a:ext uri="{FF2B5EF4-FFF2-40B4-BE49-F238E27FC236}">
                <a16:creationId xmlns:a16="http://schemas.microsoft.com/office/drawing/2014/main" id="{766698A8-5676-BF77-BC57-FFAA240BC7AA}"/>
              </a:ext>
            </a:extLst>
          </p:cNvPr>
          <p:cNvSpPr txBox="1"/>
          <p:nvPr>
            <p:custDataLst>
              <p:tags r:id="rId1"/>
            </p:custDataLst>
          </p:nvPr>
        </p:nvSpPr>
        <p:spPr>
          <a:xfrm>
            <a:off x="3420223" y="1223203"/>
            <a:ext cx="3590728"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知识构建：多源融合与语义对齐</a:t>
            </a:r>
          </a:p>
        </p:txBody>
      </p:sp>
      <p:sp>
        <p:nvSpPr>
          <p:cNvPr id="27" name="稻壳儿智宇https://www.docer.com/works?userid=328340712">
            <a:extLst>
              <a:ext uri="{FF2B5EF4-FFF2-40B4-BE49-F238E27FC236}">
                <a16:creationId xmlns:a16="http://schemas.microsoft.com/office/drawing/2014/main" id="{1D504FFD-4FF0-0723-E90A-DE1C0C051B62}"/>
              </a:ext>
            </a:extLst>
          </p:cNvPr>
          <p:cNvSpPr txBox="1"/>
          <p:nvPr>
            <p:custDataLst>
              <p:tags r:id="rId2"/>
            </p:custDataLst>
          </p:nvPr>
        </p:nvSpPr>
        <p:spPr>
          <a:xfrm>
            <a:off x="3424473" y="1625686"/>
            <a:ext cx="7648359" cy="18033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在数据层面，将多源数据集进行统一化预处理，确保文本、图像与立场标签严格对齐，并建立实体标注与指代消解规则。文本和图像均通过提示模板生成实体集合并连接百科知识库，以捕捉与立场相关的因果与价值线索；同时对图像利用 </a:t>
            </a:r>
            <a:r>
              <a:rPr lang="en-US" altLang="zh-CN" sz="1600" dirty="0">
                <a:latin typeface="思源宋体" panose="02020400000000000000" pitchFamily="18" charset="-122"/>
                <a:ea typeface="思源宋体" panose="02020400000000000000" pitchFamily="18" charset="-122"/>
              </a:rPr>
              <a:t>SAM </a:t>
            </a:r>
            <a:r>
              <a:rPr lang="zh-CN" altLang="en-US" sz="1600" dirty="0">
                <a:latin typeface="思源宋体" panose="02020400000000000000" pitchFamily="18" charset="-122"/>
                <a:ea typeface="思源宋体" panose="02020400000000000000" pitchFamily="18" charset="-122"/>
              </a:rPr>
              <a:t>结合实体进行分割，实现语义到像素的稳定映射。</a:t>
            </a:r>
            <a:endParaRPr lang="en-US" altLang="zh-CN" sz="1600" dirty="0">
              <a:latin typeface="思源宋体" panose="02020400000000000000" pitchFamily="18" charset="-122"/>
              <a:ea typeface="思源宋体" panose="02020400000000000000" pitchFamily="18" charset="-122"/>
            </a:endParaRPr>
          </a:p>
          <a:p>
            <a:pPr>
              <a:lnSpc>
                <a:spcPct val="150000"/>
              </a:lnSpc>
            </a:pP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5" name="稻壳儿智宇https://www.docer.com/works?userid=328340712">
            <a:extLst>
              <a:ext uri="{FF2B5EF4-FFF2-40B4-BE49-F238E27FC236}">
                <a16:creationId xmlns:a16="http://schemas.microsoft.com/office/drawing/2014/main" id="{0A5083EA-B46C-D457-6F02-5DA1E2994585}"/>
              </a:ext>
            </a:extLst>
          </p:cNvPr>
          <p:cNvSpPr>
            <a:spLocks noChangeArrowheads="1"/>
          </p:cNvSpPr>
          <p:nvPr>
            <p:custDataLst>
              <p:tags r:id="rId3"/>
            </p:custDataLst>
          </p:nvPr>
        </p:nvSpPr>
        <p:spPr bwMode="auto">
          <a:xfrm>
            <a:off x="895652" y="1264733"/>
            <a:ext cx="1791131" cy="1773218"/>
          </a:xfrm>
          <a:custGeom>
            <a:avLst/>
            <a:gdLst>
              <a:gd name="T0" fmla="*/ 977 w 6447"/>
              <a:gd name="T1" fmla="*/ 3190 h 6381"/>
              <a:gd name="T2" fmla="*/ 977 w 6447"/>
              <a:gd name="T3" fmla="*/ 3190 h 6381"/>
              <a:gd name="T4" fmla="*/ 3256 w 6447"/>
              <a:gd name="T5" fmla="*/ 975 h 6381"/>
              <a:gd name="T6" fmla="*/ 5469 w 6447"/>
              <a:gd name="T7" fmla="*/ 3190 h 6381"/>
              <a:gd name="T8" fmla="*/ 4819 w 6447"/>
              <a:gd name="T9" fmla="*/ 4817 h 6381"/>
              <a:gd name="T10" fmla="*/ 5469 w 6447"/>
              <a:gd name="T11" fmla="*/ 4817 h 6381"/>
              <a:gd name="T12" fmla="*/ 5469 w 6447"/>
              <a:gd name="T13" fmla="*/ 5469 h 6381"/>
              <a:gd name="T14" fmla="*/ 3256 w 6447"/>
              <a:gd name="T15" fmla="*/ 5469 h 6381"/>
              <a:gd name="T16" fmla="*/ 977 w 6447"/>
              <a:gd name="T17" fmla="*/ 3190 h 6381"/>
              <a:gd name="T18" fmla="*/ 5469 w 6447"/>
              <a:gd name="T19" fmla="*/ 5469 h 6381"/>
              <a:gd name="T20" fmla="*/ 5469 w 6447"/>
              <a:gd name="T21" fmla="*/ 5469 h 6381"/>
              <a:gd name="T22" fmla="*/ 6446 w 6447"/>
              <a:gd name="T23" fmla="*/ 3190 h 6381"/>
              <a:gd name="T24" fmla="*/ 3256 w 6447"/>
              <a:gd name="T25" fmla="*/ 0 h 6381"/>
              <a:gd name="T26" fmla="*/ 0 w 6447"/>
              <a:gd name="T27" fmla="*/ 3190 h 6381"/>
              <a:gd name="T28" fmla="*/ 3256 w 6447"/>
              <a:gd name="T29" fmla="*/ 6380 h 6381"/>
              <a:gd name="T30" fmla="*/ 6446 w 6447"/>
              <a:gd name="T31" fmla="*/ 6380 h 6381"/>
              <a:gd name="T32" fmla="*/ 6446 w 6447"/>
              <a:gd name="T33" fmla="*/ 5469 h 6381"/>
              <a:gd name="T34" fmla="*/ 5469 w 6447"/>
              <a:gd name="T35" fmla="*/ 5469 h 6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47" h="6381">
                <a:moveTo>
                  <a:pt x="977" y="3190"/>
                </a:moveTo>
                <a:lnTo>
                  <a:pt x="977" y="3190"/>
                </a:lnTo>
                <a:cubicBezTo>
                  <a:pt x="977" y="1952"/>
                  <a:pt x="1954" y="975"/>
                  <a:pt x="3256" y="975"/>
                </a:cubicBezTo>
                <a:cubicBezTo>
                  <a:pt x="4492" y="975"/>
                  <a:pt x="5469" y="1952"/>
                  <a:pt x="5469" y="3190"/>
                </a:cubicBezTo>
                <a:cubicBezTo>
                  <a:pt x="5469" y="3775"/>
                  <a:pt x="5273" y="4361"/>
                  <a:pt x="4819" y="4817"/>
                </a:cubicBezTo>
                <a:cubicBezTo>
                  <a:pt x="5469" y="4817"/>
                  <a:pt x="5469" y="4817"/>
                  <a:pt x="5469" y="4817"/>
                </a:cubicBezTo>
                <a:cubicBezTo>
                  <a:pt x="5469" y="5469"/>
                  <a:pt x="5469" y="5469"/>
                  <a:pt x="5469" y="5469"/>
                </a:cubicBezTo>
                <a:cubicBezTo>
                  <a:pt x="3256" y="5469"/>
                  <a:pt x="3256" y="5469"/>
                  <a:pt x="3256" y="5469"/>
                </a:cubicBezTo>
                <a:cubicBezTo>
                  <a:pt x="1954" y="5469"/>
                  <a:pt x="977" y="4492"/>
                  <a:pt x="977" y="3190"/>
                </a:cubicBezTo>
                <a:close/>
                <a:moveTo>
                  <a:pt x="5469" y="5469"/>
                </a:moveTo>
                <a:lnTo>
                  <a:pt x="5469" y="5469"/>
                </a:lnTo>
                <a:cubicBezTo>
                  <a:pt x="6121" y="4882"/>
                  <a:pt x="6446" y="4036"/>
                  <a:pt x="6446" y="3190"/>
                </a:cubicBezTo>
                <a:cubicBezTo>
                  <a:pt x="6446" y="1431"/>
                  <a:pt x="5013" y="0"/>
                  <a:pt x="3256" y="0"/>
                </a:cubicBezTo>
                <a:cubicBezTo>
                  <a:pt x="1433" y="0"/>
                  <a:pt x="0" y="1431"/>
                  <a:pt x="0" y="3190"/>
                </a:cubicBezTo>
                <a:cubicBezTo>
                  <a:pt x="0" y="5013"/>
                  <a:pt x="1433" y="6380"/>
                  <a:pt x="3256" y="6380"/>
                </a:cubicBezTo>
                <a:cubicBezTo>
                  <a:pt x="6446" y="6380"/>
                  <a:pt x="6446" y="6380"/>
                  <a:pt x="6446" y="6380"/>
                </a:cubicBezTo>
                <a:cubicBezTo>
                  <a:pt x="6446" y="5469"/>
                  <a:pt x="6446" y="5469"/>
                  <a:pt x="6446" y="5469"/>
                </a:cubicBezTo>
                <a:lnTo>
                  <a:pt x="5469" y="5469"/>
                </a:lnTo>
                <a:close/>
              </a:path>
            </a:pathLst>
          </a:custGeom>
          <a:solidFill>
            <a:schemeClr val="accent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dk1"/>
              </a:solidFill>
              <a:latin typeface="微软雅黑"/>
              <a:ea typeface="微软雅黑"/>
              <a:sym typeface="微软雅黑"/>
            </a:endParaRPr>
          </a:p>
        </p:txBody>
      </p:sp>
      <p:sp>
        <p:nvSpPr>
          <p:cNvPr id="16" name="稻壳儿智宇https://www.docer.com/works?userid=328340712">
            <a:extLst>
              <a:ext uri="{FF2B5EF4-FFF2-40B4-BE49-F238E27FC236}">
                <a16:creationId xmlns:a16="http://schemas.microsoft.com/office/drawing/2014/main" id="{6FFCDAC3-8548-7721-E778-1D907415C19E}"/>
              </a:ext>
            </a:extLst>
          </p:cNvPr>
          <p:cNvSpPr txBox="1"/>
          <p:nvPr>
            <p:custDataLst>
              <p:tags r:id="rId4"/>
            </p:custDataLst>
          </p:nvPr>
        </p:nvSpPr>
        <p:spPr>
          <a:xfrm>
            <a:off x="1228363" y="1874353"/>
            <a:ext cx="1125707" cy="553978"/>
          </a:xfrm>
          <a:prstGeom prst="rect">
            <a:avLst/>
          </a:prstGeom>
          <a:noFill/>
        </p:spPr>
        <p:txBody>
          <a:bodyPr wrap="square" lIns="121899" tIns="60950" rIns="121899" bIns="6095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dk1"/>
                </a:solidFill>
                <a:latin typeface="思源宋体" panose="02020400000000000000" pitchFamily="18" charset="-122"/>
                <a:ea typeface="思源宋体" panose="02020400000000000000" pitchFamily="18" charset="-122"/>
                <a:cs typeface="Roboto Regular"/>
                <a:sym typeface="微软雅黑"/>
              </a:rPr>
              <a:t>知识</a:t>
            </a:r>
            <a:endParaRPr lang="en-US" sz="2800" dirty="0">
              <a:solidFill>
                <a:schemeClr val="dk1"/>
              </a:solidFill>
              <a:latin typeface="思源宋体" panose="02020400000000000000" pitchFamily="18" charset="-122"/>
              <a:ea typeface="思源宋体" panose="02020400000000000000" pitchFamily="18" charset="-122"/>
              <a:cs typeface="Roboto Regular"/>
              <a:sym typeface="微软雅黑"/>
            </a:endParaRPr>
          </a:p>
        </p:txBody>
      </p:sp>
      <p:sp>
        <p:nvSpPr>
          <p:cNvPr id="24" name="稻壳儿智宇https://www.docer.com/works?userid=328340712">
            <a:extLst>
              <a:ext uri="{FF2B5EF4-FFF2-40B4-BE49-F238E27FC236}">
                <a16:creationId xmlns:a16="http://schemas.microsoft.com/office/drawing/2014/main" id="{8A330799-52E2-F792-B5C8-3E730FC71CC2}"/>
              </a:ext>
            </a:extLst>
          </p:cNvPr>
          <p:cNvSpPr txBox="1"/>
          <p:nvPr>
            <p:custDataLst>
              <p:tags r:id="rId5"/>
            </p:custDataLst>
          </p:nvPr>
        </p:nvSpPr>
        <p:spPr>
          <a:xfrm>
            <a:off x="3420223" y="3855072"/>
            <a:ext cx="3847208"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经验积累：跨模态检索与动态记忆</a:t>
            </a:r>
          </a:p>
        </p:txBody>
      </p:sp>
      <p:sp>
        <p:nvSpPr>
          <p:cNvPr id="25" name="稻壳儿智宇https://www.docer.com/works?userid=328340712">
            <a:extLst>
              <a:ext uri="{FF2B5EF4-FFF2-40B4-BE49-F238E27FC236}">
                <a16:creationId xmlns:a16="http://schemas.microsoft.com/office/drawing/2014/main" id="{EB6630E2-4163-3E3C-95DE-4C0C395EE12C}"/>
              </a:ext>
            </a:extLst>
          </p:cNvPr>
          <p:cNvSpPr txBox="1"/>
          <p:nvPr>
            <p:custDataLst>
              <p:tags r:id="rId6"/>
            </p:custDataLst>
          </p:nvPr>
        </p:nvSpPr>
        <p:spPr>
          <a:xfrm>
            <a:off x="3420223" y="4239635"/>
            <a:ext cx="7374157"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知识感知基础上，构建可演化的跨模态经验池，用于存储与模态、语义相关的可复用知识。每条经验以跨模态嵌入作为索引键，推理时，基于文本与视觉特征的联合相似度进行协同检索，动态选取与当前样本最契合的经验条目，并将检索结果作为推理上下文输入智能体。</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39F3643B-0E03-6826-1FCA-7CE1649EBAAB}"/>
              </a:ext>
            </a:extLst>
          </p:cNvPr>
          <p:cNvSpPr>
            <a:spLocks noChangeArrowheads="1"/>
          </p:cNvSpPr>
          <p:nvPr>
            <p:custDataLst>
              <p:tags r:id="rId7"/>
            </p:custDataLst>
          </p:nvPr>
        </p:nvSpPr>
        <p:spPr bwMode="auto">
          <a:xfrm>
            <a:off x="895650" y="3874124"/>
            <a:ext cx="1791131" cy="1773218"/>
          </a:xfrm>
          <a:custGeom>
            <a:avLst/>
            <a:gdLst>
              <a:gd name="T0" fmla="*/ 977 w 6447"/>
              <a:gd name="T1" fmla="*/ 3190 h 6381"/>
              <a:gd name="T2" fmla="*/ 977 w 6447"/>
              <a:gd name="T3" fmla="*/ 3190 h 6381"/>
              <a:gd name="T4" fmla="*/ 3256 w 6447"/>
              <a:gd name="T5" fmla="*/ 975 h 6381"/>
              <a:gd name="T6" fmla="*/ 5469 w 6447"/>
              <a:gd name="T7" fmla="*/ 3190 h 6381"/>
              <a:gd name="T8" fmla="*/ 4819 w 6447"/>
              <a:gd name="T9" fmla="*/ 4817 h 6381"/>
              <a:gd name="T10" fmla="*/ 5469 w 6447"/>
              <a:gd name="T11" fmla="*/ 4817 h 6381"/>
              <a:gd name="T12" fmla="*/ 5469 w 6447"/>
              <a:gd name="T13" fmla="*/ 5469 h 6381"/>
              <a:gd name="T14" fmla="*/ 3256 w 6447"/>
              <a:gd name="T15" fmla="*/ 5469 h 6381"/>
              <a:gd name="T16" fmla="*/ 977 w 6447"/>
              <a:gd name="T17" fmla="*/ 3190 h 6381"/>
              <a:gd name="T18" fmla="*/ 5469 w 6447"/>
              <a:gd name="T19" fmla="*/ 5469 h 6381"/>
              <a:gd name="T20" fmla="*/ 5469 w 6447"/>
              <a:gd name="T21" fmla="*/ 5469 h 6381"/>
              <a:gd name="T22" fmla="*/ 6446 w 6447"/>
              <a:gd name="T23" fmla="*/ 3190 h 6381"/>
              <a:gd name="T24" fmla="*/ 3256 w 6447"/>
              <a:gd name="T25" fmla="*/ 0 h 6381"/>
              <a:gd name="T26" fmla="*/ 0 w 6447"/>
              <a:gd name="T27" fmla="*/ 3190 h 6381"/>
              <a:gd name="T28" fmla="*/ 3256 w 6447"/>
              <a:gd name="T29" fmla="*/ 6380 h 6381"/>
              <a:gd name="T30" fmla="*/ 6446 w 6447"/>
              <a:gd name="T31" fmla="*/ 6380 h 6381"/>
              <a:gd name="T32" fmla="*/ 6446 w 6447"/>
              <a:gd name="T33" fmla="*/ 5469 h 6381"/>
              <a:gd name="T34" fmla="*/ 5469 w 6447"/>
              <a:gd name="T35" fmla="*/ 5469 h 6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47" h="6381">
                <a:moveTo>
                  <a:pt x="977" y="3190"/>
                </a:moveTo>
                <a:lnTo>
                  <a:pt x="977" y="3190"/>
                </a:lnTo>
                <a:cubicBezTo>
                  <a:pt x="977" y="1952"/>
                  <a:pt x="1954" y="975"/>
                  <a:pt x="3256" y="975"/>
                </a:cubicBezTo>
                <a:cubicBezTo>
                  <a:pt x="4492" y="975"/>
                  <a:pt x="5469" y="1952"/>
                  <a:pt x="5469" y="3190"/>
                </a:cubicBezTo>
                <a:cubicBezTo>
                  <a:pt x="5469" y="3775"/>
                  <a:pt x="5273" y="4361"/>
                  <a:pt x="4819" y="4817"/>
                </a:cubicBezTo>
                <a:cubicBezTo>
                  <a:pt x="5469" y="4817"/>
                  <a:pt x="5469" y="4817"/>
                  <a:pt x="5469" y="4817"/>
                </a:cubicBezTo>
                <a:cubicBezTo>
                  <a:pt x="5469" y="5469"/>
                  <a:pt x="5469" y="5469"/>
                  <a:pt x="5469" y="5469"/>
                </a:cubicBezTo>
                <a:cubicBezTo>
                  <a:pt x="3256" y="5469"/>
                  <a:pt x="3256" y="5469"/>
                  <a:pt x="3256" y="5469"/>
                </a:cubicBezTo>
                <a:cubicBezTo>
                  <a:pt x="1954" y="5469"/>
                  <a:pt x="977" y="4492"/>
                  <a:pt x="977" y="3190"/>
                </a:cubicBezTo>
                <a:close/>
                <a:moveTo>
                  <a:pt x="5469" y="5469"/>
                </a:moveTo>
                <a:lnTo>
                  <a:pt x="5469" y="5469"/>
                </a:lnTo>
                <a:cubicBezTo>
                  <a:pt x="6121" y="4882"/>
                  <a:pt x="6446" y="4036"/>
                  <a:pt x="6446" y="3190"/>
                </a:cubicBezTo>
                <a:cubicBezTo>
                  <a:pt x="6446" y="1431"/>
                  <a:pt x="5013" y="0"/>
                  <a:pt x="3256" y="0"/>
                </a:cubicBezTo>
                <a:cubicBezTo>
                  <a:pt x="1433" y="0"/>
                  <a:pt x="0" y="1431"/>
                  <a:pt x="0" y="3190"/>
                </a:cubicBezTo>
                <a:cubicBezTo>
                  <a:pt x="0" y="5013"/>
                  <a:pt x="1433" y="6380"/>
                  <a:pt x="3256" y="6380"/>
                </a:cubicBezTo>
                <a:cubicBezTo>
                  <a:pt x="6446" y="6380"/>
                  <a:pt x="6446" y="6380"/>
                  <a:pt x="6446" y="6380"/>
                </a:cubicBezTo>
                <a:cubicBezTo>
                  <a:pt x="6446" y="5469"/>
                  <a:pt x="6446" y="5469"/>
                  <a:pt x="6446" y="5469"/>
                </a:cubicBezTo>
                <a:lnTo>
                  <a:pt x="5469" y="5469"/>
                </a:lnTo>
                <a:close/>
              </a:path>
            </a:pathLst>
          </a:custGeom>
          <a:solidFill>
            <a:schemeClr val="accent2"/>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dk1"/>
              </a:solidFill>
              <a:latin typeface="微软雅黑"/>
              <a:ea typeface="微软雅黑"/>
              <a:sym typeface="微软雅黑"/>
            </a:endParaRPr>
          </a:p>
        </p:txBody>
      </p:sp>
      <p:sp>
        <p:nvSpPr>
          <p:cNvPr id="19" name="稻壳儿智宇https://www.docer.com/works?userid=328340712">
            <a:extLst>
              <a:ext uri="{FF2B5EF4-FFF2-40B4-BE49-F238E27FC236}">
                <a16:creationId xmlns:a16="http://schemas.microsoft.com/office/drawing/2014/main" id="{ADBBF539-3B22-29A6-BCF8-181764F48C14}"/>
              </a:ext>
            </a:extLst>
          </p:cNvPr>
          <p:cNvSpPr txBox="1"/>
          <p:nvPr>
            <p:custDataLst>
              <p:tags r:id="rId8"/>
            </p:custDataLst>
          </p:nvPr>
        </p:nvSpPr>
        <p:spPr>
          <a:xfrm>
            <a:off x="1228361" y="4483744"/>
            <a:ext cx="1125707" cy="553978"/>
          </a:xfrm>
          <a:prstGeom prst="rect">
            <a:avLst/>
          </a:prstGeom>
          <a:noFill/>
        </p:spPr>
        <p:txBody>
          <a:bodyPr wrap="square" lIns="121899" tIns="60950" rIns="121899" bIns="6095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dk1"/>
                </a:solidFill>
                <a:latin typeface="思源宋体" panose="02020400000000000000" pitchFamily="18" charset="-122"/>
                <a:ea typeface="思源宋体" panose="02020400000000000000" pitchFamily="18" charset="-122"/>
                <a:sym typeface="微软雅黑"/>
              </a:rPr>
              <a:t>经验</a:t>
            </a:r>
            <a:endParaRPr lang="en-US" sz="2800" dirty="0">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3299198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D2B1B-FECC-54F8-A4CC-E97488C3C305}"/>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D9035362-E8CA-A165-3A37-898C6189165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研究方案</a:t>
            </a:r>
          </a:p>
        </p:txBody>
      </p:sp>
      <p:sp>
        <p:nvSpPr>
          <p:cNvPr id="26" name="稻壳儿智宇https://www.docer.com/works?userid=328340712">
            <a:extLst>
              <a:ext uri="{FF2B5EF4-FFF2-40B4-BE49-F238E27FC236}">
                <a16:creationId xmlns:a16="http://schemas.microsoft.com/office/drawing/2014/main" id="{17B73F8F-CBAD-9227-B5DB-05991D93AE8E}"/>
              </a:ext>
            </a:extLst>
          </p:cNvPr>
          <p:cNvSpPr txBox="1"/>
          <p:nvPr>
            <p:custDataLst>
              <p:tags r:id="rId1"/>
            </p:custDataLst>
          </p:nvPr>
        </p:nvSpPr>
        <p:spPr>
          <a:xfrm>
            <a:off x="3095263" y="1230886"/>
            <a:ext cx="4482260" cy="3077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3">
                    <a:lumMod val="75000"/>
                  </a:schemeClr>
                </a:solidFill>
                <a:latin typeface="思源宋体" panose="02020400000000000000" pitchFamily="18" charset="-122"/>
                <a:ea typeface="思源宋体" panose="02020400000000000000" pitchFamily="18" charset="-122"/>
              </a:rPr>
              <a:t>反思优化：结构化自审与洞见生成</a:t>
            </a:r>
            <a:endParaRPr lang="zh-CN" altLang="en-US" sz="2000" b="1" dirty="0">
              <a:solidFill>
                <a:schemeClr val="accent3">
                  <a:lumMod val="75000"/>
                </a:schemeClr>
              </a:solidFill>
              <a:latin typeface="思源宋体" panose="02020400000000000000" pitchFamily="18" charset="-122"/>
              <a:ea typeface="思源宋体" panose="02020400000000000000" pitchFamily="18" charset="-122"/>
              <a:sym typeface="微软雅黑"/>
            </a:endParaRPr>
          </a:p>
        </p:txBody>
      </p:sp>
      <p:sp>
        <p:nvSpPr>
          <p:cNvPr id="27" name="稻壳儿智宇https://www.docer.com/works?userid=328340712">
            <a:extLst>
              <a:ext uri="{FF2B5EF4-FFF2-40B4-BE49-F238E27FC236}">
                <a16:creationId xmlns:a16="http://schemas.microsoft.com/office/drawing/2014/main" id="{C5490489-83CA-0BB9-FD04-34DB24DABFA8}"/>
              </a:ext>
            </a:extLst>
          </p:cNvPr>
          <p:cNvSpPr txBox="1"/>
          <p:nvPr>
            <p:custDataLst>
              <p:tags r:id="rId2"/>
            </p:custDataLst>
          </p:nvPr>
        </p:nvSpPr>
        <p:spPr>
          <a:xfrm>
            <a:off x="3424473" y="1625686"/>
            <a:ext cx="7648359"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反思阶段模拟人类的元认知过程，对直觉推理所得结果及其解释链条进行系统回顾与一致性分析。系统依据多视角预测间的相互支持或冲突关系，提炼出“模态洞见”与“语义洞见”两类知识：前者揭示不同模态线索的相对贡献与交互规律，后者总结语义理解与事实推理的偏差来源。</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24" name="稻壳儿智宇https://www.docer.com/works?userid=328340712">
            <a:extLst>
              <a:ext uri="{FF2B5EF4-FFF2-40B4-BE49-F238E27FC236}">
                <a16:creationId xmlns:a16="http://schemas.microsoft.com/office/drawing/2014/main" id="{E83A5F4B-6B18-33F6-5659-A202991F7FD3}"/>
              </a:ext>
            </a:extLst>
          </p:cNvPr>
          <p:cNvSpPr txBox="1"/>
          <p:nvPr>
            <p:custDataLst>
              <p:tags r:id="rId3"/>
            </p:custDataLst>
          </p:nvPr>
        </p:nvSpPr>
        <p:spPr>
          <a:xfrm>
            <a:off x="3420223" y="3874124"/>
            <a:ext cx="3590727"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进化机制：经验融合与持续优化</a:t>
            </a:r>
          </a:p>
        </p:txBody>
      </p:sp>
      <p:sp>
        <p:nvSpPr>
          <p:cNvPr id="25" name="稻壳儿智宇https://www.docer.com/works?userid=328340712">
            <a:extLst>
              <a:ext uri="{FF2B5EF4-FFF2-40B4-BE49-F238E27FC236}">
                <a16:creationId xmlns:a16="http://schemas.microsoft.com/office/drawing/2014/main" id="{F9458F8A-776D-B89D-20A6-DA7BDE6DC3A5}"/>
              </a:ext>
            </a:extLst>
          </p:cNvPr>
          <p:cNvSpPr txBox="1"/>
          <p:nvPr>
            <p:custDataLst>
              <p:tags r:id="rId4"/>
            </p:custDataLst>
          </p:nvPr>
        </p:nvSpPr>
        <p:spPr>
          <a:xfrm>
            <a:off x="3420223" y="4239635"/>
            <a:ext cx="7374157"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进化环节负责实现系统知识与经验的长期演化与自适应更新。新生成的洞见与既有经验条目进行对齐与去冗，若发现高度相关条目则执行覆盖式融合，否则以新增条目形式扩充经验库。该增量式更新策略既避免冗余堆积，又保持知识多样性与结构完整性。</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9" name="稻壳儿智宇https://www.docer.com/works?userid=328340712">
            <a:extLst>
              <a:ext uri="{FF2B5EF4-FFF2-40B4-BE49-F238E27FC236}">
                <a16:creationId xmlns:a16="http://schemas.microsoft.com/office/drawing/2014/main" id="{C83C0E4B-3988-967D-A684-37318EEB0FE9}"/>
              </a:ext>
            </a:extLst>
          </p:cNvPr>
          <p:cNvSpPr txBox="1"/>
          <p:nvPr>
            <p:custDataLst>
              <p:tags r:id="rId5"/>
            </p:custDataLst>
          </p:nvPr>
        </p:nvSpPr>
        <p:spPr>
          <a:xfrm>
            <a:off x="1228361" y="4483744"/>
            <a:ext cx="1125707" cy="553978"/>
          </a:xfrm>
          <a:prstGeom prst="rect">
            <a:avLst/>
          </a:prstGeom>
          <a:noFill/>
        </p:spPr>
        <p:txBody>
          <a:bodyPr wrap="square" lIns="121899" tIns="60950" rIns="121899" bIns="6095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dk1"/>
                </a:solidFill>
                <a:latin typeface="思源宋体" panose="02020400000000000000" pitchFamily="18" charset="-122"/>
                <a:ea typeface="思源宋体" panose="02020400000000000000" pitchFamily="18" charset="-122"/>
                <a:sym typeface="微软雅黑"/>
              </a:rPr>
              <a:t>进化</a:t>
            </a:r>
            <a:endParaRPr lang="en-US" sz="28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423903E2-5F05-8D28-5F46-01D7609F17AD}"/>
              </a:ext>
            </a:extLst>
          </p:cNvPr>
          <p:cNvSpPr>
            <a:spLocks noChangeArrowheads="1"/>
          </p:cNvSpPr>
          <p:nvPr>
            <p:custDataLst>
              <p:tags r:id="rId6"/>
            </p:custDataLst>
          </p:nvPr>
        </p:nvSpPr>
        <p:spPr bwMode="auto">
          <a:xfrm>
            <a:off x="895646" y="1286450"/>
            <a:ext cx="1791131" cy="1773218"/>
          </a:xfrm>
          <a:custGeom>
            <a:avLst/>
            <a:gdLst>
              <a:gd name="T0" fmla="*/ 977 w 6447"/>
              <a:gd name="T1" fmla="*/ 3190 h 6381"/>
              <a:gd name="T2" fmla="*/ 977 w 6447"/>
              <a:gd name="T3" fmla="*/ 3190 h 6381"/>
              <a:gd name="T4" fmla="*/ 3256 w 6447"/>
              <a:gd name="T5" fmla="*/ 975 h 6381"/>
              <a:gd name="T6" fmla="*/ 5469 w 6447"/>
              <a:gd name="T7" fmla="*/ 3190 h 6381"/>
              <a:gd name="T8" fmla="*/ 4819 w 6447"/>
              <a:gd name="T9" fmla="*/ 4817 h 6381"/>
              <a:gd name="T10" fmla="*/ 5469 w 6447"/>
              <a:gd name="T11" fmla="*/ 4817 h 6381"/>
              <a:gd name="T12" fmla="*/ 5469 w 6447"/>
              <a:gd name="T13" fmla="*/ 5469 h 6381"/>
              <a:gd name="T14" fmla="*/ 3256 w 6447"/>
              <a:gd name="T15" fmla="*/ 5469 h 6381"/>
              <a:gd name="T16" fmla="*/ 977 w 6447"/>
              <a:gd name="T17" fmla="*/ 3190 h 6381"/>
              <a:gd name="T18" fmla="*/ 5469 w 6447"/>
              <a:gd name="T19" fmla="*/ 5469 h 6381"/>
              <a:gd name="T20" fmla="*/ 5469 w 6447"/>
              <a:gd name="T21" fmla="*/ 5469 h 6381"/>
              <a:gd name="T22" fmla="*/ 6446 w 6447"/>
              <a:gd name="T23" fmla="*/ 3190 h 6381"/>
              <a:gd name="T24" fmla="*/ 3256 w 6447"/>
              <a:gd name="T25" fmla="*/ 0 h 6381"/>
              <a:gd name="T26" fmla="*/ 0 w 6447"/>
              <a:gd name="T27" fmla="*/ 3190 h 6381"/>
              <a:gd name="T28" fmla="*/ 3256 w 6447"/>
              <a:gd name="T29" fmla="*/ 6380 h 6381"/>
              <a:gd name="T30" fmla="*/ 6446 w 6447"/>
              <a:gd name="T31" fmla="*/ 6380 h 6381"/>
              <a:gd name="T32" fmla="*/ 6446 w 6447"/>
              <a:gd name="T33" fmla="*/ 5469 h 6381"/>
              <a:gd name="T34" fmla="*/ 5469 w 6447"/>
              <a:gd name="T35" fmla="*/ 5469 h 6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47" h="6381">
                <a:moveTo>
                  <a:pt x="977" y="3190"/>
                </a:moveTo>
                <a:lnTo>
                  <a:pt x="977" y="3190"/>
                </a:lnTo>
                <a:cubicBezTo>
                  <a:pt x="977" y="1952"/>
                  <a:pt x="1954" y="975"/>
                  <a:pt x="3256" y="975"/>
                </a:cubicBezTo>
                <a:cubicBezTo>
                  <a:pt x="4492" y="975"/>
                  <a:pt x="5469" y="1952"/>
                  <a:pt x="5469" y="3190"/>
                </a:cubicBezTo>
                <a:cubicBezTo>
                  <a:pt x="5469" y="3775"/>
                  <a:pt x="5273" y="4361"/>
                  <a:pt x="4819" y="4817"/>
                </a:cubicBezTo>
                <a:cubicBezTo>
                  <a:pt x="5469" y="4817"/>
                  <a:pt x="5469" y="4817"/>
                  <a:pt x="5469" y="4817"/>
                </a:cubicBezTo>
                <a:cubicBezTo>
                  <a:pt x="5469" y="5469"/>
                  <a:pt x="5469" y="5469"/>
                  <a:pt x="5469" y="5469"/>
                </a:cubicBezTo>
                <a:cubicBezTo>
                  <a:pt x="3256" y="5469"/>
                  <a:pt x="3256" y="5469"/>
                  <a:pt x="3256" y="5469"/>
                </a:cubicBezTo>
                <a:cubicBezTo>
                  <a:pt x="1954" y="5469"/>
                  <a:pt x="977" y="4492"/>
                  <a:pt x="977" y="3190"/>
                </a:cubicBezTo>
                <a:close/>
                <a:moveTo>
                  <a:pt x="5469" y="5469"/>
                </a:moveTo>
                <a:lnTo>
                  <a:pt x="5469" y="5469"/>
                </a:lnTo>
                <a:cubicBezTo>
                  <a:pt x="6121" y="4882"/>
                  <a:pt x="6446" y="4036"/>
                  <a:pt x="6446" y="3190"/>
                </a:cubicBezTo>
                <a:cubicBezTo>
                  <a:pt x="6446" y="1431"/>
                  <a:pt x="5013" y="0"/>
                  <a:pt x="3256" y="0"/>
                </a:cubicBezTo>
                <a:cubicBezTo>
                  <a:pt x="1433" y="0"/>
                  <a:pt x="0" y="1431"/>
                  <a:pt x="0" y="3190"/>
                </a:cubicBezTo>
                <a:cubicBezTo>
                  <a:pt x="0" y="5013"/>
                  <a:pt x="1433" y="6380"/>
                  <a:pt x="3256" y="6380"/>
                </a:cubicBezTo>
                <a:cubicBezTo>
                  <a:pt x="6446" y="6380"/>
                  <a:pt x="6446" y="6380"/>
                  <a:pt x="6446" y="6380"/>
                </a:cubicBezTo>
                <a:cubicBezTo>
                  <a:pt x="6446" y="5469"/>
                  <a:pt x="6446" y="5469"/>
                  <a:pt x="6446" y="5469"/>
                </a:cubicBezTo>
                <a:lnTo>
                  <a:pt x="5469" y="5469"/>
                </a:lnTo>
                <a:close/>
              </a:path>
            </a:pathLst>
          </a:custGeom>
          <a:solidFill>
            <a:schemeClr val="accent3"/>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dk1"/>
              </a:solidFill>
              <a:latin typeface="微软雅黑"/>
              <a:ea typeface="微软雅黑"/>
              <a:sym typeface="微软雅黑"/>
            </a:endParaRPr>
          </a:p>
        </p:txBody>
      </p:sp>
      <p:sp>
        <p:nvSpPr>
          <p:cNvPr id="3" name="稻壳儿智宇https://www.docer.com/works?userid=328340712">
            <a:extLst>
              <a:ext uri="{FF2B5EF4-FFF2-40B4-BE49-F238E27FC236}">
                <a16:creationId xmlns:a16="http://schemas.microsoft.com/office/drawing/2014/main" id="{7B526B3D-EE38-4548-7955-69890BC5669E}"/>
              </a:ext>
            </a:extLst>
          </p:cNvPr>
          <p:cNvSpPr txBox="1"/>
          <p:nvPr>
            <p:custDataLst>
              <p:tags r:id="rId7"/>
            </p:custDataLst>
          </p:nvPr>
        </p:nvSpPr>
        <p:spPr>
          <a:xfrm>
            <a:off x="1228361" y="1896070"/>
            <a:ext cx="1125707" cy="553978"/>
          </a:xfrm>
          <a:prstGeom prst="rect">
            <a:avLst/>
          </a:prstGeom>
          <a:noFill/>
        </p:spPr>
        <p:txBody>
          <a:bodyPr wrap="square" lIns="121899" tIns="60950" rIns="121899" bIns="6095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dk1"/>
                </a:solidFill>
                <a:latin typeface="思源宋体" panose="02020400000000000000" pitchFamily="18" charset="-122"/>
                <a:ea typeface="思源宋体" panose="02020400000000000000" pitchFamily="18" charset="-122"/>
                <a:cs typeface="Roboto Regular"/>
                <a:sym typeface="微软雅黑"/>
              </a:rPr>
              <a:t>反思</a:t>
            </a:r>
            <a:endParaRPr lang="en-US" sz="2800" dirty="0">
              <a:solidFill>
                <a:schemeClr val="dk1"/>
              </a:solidFill>
              <a:latin typeface="思源宋体" panose="02020400000000000000" pitchFamily="18" charset="-122"/>
              <a:ea typeface="思源宋体" panose="02020400000000000000" pitchFamily="18" charset="-122"/>
              <a:cs typeface="Roboto Regular"/>
              <a:sym typeface="微软雅黑"/>
            </a:endParaRPr>
          </a:p>
        </p:txBody>
      </p:sp>
      <p:sp>
        <p:nvSpPr>
          <p:cNvPr id="5" name="稻壳儿智宇https://www.docer.com/works?userid=328340712">
            <a:extLst>
              <a:ext uri="{FF2B5EF4-FFF2-40B4-BE49-F238E27FC236}">
                <a16:creationId xmlns:a16="http://schemas.microsoft.com/office/drawing/2014/main" id="{FAE823DA-0B7D-2D42-59D1-7F790B66AD75}"/>
              </a:ext>
            </a:extLst>
          </p:cNvPr>
          <p:cNvSpPr>
            <a:spLocks noChangeArrowheads="1"/>
          </p:cNvSpPr>
          <p:nvPr>
            <p:custDataLst>
              <p:tags r:id="rId8"/>
            </p:custDataLst>
          </p:nvPr>
        </p:nvSpPr>
        <p:spPr bwMode="auto">
          <a:xfrm>
            <a:off x="895646" y="3874124"/>
            <a:ext cx="1791131" cy="1773218"/>
          </a:xfrm>
          <a:custGeom>
            <a:avLst/>
            <a:gdLst>
              <a:gd name="T0" fmla="*/ 977 w 6447"/>
              <a:gd name="T1" fmla="*/ 3190 h 6381"/>
              <a:gd name="T2" fmla="*/ 977 w 6447"/>
              <a:gd name="T3" fmla="*/ 3190 h 6381"/>
              <a:gd name="T4" fmla="*/ 3256 w 6447"/>
              <a:gd name="T5" fmla="*/ 975 h 6381"/>
              <a:gd name="T6" fmla="*/ 5469 w 6447"/>
              <a:gd name="T7" fmla="*/ 3190 h 6381"/>
              <a:gd name="T8" fmla="*/ 4819 w 6447"/>
              <a:gd name="T9" fmla="*/ 4817 h 6381"/>
              <a:gd name="T10" fmla="*/ 5469 w 6447"/>
              <a:gd name="T11" fmla="*/ 4817 h 6381"/>
              <a:gd name="T12" fmla="*/ 5469 w 6447"/>
              <a:gd name="T13" fmla="*/ 5469 h 6381"/>
              <a:gd name="T14" fmla="*/ 3256 w 6447"/>
              <a:gd name="T15" fmla="*/ 5469 h 6381"/>
              <a:gd name="T16" fmla="*/ 977 w 6447"/>
              <a:gd name="T17" fmla="*/ 3190 h 6381"/>
              <a:gd name="T18" fmla="*/ 5469 w 6447"/>
              <a:gd name="T19" fmla="*/ 5469 h 6381"/>
              <a:gd name="T20" fmla="*/ 5469 w 6447"/>
              <a:gd name="T21" fmla="*/ 5469 h 6381"/>
              <a:gd name="T22" fmla="*/ 6446 w 6447"/>
              <a:gd name="T23" fmla="*/ 3190 h 6381"/>
              <a:gd name="T24" fmla="*/ 3256 w 6447"/>
              <a:gd name="T25" fmla="*/ 0 h 6381"/>
              <a:gd name="T26" fmla="*/ 0 w 6447"/>
              <a:gd name="T27" fmla="*/ 3190 h 6381"/>
              <a:gd name="T28" fmla="*/ 3256 w 6447"/>
              <a:gd name="T29" fmla="*/ 6380 h 6381"/>
              <a:gd name="T30" fmla="*/ 6446 w 6447"/>
              <a:gd name="T31" fmla="*/ 6380 h 6381"/>
              <a:gd name="T32" fmla="*/ 6446 w 6447"/>
              <a:gd name="T33" fmla="*/ 5469 h 6381"/>
              <a:gd name="T34" fmla="*/ 5469 w 6447"/>
              <a:gd name="T35" fmla="*/ 5469 h 6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47" h="6381">
                <a:moveTo>
                  <a:pt x="977" y="3190"/>
                </a:moveTo>
                <a:lnTo>
                  <a:pt x="977" y="3190"/>
                </a:lnTo>
                <a:cubicBezTo>
                  <a:pt x="977" y="1952"/>
                  <a:pt x="1954" y="975"/>
                  <a:pt x="3256" y="975"/>
                </a:cubicBezTo>
                <a:cubicBezTo>
                  <a:pt x="4492" y="975"/>
                  <a:pt x="5469" y="1952"/>
                  <a:pt x="5469" y="3190"/>
                </a:cubicBezTo>
                <a:cubicBezTo>
                  <a:pt x="5469" y="3775"/>
                  <a:pt x="5273" y="4361"/>
                  <a:pt x="4819" y="4817"/>
                </a:cubicBezTo>
                <a:cubicBezTo>
                  <a:pt x="5469" y="4817"/>
                  <a:pt x="5469" y="4817"/>
                  <a:pt x="5469" y="4817"/>
                </a:cubicBezTo>
                <a:cubicBezTo>
                  <a:pt x="5469" y="5469"/>
                  <a:pt x="5469" y="5469"/>
                  <a:pt x="5469" y="5469"/>
                </a:cubicBezTo>
                <a:cubicBezTo>
                  <a:pt x="3256" y="5469"/>
                  <a:pt x="3256" y="5469"/>
                  <a:pt x="3256" y="5469"/>
                </a:cubicBezTo>
                <a:cubicBezTo>
                  <a:pt x="1954" y="5469"/>
                  <a:pt x="977" y="4492"/>
                  <a:pt x="977" y="3190"/>
                </a:cubicBezTo>
                <a:close/>
                <a:moveTo>
                  <a:pt x="5469" y="5469"/>
                </a:moveTo>
                <a:lnTo>
                  <a:pt x="5469" y="5469"/>
                </a:lnTo>
                <a:cubicBezTo>
                  <a:pt x="6121" y="4882"/>
                  <a:pt x="6446" y="4036"/>
                  <a:pt x="6446" y="3190"/>
                </a:cubicBezTo>
                <a:cubicBezTo>
                  <a:pt x="6446" y="1431"/>
                  <a:pt x="5013" y="0"/>
                  <a:pt x="3256" y="0"/>
                </a:cubicBezTo>
                <a:cubicBezTo>
                  <a:pt x="1433" y="0"/>
                  <a:pt x="0" y="1431"/>
                  <a:pt x="0" y="3190"/>
                </a:cubicBezTo>
                <a:cubicBezTo>
                  <a:pt x="0" y="5013"/>
                  <a:pt x="1433" y="6380"/>
                  <a:pt x="3256" y="6380"/>
                </a:cubicBezTo>
                <a:cubicBezTo>
                  <a:pt x="6446" y="6380"/>
                  <a:pt x="6446" y="6380"/>
                  <a:pt x="6446" y="6380"/>
                </a:cubicBezTo>
                <a:cubicBezTo>
                  <a:pt x="6446" y="5469"/>
                  <a:pt x="6446" y="5469"/>
                  <a:pt x="6446" y="5469"/>
                </a:cubicBezTo>
                <a:lnTo>
                  <a:pt x="5469" y="5469"/>
                </a:lnTo>
                <a:close/>
              </a:path>
            </a:pathLst>
          </a:custGeom>
          <a:solidFill>
            <a:schemeClr val="accent4"/>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dk1"/>
              </a:solidFill>
              <a:latin typeface="微软雅黑"/>
              <a:ea typeface="微软雅黑"/>
              <a:sym typeface="微软雅黑"/>
            </a:endParaRPr>
          </a:p>
        </p:txBody>
      </p:sp>
    </p:spTree>
    <p:extLst>
      <p:ext uri="{BB962C8B-B14F-4D97-AF65-F5344CB8AC3E}">
        <p14:creationId xmlns:p14="http://schemas.microsoft.com/office/powerpoint/2010/main" val="22135908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CF14-40BC-CEC6-6729-EC10483A0347}"/>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AF3FF05-0E2B-8D81-E64E-ABC9AC59CB05}"/>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04</a:t>
            </a:r>
          </a:p>
        </p:txBody>
      </p:sp>
      <p:sp>
        <p:nvSpPr>
          <p:cNvPr id="19" name="稻壳儿智宇https://www.docer.com/works?userid=328340712">
            <a:extLst>
              <a:ext uri="{FF2B5EF4-FFF2-40B4-BE49-F238E27FC236}">
                <a16:creationId xmlns:a16="http://schemas.microsoft.com/office/drawing/2014/main" id="{EE62CFD4-70E3-2ECD-AA19-31F17588C8E4}"/>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预期安排及困难</a:t>
            </a:r>
          </a:p>
        </p:txBody>
      </p:sp>
      <p:sp>
        <p:nvSpPr>
          <p:cNvPr id="17" name="稻壳儿智宇https://www.docer.com/works?userid=328340712">
            <a:extLst>
              <a:ext uri="{FF2B5EF4-FFF2-40B4-BE49-F238E27FC236}">
                <a16:creationId xmlns:a16="http://schemas.microsoft.com/office/drawing/2014/main" id="{8C35AAB3-87C9-967A-F242-C88CB3353167}"/>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four</a:t>
            </a:r>
          </a:p>
        </p:txBody>
      </p:sp>
      <p:pic>
        <p:nvPicPr>
          <p:cNvPr id="3" name="图片 2">
            <a:extLst>
              <a:ext uri="{FF2B5EF4-FFF2-40B4-BE49-F238E27FC236}">
                <a16:creationId xmlns:a16="http://schemas.microsoft.com/office/drawing/2014/main" id="{25C4EB10-D826-E506-0F7E-51A376964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259977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DB6F-574E-D2B6-D3C8-5D9B8B69795D}"/>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11E8D78-0831-7C78-53C5-2A7F499D57C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04.</a:t>
            </a:r>
            <a:r>
              <a:rPr lang="zh-CN" altLang="en-US" dirty="0">
                <a:solidFill>
                  <a:schemeClr val="accent1"/>
                </a:solidFill>
                <a:latin typeface="思源宋体" panose="02020400000000000000" pitchFamily="18" charset="-122"/>
                <a:ea typeface="思源宋体" panose="02020400000000000000" pitchFamily="18" charset="-122"/>
                <a:sym typeface="微软雅黑"/>
              </a:rPr>
              <a:t>预期安排</a:t>
            </a:r>
          </a:p>
        </p:txBody>
      </p:sp>
      <p:sp>
        <p:nvSpPr>
          <p:cNvPr id="2" name="稻壳儿智宇https://www.docer.com/works?userid=328340712">
            <a:extLst>
              <a:ext uri="{FF2B5EF4-FFF2-40B4-BE49-F238E27FC236}">
                <a16:creationId xmlns:a16="http://schemas.microsoft.com/office/drawing/2014/main" id="{1DD224F8-1C6E-39DB-8DC6-659D9AFFA7E6}"/>
              </a:ext>
            </a:extLst>
          </p:cNvPr>
          <p:cNvSpPr/>
          <p:nvPr/>
        </p:nvSpPr>
        <p:spPr>
          <a:xfrm>
            <a:off x="8672558" y="3501572"/>
            <a:ext cx="1665263" cy="1210611"/>
          </a:xfrm>
          <a:custGeom>
            <a:avLst/>
            <a:gdLst>
              <a:gd name="connsiteX0" fmla="*/ 470535 w 941260"/>
              <a:gd name="connsiteY0" fmla="*/ 684276 h 684276"/>
              <a:gd name="connsiteX1" fmla="*/ 0 w 941260"/>
              <a:gd name="connsiteY1" fmla="*/ 213741 h 684276"/>
              <a:gd name="connsiteX2" fmla="*/ 51245 w 941260"/>
              <a:gd name="connsiteY2" fmla="*/ 0 h 684276"/>
              <a:gd name="connsiteX3" fmla="*/ 71628 w 941260"/>
              <a:gd name="connsiteY3" fmla="*/ 10382 h 684276"/>
              <a:gd name="connsiteX4" fmla="*/ 22955 w 941260"/>
              <a:gd name="connsiteY4" fmla="*/ 213646 h 684276"/>
              <a:gd name="connsiteX5" fmla="*/ 470630 w 941260"/>
              <a:gd name="connsiteY5" fmla="*/ 661321 h 684276"/>
              <a:gd name="connsiteX6" fmla="*/ 918305 w 941260"/>
              <a:gd name="connsiteY6" fmla="*/ 213646 h 684276"/>
              <a:gd name="connsiteX7" fmla="*/ 869633 w 941260"/>
              <a:gd name="connsiteY7" fmla="*/ 10382 h 684276"/>
              <a:gd name="connsiteX8" fmla="*/ 890016 w 941260"/>
              <a:gd name="connsiteY8" fmla="*/ 0 h 684276"/>
              <a:gd name="connsiteX9" fmla="*/ 941261 w 941260"/>
              <a:gd name="connsiteY9" fmla="*/ 213741 h 684276"/>
              <a:gd name="connsiteX10" fmla="*/ 470535 w 941260"/>
              <a:gd name="connsiteY10" fmla="*/ 684276 h 6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260" h="684276">
                <a:moveTo>
                  <a:pt x="470535" y="684276"/>
                </a:moveTo>
                <a:cubicBezTo>
                  <a:pt x="211074" y="684276"/>
                  <a:pt x="0" y="473202"/>
                  <a:pt x="0" y="213741"/>
                </a:cubicBezTo>
                <a:cubicBezTo>
                  <a:pt x="0" y="138494"/>
                  <a:pt x="17241" y="66580"/>
                  <a:pt x="51245" y="0"/>
                </a:cubicBezTo>
                <a:lnTo>
                  <a:pt x="71628" y="10382"/>
                </a:lnTo>
                <a:cubicBezTo>
                  <a:pt x="39338" y="73724"/>
                  <a:pt x="22955" y="142113"/>
                  <a:pt x="22955" y="213646"/>
                </a:cubicBezTo>
                <a:cubicBezTo>
                  <a:pt x="22955" y="460439"/>
                  <a:pt x="223742" y="661321"/>
                  <a:pt x="470630" y="661321"/>
                </a:cubicBezTo>
                <a:cubicBezTo>
                  <a:pt x="717423" y="661321"/>
                  <a:pt x="918305" y="460534"/>
                  <a:pt x="918305" y="213646"/>
                </a:cubicBezTo>
                <a:cubicBezTo>
                  <a:pt x="918305" y="142018"/>
                  <a:pt x="901922" y="73628"/>
                  <a:pt x="869633" y="10382"/>
                </a:cubicBezTo>
                <a:lnTo>
                  <a:pt x="890016" y="0"/>
                </a:lnTo>
                <a:cubicBezTo>
                  <a:pt x="924020" y="66580"/>
                  <a:pt x="941261" y="138494"/>
                  <a:pt x="941261" y="213741"/>
                </a:cubicBezTo>
                <a:cubicBezTo>
                  <a:pt x="941070" y="473202"/>
                  <a:pt x="729996" y="684276"/>
                  <a:pt x="470535" y="684276"/>
                </a:cubicBezTo>
                <a:close/>
              </a:path>
            </a:pathLst>
          </a:custGeom>
          <a:solidFill>
            <a:schemeClr val="accent6"/>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3" name="稻壳儿智宇https://www.docer.com/works?userid=328340712">
            <a:extLst>
              <a:ext uri="{FF2B5EF4-FFF2-40B4-BE49-F238E27FC236}">
                <a16:creationId xmlns:a16="http://schemas.microsoft.com/office/drawing/2014/main" id="{A339FEC7-1727-F991-C4FD-A5CEFDA73E80}"/>
              </a:ext>
            </a:extLst>
          </p:cNvPr>
          <p:cNvSpPr/>
          <p:nvPr/>
        </p:nvSpPr>
        <p:spPr>
          <a:xfrm>
            <a:off x="8935678" y="3310269"/>
            <a:ext cx="1138479" cy="1138480"/>
          </a:xfrm>
          <a:custGeom>
            <a:avLst/>
            <a:gdLst>
              <a:gd name="connsiteX0" fmla="*/ 643506 w 643505"/>
              <a:gd name="connsiteY0" fmla="*/ 321753 h 643505"/>
              <a:gd name="connsiteX1" fmla="*/ 321753 w 643505"/>
              <a:gd name="connsiteY1" fmla="*/ 643506 h 643505"/>
              <a:gd name="connsiteX2" fmla="*/ 0 w 643505"/>
              <a:gd name="connsiteY2" fmla="*/ 321753 h 643505"/>
              <a:gd name="connsiteX3" fmla="*/ 321753 w 643505"/>
              <a:gd name="connsiteY3" fmla="*/ 0 h 643505"/>
              <a:gd name="connsiteX4" fmla="*/ 643506 w 643505"/>
              <a:gd name="connsiteY4" fmla="*/ 321753 h 64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505" h="643505">
                <a:moveTo>
                  <a:pt x="643506" y="321753"/>
                </a:moveTo>
                <a:cubicBezTo>
                  <a:pt x="643506" y="499452"/>
                  <a:pt x="499452" y="643506"/>
                  <a:pt x="321753" y="643506"/>
                </a:cubicBezTo>
                <a:cubicBezTo>
                  <a:pt x="144054" y="643506"/>
                  <a:pt x="0" y="499452"/>
                  <a:pt x="0" y="321753"/>
                </a:cubicBezTo>
                <a:cubicBezTo>
                  <a:pt x="0" y="144054"/>
                  <a:pt x="144054" y="0"/>
                  <a:pt x="321753" y="0"/>
                </a:cubicBezTo>
                <a:cubicBezTo>
                  <a:pt x="499452" y="0"/>
                  <a:pt x="643506" y="144054"/>
                  <a:pt x="643506" y="321753"/>
                </a:cubicBezTo>
                <a:close/>
              </a:path>
            </a:pathLst>
          </a:custGeom>
          <a:solidFill>
            <a:schemeClr val="accent6"/>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lt1"/>
                </a:solidFill>
                <a:latin typeface="思源宋体" panose="02020400000000000000" pitchFamily="18" charset="-122"/>
                <a:ea typeface="思源宋体" panose="02020400000000000000" pitchFamily="18" charset="-122"/>
                <a:sym typeface="微软雅黑"/>
              </a:rPr>
              <a:t>2026.05</a:t>
            </a:r>
          </a:p>
        </p:txBody>
      </p:sp>
      <p:sp>
        <p:nvSpPr>
          <p:cNvPr id="5" name="稻壳儿智宇https://www.docer.com/works?userid=328340712">
            <a:extLst>
              <a:ext uri="{FF2B5EF4-FFF2-40B4-BE49-F238E27FC236}">
                <a16:creationId xmlns:a16="http://schemas.microsoft.com/office/drawing/2014/main" id="{939D0E22-CDE6-1EE1-71CB-196106127CD5}"/>
              </a:ext>
            </a:extLst>
          </p:cNvPr>
          <p:cNvSpPr/>
          <p:nvPr/>
        </p:nvSpPr>
        <p:spPr>
          <a:xfrm>
            <a:off x="1837426" y="2150757"/>
            <a:ext cx="1664927" cy="1210609"/>
          </a:xfrm>
          <a:custGeom>
            <a:avLst/>
            <a:gdLst>
              <a:gd name="connsiteX0" fmla="*/ 889921 w 941070"/>
              <a:gd name="connsiteY0" fmla="*/ 684276 h 684275"/>
              <a:gd name="connsiteX1" fmla="*/ 869537 w 941070"/>
              <a:gd name="connsiteY1" fmla="*/ 673894 h 684275"/>
              <a:gd name="connsiteX2" fmla="*/ 918210 w 941070"/>
              <a:gd name="connsiteY2" fmla="*/ 470630 h 684275"/>
              <a:gd name="connsiteX3" fmla="*/ 470535 w 941070"/>
              <a:gd name="connsiteY3" fmla="*/ 22955 h 684275"/>
              <a:gd name="connsiteX4" fmla="*/ 22860 w 941070"/>
              <a:gd name="connsiteY4" fmla="*/ 470630 h 684275"/>
              <a:gd name="connsiteX5" fmla="*/ 71533 w 941070"/>
              <a:gd name="connsiteY5" fmla="*/ 673894 h 684275"/>
              <a:gd name="connsiteX6" fmla="*/ 51149 w 941070"/>
              <a:gd name="connsiteY6" fmla="*/ 684276 h 684275"/>
              <a:gd name="connsiteX7" fmla="*/ 0 w 941070"/>
              <a:gd name="connsiteY7" fmla="*/ 470535 h 684275"/>
              <a:gd name="connsiteX8" fmla="*/ 470535 w 941070"/>
              <a:gd name="connsiteY8" fmla="*/ 0 h 684275"/>
              <a:gd name="connsiteX9" fmla="*/ 941070 w 941070"/>
              <a:gd name="connsiteY9" fmla="*/ 470535 h 684275"/>
              <a:gd name="connsiteX10" fmla="*/ 889921 w 941070"/>
              <a:gd name="connsiteY10" fmla="*/ 684276 h 68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070" h="684275">
                <a:moveTo>
                  <a:pt x="889921" y="684276"/>
                </a:moveTo>
                <a:lnTo>
                  <a:pt x="869537" y="673894"/>
                </a:lnTo>
                <a:cubicBezTo>
                  <a:pt x="901827" y="610553"/>
                  <a:pt x="918210" y="542163"/>
                  <a:pt x="918210" y="470630"/>
                </a:cubicBezTo>
                <a:cubicBezTo>
                  <a:pt x="918210" y="223838"/>
                  <a:pt x="717423" y="22955"/>
                  <a:pt x="470535" y="22955"/>
                </a:cubicBezTo>
                <a:cubicBezTo>
                  <a:pt x="223742" y="22955"/>
                  <a:pt x="22860" y="223742"/>
                  <a:pt x="22860" y="470630"/>
                </a:cubicBezTo>
                <a:cubicBezTo>
                  <a:pt x="22860" y="542258"/>
                  <a:pt x="39243" y="610648"/>
                  <a:pt x="71533" y="673894"/>
                </a:cubicBezTo>
                <a:lnTo>
                  <a:pt x="51149" y="684276"/>
                </a:lnTo>
                <a:cubicBezTo>
                  <a:pt x="17240" y="617696"/>
                  <a:pt x="0" y="545783"/>
                  <a:pt x="0" y="470535"/>
                </a:cubicBezTo>
                <a:cubicBezTo>
                  <a:pt x="0" y="211074"/>
                  <a:pt x="211074" y="0"/>
                  <a:pt x="470535" y="0"/>
                </a:cubicBezTo>
                <a:cubicBezTo>
                  <a:pt x="729996" y="0"/>
                  <a:pt x="941070" y="211074"/>
                  <a:pt x="941070" y="470535"/>
                </a:cubicBezTo>
                <a:cubicBezTo>
                  <a:pt x="941070" y="545783"/>
                  <a:pt x="923925" y="617696"/>
                  <a:pt x="889921" y="684276"/>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6" name="稻壳儿智宇https://www.docer.com/works?userid=328340712">
            <a:extLst>
              <a:ext uri="{FF2B5EF4-FFF2-40B4-BE49-F238E27FC236}">
                <a16:creationId xmlns:a16="http://schemas.microsoft.com/office/drawing/2014/main" id="{73263916-E1E8-B7F0-75A7-51D686E64C40}"/>
              </a:ext>
            </a:extLst>
          </p:cNvPr>
          <p:cNvSpPr/>
          <p:nvPr/>
        </p:nvSpPr>
        <p:spPr>
          <a:xfrm>
            <a:off x="2100596" y="2414028"/>
            <a:ext cx="1138474" cy="1138474"/>
          </a:xfrm>
          <a:custGeom>
            <a:avLst/>
            <a:gdLst>
              <a:gd name="connsiteX0" fmla="*/ 643503 w 643502"/>
              <a:gd name="connsiteY0" fmla="*/ 321751 h 643502"/>
              <a:gd name="connsiteX1" fmla="*/ 321751 w 643502"/>
              <a:gd name="connsiteY1" fmla="*/ 643503 h 643502"/>
              <a:gd name="connsiteX2" fmla="*/ 0 w 643502"/>
              <a:gd name="connsiteY2" fmla="*/ 321751 h 643502"/>
              <a:gd name="connsiteX3" fmla="*/ 321751 w 643502"/>
              <a:gd name="connsiteY3" fmla="*/ 0 h 643502"/>
              <a:gd name="connsiteX4" fmla="*/ 643503 w 643502"/>
              <a:gd name="connsiteY4" fmla="*/ 321751 h 643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502" h="643502">
                <a:moveTo>
                  <a:pt x="643503" y="321751"/>
                </a:moveTo>
                <a:cubicBezTo>
                  <a:pt x="643503" y="499450"/>
                  <a:pt x="499450" y="643503"/>
                  <a:pt x="321751" y="643503"/>
                </a:cubicBezTo>
                <a:cubicBezTo>
                  <a:pt x="144053" y="643503"/>
                  <a:pt x="0" y="499450"/>
                  <a:pt x="0" y="321751"/>
                </a:cubicBezTo>
                <a:cubicBezTo>
                  <a:pt x="0" y="144053"/>
                  <a:pt x="144053" y="0"/>
                  <a:pt x="321751" y="0"/>
                </a:cubicBezTo>
                <a:cubicBezTo>
                  <a:pt x="499450" y="0"/>
                  <a:pt x="643503" y="144053"/>
                  <a:pt x="643503" y="321751"/>
                </a:cubicBezTo>
                <a:close/>
              </a:path>
            </a:pathLst>
          </a:custGeom>
          <a:solidFill>
            <a:schemeClr val="accent1"/>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lt1"/>
                </a:solidFill>
                <a:latin typeface="思源宋体" panose="02020400000000000000" pitchFamily="18" charset="-122"/>
                <a:ea typeface="思源宋体" panose="02020400000000000000" pitchFamily="18" charset="-122"/>
                <a:sym typeface="微软雅黑"/>
              </a:rPr>
              <a:t>2025.10</a:t>
            </a:r>
          </a:p>
        </p:txBody>
      </p:sp>
      <p:sp>
        <p:nvSpPr>
          <p:cNvPr id="10" name="稻壳儿智宇https://www.docer.com/works?userid=328340712">
            <a:extLst>
              <a:ext uri="{FF2B5EF4-FFF2-40B4-BE49-F238E27FC236}">
                <a16:creationId xmlns:a16="http://schemas.microsoft.com/office/drawing/2014/main" id="{11690819-3502-CCE2-8E98-3C6611D74D70}"/>
              </a:ext>
            </a:extLst>
          </p:cNvPr>
          <p:cNvSpPr/>
          <p:nvPr/>
        </p:nvSpPr>
        <p:spPr>
          <a:xfrm>
            <a:off x="3208125" y="3501572"/>
            <a:ext cx="1665263" cy="1210611"/>
          </a:xfrm>
          <a:custGeom>
            <a:avLst/>
            <a:gdLst>
              <a:gd name="connsiteX0" fmla="*/ 470535 w 941260"/>
              <a:gd name="connsiteY0" fmla="*/ 684276 h 684276"/>
              <a:gd name="connsiteX1" fmla="*/ 0 w 941260"/>
              <a:gd name="connsiteY1" fmla="*/ 213741 h 684276"/>
              <a:gd name="connsiteX2" fmla="*/ 51245 w 941260"/>
              <a:gd name="connsiteY2" fmla="*/ 0 h 684276"/>
              <a:gd name="connsiteX3" fmla="*/ 71628 w 941260"/>
              <a:gd name="connsiteY3" fmla="*/ 10382 h 684276"/>
              <a:gd name="connsiteX4" fmla="*/ 22955 w 941260"/>
              <a:gd name="connsiteY4" fmla="*/ 213646 h 684276"/>
              <a:gd name="connsiteX5" fmla="*/ 470630 w 941260"/>
              <a:gd name="connsiteY5" fmla="*/ 661321 h 684276"/>
              <a:gd name="connsiteX6" fmla="*/ 918305 w 941260"/>
              <a:gd name="connsiteY6" fmla="*/ 213646 h 684276"/>
              <a:gd name="connsiteX7" fmla="*/ 869633 w 941260"/>
              <a:gd name="connsiteY7" fmla="*/ 10382 h 684276"/>
              <a:gd name="connsiteX8" fmla="*/ 890016 w 941260"/>
              <a:gd name="connsiteY8" fmla="*/ 0 h 684276"/>
              <a:gd name="connsiteX9" fmla="*/ 941261 w 941260"/>
              <a:gd name="connsiteY9" fmla="*/ 213741 h 684276"/>
              <a:gd name="connsiteX10" fmla="*/ 470535 w 941260"/>
              <a:gd name="connsiteY10" fmla="*/ 684276 h 6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260" h="684276">
                <a:moveTo>
                  <a:pt x="470535" y="684276"/>
                </a:moveTo>
                <a:cubicBezTo>
                  <a:pt x="211074" y="684276"/>
                  <a:pt x="0" y="473202"/>
                  <a:pt x="0" y="213741"/>
                </a:cubicBezTo>
                <a:cubicBezTo>
                  <a:pt x="0" y="138494"/>
                  <a:pt x="17240" y="66580"/>
                  <a:pt x="51245" y="0"/>
                </a:cubicBezTo>
                <a:lnTo>
                  <a:pt x="71628" y="10382"/>
                </a:lnTo>
                <a:cubicBezTo>
                  <a:pt x="39338" y="73724"/>
                  <a:pt x="22955" y="142113"/>
                  <a:pt x="22955" y="213646"/>
                </a:cubicBezTo>
                <a:cubicBezTo>
                  <a:pt x="22955" y="460439"/>
                  <a:pt x="223742" y="661321"/>
                  <a:pt x="470630" y="661321"/>
                </a:cubicBezTo>
                <a:cubicBezTo>
                  <a:pt x="717423" y="661321"/>
                  <a:pt x="918305" y="460534"/>
                  <a:pt x="918305" y="213646"/>
                </a:cubicBezTo>
                <a:cubicBezTo>
                  <a:pt x="918305" y="142018"/>
                  <a:pt x="901922" y="73628"/>
                  <a:pt x="869633" y="10382"/>
                </a:cubicBezTo>
                <a:lnTo>
                  <a:pt x="890016" y="0"/>
                </a:lnTo>
                <a:cubicBezTo>
                  <a:pt x="924020" y="66580"/>
                  <a:pt x="941261" y="138494"/>
                  <a:pt x="941261" y="213741"/>
                </a:cubicBezTo>
                <a:cubicBezTo>
                  <a:pt x="941070" y="473202"/>
                  <a:pt x="729996" y="684276"/>
                  <a:pt x="470535" y="684276"/>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11" name="稻壳儿智宇https://www.docer.com/works?userid=328340712">
            <a:extLst>
              <a:ext uri="{FF2B5EF4-FFF2-40B4-BE49-F238E27FC236}">
                <a16:creationId xmlns:a16="http://schemas.microsoft.com/office/drawing/2014/main" id="{4A0275DE-BA1D-B825-7CAD-2CF732C304B4}"/>
              </a:ext>
            </a:extLst>
          </p:cNvPr>
          <p:cNvSpPr/>
          <p:nvPr/>
        </p:nvSpPr>
        <p:spPr>
          <a:xfrm rot="27166">
            <a:off x="3471470" y="3310350"/>
            <a:ext cx="1138533" cy="1138533"/>
          </a:xfrm>
          <a:custGeom>
            <a:avLst/>
            <a:gdLst>
              <a:gd name="connsiteX0" fmla="*/ 643536 w 643535"/>
              <a:gd name="connsiteY0" fmla="*/ 321768 h 643535"/>
              <a:gd name="connsiteX1" fmla="*/ 321768 w 643535"/>
              <a:gd name="connsiteY1" fmla="*/ 643535 h 643535"/>
              <a:gd name="connsiteX2" fmla="*/ 0 w 643535"/>
              <a:gd name="connsiteY2" fmla="*/ 321768 h 643535"/>
              <a:gd name="connsiteX3" fmla="*/ 321768 w 643535"/>
              <a:gd name="connsiteY3" fmla="*/ 0 h 643535"/>
              <a:gd name="connsiteX4" fmla="*/ 643536 w 643535"/>
              <a:gd name="connsiteY4" fmla="*/ 321768 h 643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535" h="643535">
                <a:moveTo>
                  <a:pt x="643536" y="321768"/>
                </a:moveTo>
                <a:cubicBezTo>
                  <a:pt x="643536" y="499475"/>
                  <a:pt x="499475" y="643535"/>
                  <a:pt x="321768" y="643535"/>
                </a:cubicBezTo>
                <a:cubicBezTo>
                  <a:pt x="144060" y="643535"/>
                  <a:pt x="0" y="499475"/>
                  <a:pt x="0" y="321768"/>
                </a:cubicBezTo>
                <a:cubicBezTo>
                  <a:pt x="0" y="144060"/>
                  <a:pt x="144060" y="0"/>
                  <a:pt x="321768" y="0"/>
                </a:cubicBezTo>
                <a:cubicBezTo>
                  <a:pt x="499475" y="0"/>
                  <a:pt x="643536" y="144060"/>
                  <a:pt x="643536" y="321768"/>
                </a:cubicBezTo>
                <a:close/>
              </a:path>
            </a:pathLst>
          </a:custGeom>
          <a:solidFill>
            <a:schemeClr val="accent2"/>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lt1"/>
                </a:solidFill>
                <a:latin typeface="思源宋体" panose="02020400000000000000" pitchFamily="18" charset="-122"/>
                <a:ea typeface="思源宋体" panose="02020400000000000000" pitchFamily="18" charset="-122"/>
                <a:sym typeface="微软雅黑"/>
              </a:rPr>
              <a:t>2025.11</a:t>
            </a:r>
          </a:p>
        </p:txBody>
      </p:sp>
      <p:sp>
        <p:nvSpPr>
          <p:cNvPr id="12" name="稻壳儿智宇https://www.docer.com/works?userid=328340712">
            <a:extLst>
              <a:ext uri="{FF2B5EF4-FFF2-40B4-BE49-F238E27FC236}">
                <a16:creationId xmlns:a16="http://schemas.microsoft.com/office/drawing/2014/main" id="{78544DD0-B692-F56A-0F9D-0D406458A454}"/>
              </a:ext>
            </a:extLst>
          </p:cNvPr>
          <p:cNvSpPr/>
          <p:nvPr/>
        </p:nvSpPr>
        <p:spPr>
          <a:xfrm>
            <a:off x="4008234" y="2531769"/>
            <a:ext cx="40442" cy="456506"/>
          </a:xfrm>
          <a:custGeom>
            <a:avLst/>
            <a:gdLst>
              <a:gd name="connsiteX0" fmla="*/ 11430 w 22859"/>
              <a:gd name="connsiteY0" fmla="*/ 0 h 258032"/>
              <a:gd name="connsiteX1" fmla="*/ 11430 w 22859"/>
              <a:gd name="connsiteY1" fmla="*/ 0 h 258032"/>
              <a:gd name="connsiteX2" fmla="*/ 22860 w 22859"/>
              <a:gd name="connsiteY2" fmla="*/ 11430 h 258032"/>
              <a:gd name="connsiteX3" fmla="*/ 22860 w 22859"/>
              <a:gd name="connsiteY3" fmla="*/ 11430 h 258032"/>
              <a:gd name="connsiteX4" fmla="*/ 11430 w 22859"/>
              <a:gd name="connsiteY4" fmla="*/ 22860 h 258032"/>
              <a:gd name="connsiteX5" fmla="*/ 11430 w 22859"/>
              <a:gd name="connsiteY5" fmla="*/ 22860 h 258032"/>
              <a:gd name="connsiteX6" fmla="*/ 0 w 22859"/>
              <a:gd name="connsiteY6" fmla="*/ 11430 h 258032"/>
              <a:gd name="connsiteX7" fmla="*/ 11430 w 22859"/>
              <a:gd name="connsiteY7" fmla="*/ 0 h 258032"/>
              <a:gd name="connsiteX8" fmla="*/ 11430 w 22859"/>
              <a:gd name="connsiteY8" fmla="*/ 47054 h 258032"/>
              <a:gd name="connsiteX9" fmla="*/ 11430 w 22859"/>
              <a:gd name="connsiteY9" fmla="*/ 47054 h 258032"/>
              <a:gd name="connsiteX10" fmla="*/ 22860 w 22859"/>
              <a:gd name="connsiteY10" fmla="*/ 58483 h 258032"/>
              <a:gd name="connsiteX11" fmla="*/ 22860 w 22859"/>
              <a:gd name="connsiteY11" fmla="*/ 58483 h 258032"/>
              <a:gd name="connsiteX12" fmla="*/ 11430 w 22859"/>
              <a:gd name="connsiteY12" fmla="*/ 69913 h 258032"/>
              <a:gd name="connsiteX13" fmla="*/ 11430 w 22859"/>
              <a:gd name="connsiteY13" fmla="*/ 69913 h 258032"/>
              <a:gd name="connsiteX14" fmla="*/ 0 w 22859"/>
              <a:gd name="connsiteY14" fmla="*/ 58483 h 258032"/>
              <a:gd name="connsiteX15" fmla="*/ 11430 w 22859"/>
              <a:gd name="connsiteY15" fmla="*/ 47054 h 258032"/>
              <a:gd name="connsiteX16" fmla="*/ 11430 w 22859"/>
              <a:gd name="connsiteY16" fmla="*/ 94107 h 258032"/>
              <a:gd name="connsiteX17" fmla="*/ 11430 w 22859"/>
              <a:gd name="connsiteY17" fmla="*/ 94107 h 258032"/>
              <a:gd name="connsiteX18" fmla="*/ 22860 w 22859"/>
              <a:gd name="connsiteY18" fmla="*/ 105537 h 258032"/>
              <a:gd name="connsiteX19" fmla="*/ 22860 w 22859"/>
              <a:gd name="connsiteY19" fmla="*/ 105537 h 258032"/>
              <a:gd name="connsiteX20" fmla="*/ 11430 w 22859"/>
              <a:gd name="connsiteY20" fmla="*/ 116967 h 258032"/>
              <a:gd name="connsiteX21" fmla="*/ 11430 w 22859"/>
              <a:gd name="connsiteY21" fmla="*/ 116967 h 258032"/>
              <a:gd name="connsiteX22" fmla="*/ 0 w 22859"/>
              <a:gd name="connsiteY22" fmla="*/ 105537 h 258032"/>
              <a:gd name="connsiteX23" fmla="*/ 11430 w 22859"/>
              <a:gd name="connsiteY23" fmla="*/ 94107 h 258032"/>
              <a:gd name="connsiteX24" fmla="*/ 11430 w 22859"/>
              <a:gd name="connsiteY24" fmla="*/ 141161 h 258032"/>
              <a:gd name="connsiteX25" fmla="*/ 11430 w 22859"/>
              <a:gd name="connsiteY25" fmla="*/ 141161 h 258032"/>
              <a:gd name="connsiteX26" fmla="*/ 22860 w 22859"/>
              <a:gd name="connsiteY26" fmla="*/ 152590 h 258032"/>
              <a:gd name="connsiteX27" fmla="*/ 22860 w 22859"/>
              <a:gd name="connsiteY27" fmla="*/ 152590 h 258032"/>
              <a:gd name="connsiteX28" fmla="*/ 11430 w 22859"/>
              <a:gd name="connsiteY28" fmla="*/ 164021 h 258032"/>
              <a:gd name="connsiteX29" fmla="*/ 11430 w 22859"/>
              <a:gd name="connsiteY29" fmla="*/ 164021 h 258032"/>
              <a:gd name="connsiteX30" fmla="*/ 0 w 22859"/>
              <a:gd name="connsiteY30" fmla="*/ 152590 h 258032"/>
              <a:gd name="connsiteX31" fmla="*/ 11430 w 22859"/>
              <a:gd name="connsiteY31" fmla="*/ 141161 h 258032"/>
              <a:gd name="connsiteX32" fmla="*/ 11430 w 22859"/>
              <a:gd name="connsiteY32" fmla="*/ 188214 h 258032"/>
              <a:gd name="connsiteX33" fmla="*/ 11430 w 22859"/>
              <a:gd name="connsiteY33" fmla="*/ 188214 h 258032"/>
              <a:gd name="connsiteX34" fmla="*/ 22860 w 22859"/>
              <a:gd name="connsiteY34" fmla="*/ 199644 h 258032"/>
              <a:gd name="connsiteX35" fmla="*/ 22860 w 22859"/>
              <a:gd name="connsiteY35" fmla="*/ 199644 h 258032"/>
              <a:gd name="connsiteX36" fmla="*/ 11430 w 22859"/>
              <a:gd name="connsiteY36" fmla="*/ 211074 h 258032"/>
              <a:gd name="connsiteX37" fmla="*/ 11430 w 22859"/>
              <a:gd name="connsiteY37" fmla="*/ 211074 h 258032"/>
              <a:gd name="connsiteX38" fmla="*/ 0 w 22859"/>
              <a:gd name="connsiteY38" fmla="*/ 199644 h 258032"/>
              <a:gd name="connsiteX39" fmla="*/ 11430 w 22859"/>
              <a:gd name="connsiteY39" fmla="*/ 188214 h 258032"/>
              <a:gd name="connsiteX40" fmla="*/ 11430 w 22859"/>
              <a:gd name="connsiteY40" fmla="*/ 235172 h 258032"/>
              <a:gd name="connsiteX41" fmla="*/ 11430 w 22859"/>
              <a:gd name="connsiteY41" fmla="*/ 235172 h 258032"/>
              <a:gd name="connsiteX42" fmla="*/ 22860 w 22859"/>
              <a:gd name="connsiteY42" fmla="*/ 246602 h 258032"/>
              <a:gd name="connsiteX43" fmla="*/ 22860 w 22859"/>
              <a:gd name="connsiteY43" fmla="*/ 246602 h 258032"/>
              <a:gd name="connsiteX44" fmla="*/ 11430 w 22859"/>
              <a:gd name="connsiteY44" fmla="*/ 258032 h 258032"/>
              <a:gd name="connsiteX45" fmla="*/ 11430 w 22859"/>
              <a:gd name="connsiteY45" fmla="*/ 258032 h 258032"/>
              <a:gd name="connsiteX46" fmla="*/ 0 w 22859"/>
              <a:gd name="connsiteY46" fmla="*/ 246602 h 258032"/>
              <a:gd name="connsiteX47" fmla="*/ 11430 w 22859"/>
              <a:gd name="connsiteY47" fmla="*/ 235172 h 25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859" h="258032">
                <a:moveTo>
                  <a:pt x="11430" y="0"/>
                </a:moveTo>
                <a:lnTo>
                  <a:pt x="11430" y="0"/>
                </a:lnTo>
                <a:cubicBezTo>
                  <a:pt x="17812" y="0"/>
                  <a:pt x="22860" y="5143"/>
                  <a:pt x="22860" y="11430"/>
                </a:cubicBezTo>
                <a:lnTo>
                  <a:pt x="22860" y="11430"/>
                </a:lnTo>
                <a:cubicBezTo>
                  <a:pt x="22860" y="17812"/>
                  <a:pt x="17716" y="22860"/>
                  <a:pt x="11430" y="22860"/>
                </a:cubicBezTo>
                <a:lnTo>
                  <a:pt x="11430" y="22860"/>
                </a:lnTo>
                <a:cubicBezTo>
                  <a:pt x="5048" y="22860"/>
                  <a:pt x="0" y="17717"/>
                  <a:pt x="0" y="11430"/>
                </a:cubicBezTo>
                <a:cubicBezTo>
                  <a:pt x="0" y="5143"/>
                  <a:pt x="5143" y="0"/>
                  <a:pt x="11430" y="0"/>
                </a:cubicBezTo>
                <a:close/>
                <a:moveTo>
                  <a:pt x="11430" y="47054"/>
                </a:moveTo>
                <a:lnTo>
                  <a:pt x="11430" y="47054"/>
                </a:lnTo>
                <a:cubicBezTo>
                  <a:pt x="17812" y="47054"/>
                  <a:pt x="22860" y="52197"/>
                  <a:pt x="22860" y="58483"/>
                </a:cubicBezTo>
                <a:lnTo>
                  <a:pt x="22860" y="58483"/>
                </a:lnTo>
                <a:cubicBezTo>
                  <a:pt x="22860" y="64865"/>
                  <a:pt x="17716" y="69913"/>
                  <a:pt x="11430" y="69913"/>
                </a:cubicBezTo>
                <a:lnTo>
                  <a:pt x="11430" y="69913"/>
                </a:lnTo>
                <a:cubicBezTo>
                  <a:pt x="5048" y="69913"/>
                  <a:pt x="0" y="64770"/>
                  <a:pt x="0" y="58483"/>
                </a:cubicBezTo>
                <a:cubicBezTo>
                  <a:pt x="0" y="52197"/>
                  <a:pt x="5143" y="47054"/>
                  <a:pt x="11430" y="47054"/>
                </a:cubicBezTo>
                <a:close/>
                <a:moveTo>
                  <a:pt x="11430" y="94107"/>
                </a:moveTo>
                <a:lnTo>
                  <a:pt x="11430" y="94107"/>
                </a:lnTo>
                <a:cubicBezTo>
                  <a:pt x="17812" y="94107"/>
                  <a:pt x="22860" y="99250"/>
                  <a:pt x="22860" y="105537"/>
                </a:cubicBezTo>
                <a:lnTo>
                  <a:pt x="22860" y="105537"/>
                </a:lnTo>
                <a:cubicBezTo>
                  <a:pt x="22860" y="111919"/>
                  <a:pt x="17716" y="116967"/>
                  <a:pt x="11430" y="116967"/>
                </a:cubicBezTo>
                <a:lnTo>
                  <a:pt x="11430" y="116967"/>
                </a:lnTo>
                <a:cubicBezTo>
                  <a:pt x="5048" y="116967"/>
                  <a:pt x="0" y="111823"/>
                  <a:pt x="0" y="105537"/>
                </a:cubicBezTo>
                <a:cubicBezTo>
                  <a:pt x="0" y="99250"/>
                  <a:pt x="5143" y="94107"/>
                  <a:pt x="11430" y="94107"/>
                </a:cubicBezTo>
                <a:close/>
                <a:moveTo>
                  <a:pt x="11430" y="141161"/>
                </a:moveTo>
                <a:lnTo>
                  <a:pt x="11430" y="141161"/>
                </a:lnTo>
                <a:cubicBezTo>
                  <a:pt x="17812" y="141161"/>
                  <a:pt x="22860" y="146304"/>
                  <a:pt x="22860" y="152590"/>
                </a:cubicBezTo>
                <a:lnTo>
                  <a:pt x="22860" y="152590"/>
                </a:lnTo>
                <a:cubicBezTo>
                  <a:pt x="22860" y="158972"/>
                  <a:pt x="17716" y="164021"/>
                  <a:pt x="11430" y="164021"/>
                </a:cubicBezTo>
                <a:lnTo>
                  <a:pt x="11430" y="164021"/>
                </a:lnTo>
                <a:cubicBezTo>
                  <a:pt x="5048" y="164021"/>
                  <a:pt x="0" y="158877"/>
                  <a:pt x="0" y="152590"/>
                </a:cubicBezTo>
                <a:cubicBezTo>
                  <a:pt x="0" y="146304"/>
                  <a:pt x="5143" y="141161"/>
                  <a:pt x="11430" y="141161"/>
                </a:cubicBezTo>
                <a:close/>
                <a:moveTo>
                  <a:pt x="11430" y="188214"/>
                </a:moveTo>
                <a:lnTo>
                  <a:pt x="11430" y="188214"/>
                </a:lnTo>
                <a:cubicBezTo>
                  <a:pt x="17812" y="188214"/>
                  <a:pt x="22860" y="193357"/>
                  <a:pt x="22860" y="199644"/>
                </a:cubicBezTo>
                <a:lnTo>
                  <a:pt x="22860" y="199644"/>
                </a:lnTo>
                <a:cubicBezTo>
                  <a:pt x="22860" y="205930"/>
                  <a:pt x="17716" y="211074"/>
                  <a:pt x="11430" y="211074"/>
                </a:cubicBezTo>
                <a:lnTo>
                  <a:pt x="11430" y="211074"/>
                </a:lnTo>
                <a:cubicBezTo>
                  <a:pt x="5048" y="211074"/>
                  <a:pt x="0" y="205930"/>
                  <a:pt x="0" y="199644"/>
                </a:cubicBezTo>
                <a:cubicBezTo>
                  <a:pt x="0" y="193262"/>
                  <a:pt x="5143" y="188214"/>
                  <a:pt x="11430" y="188214"/>
                </a:cubicBezTo>
                <a:close/>
                <a:moveTo>
                  <a:pt x="11430" y="235172"/>
                </a:moveTo>
                <a:lnTo>
                  <a:pt x="11430" y="235172"/>
                </a:lnTo>
                <a:cubicBezTo>
                  <a:pt x="17812" y="235172"/>
                  <a:pt x="22860" y="240316"/>
                  <a:pt x="22860" y="246602"/>
                </a:cubicBezTo>
                <a:lnTo>
                  <a:pt x="22860" y="246602"/>
                </a:lnTo>
                <a:cubicBezTo>
                  <a:pt x="22860" y="252984"/>
                  <a:pt x="17716" y="258032"/>
                  <a:pt x="11430" y="258032"/>
                </a:cubicBezTo>
                <a:lnTo>
                  <a:pt x="11430" y="258032"/>
                </a:lnTo>
                <a:cubicBezTo>
                  <a:pt x="5048" y="258032"/>
                  <a:pt x="0" y="252889"/>
                  <a:pt x="0" y="246602"/>
                </a:cubicBezTo>
                <a:cubicBezTo>
                  <a:pt x="0" y="240316"/>
                  <a:pt x="5143" y="235172"/>
                  <a:pt x="11430" y="235172"/>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13" name="稻壳儿智宇https://www.docer.com/works?userid=328340712">
            <a:extLst>
              <a:ext uri="{FF2B5EF4-FFF2-40B4-BE49-F238E27FC236}">
                <a16:creationId xmlns:a16="http://schemas.microsoft.com/office/drawing/2014/main" id="{96E235EC-2353-2834-B666-76BC0D321A89}"/>
              </a:ext>
            </a:extLst>
          </p:cNvPr>
          <p:cNvSpPr/>
          <p:nvPr/>
        </p:nvSpPr>
        <p:spPr>
          <a:xfrm>
            <a:off x="4008402" y="2448692"/>
            <a:ext cx="39938" cy="40148"/>
          </a:xfrm>
          <a:custGeom>
            <a:avLst/>
            <a:gdLst>
              <a:gd name="connsiteX0" fmla="*/ 11335 w 22574"/>
              <a:gd name="connsiteY0" fmla="*/ 0 h 22693"/>
              <a:gd name="connsiteX1" fmla="*/ 6953 w 22574"/>
              <a:gd name="connsiteY1" fmla="*/ 857 h 22693"/>
              <a:gd name="connsiteX2" fmla="*/ 3334 w 22574"/>
              <a:gd name="connsiteY2" fmla="*/ 3334 h 22693"/>
              <a:gd name="connsiteX3" fmla="*/ 0 w 22574"/>
              <a:gd name="connsiteY3" fmla="*/ 11430 h 22693"/>
              <a:gd name="connsiteX4" fmla="*/ 191 w 22574"/>
              <a:gd name="connsiteY4" fmla="*/ 13621 h 22693"/>
              <a:gd name="connsiteX5" fmla="*/ 762 w 22574"/>
              <a:gd name="connsiteY5" fmla="*/ 15716 h 22693"/>
              <a:gd name="connsiteX6" fmla="*/ 1810 w 22574"/>
              <a:gd name="connsiteY6" fmla="*/ 17717 h 22693"/>
              <a:gd name="connsiteX7" fmla="*/ 3238 w 22574"/>
              <a:gd name="connsiteY7" fmla="*/ 19431 h 22693"/>
              <a:gd name="connsiteX8" fmla="*/ 4953 w 22574"/>
              <a:gd name="connsiteY8" fmla="*/ 20765 h 22693"/>
              <a:gd name="connsiteX9" fmla="*/ 6953 w 22574"/>
              <a:gd name="connsiteY9" fmla="*/ 21812 h 22693"/>
              <a:gd name="connsiteX10" fmla="*/ 9144 w 22574"/>
              <a:gd name="connsiteY10" fmla="*/ 22479 h 22693"/>
              <a:gd name="connsiteX11" fmla="*/ 13525 w 22574"/>
              <a:gd name="connsiteY11" fmla="*/ 22479 h 22693"/>
              <a:gd name="connsiteX12" fmla="*/ 15621 w 22574"/>
              <a:gd name="connsiteY12" fmla="*/ 21812 h 22693"/>
              <a:gd name="connsiteX13" fmla="*/ 17621 w 22574"/>
              <a:gd name="connsiteY13" fmla="*/ 20765 h 22693"/>
              <a:gd name="connsiteX14" fmla="*/ 19336 w 22574"/>
              <a:gd name="connsiteY14" fmla="*/ 19431 h 22693"/>
              <a:gd name="connsiteX15" fmla="*/ 20669 w 22574"/>
              <a:gd name="connsiteY15" fmla="*/ 17717 h 22693"/>
              <a:gd name="connsiteX16" fmla="*/ 21717 w 22574"/>
              <a:gd name="connsiteY16" fmla="*/ 15716 h 22693"/>
              <a:gd name="connsiteX17" fmla="*/ 22384 w 22574"/>
              <a:gd name="connsiteY17" fmla="*/ 13621 h 22693"/>
              <a:gd name="connsiteX18" fmla="*/ 22574 w 22574"/>
              <a:gd name="connsiteY18" fmla="*/ 11430 h 22693"/>
              <a:gd name="connsiteX19" fmla="*/ 19241 w 22574"/>
              <a:gd name="connsiteY19" fmla="*/ 3334 h 22693"/>
              <a:gd name="connsiteX20" fmla="*/ 15526 w 22574"/>
              <a:gd name="connsiteY20" fmla="*/ 857 h 22693"/>
              <a:gd name="connsiteX21" fmla="*/ 11335 w 22574"/>
              <a:gd name="connsiteY21" fmla="*/ 0 h 2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574" h="22693">
                <a:moveTo>
                  <a:pt x="11335" y="0"/>
                </a:moveTo>
                <a:cubicBezTo>
                  <a:pt x="9811" y="0"/>
                  <a:pt x="8382" y="286"/>
                  <a:pt x="6953" y="857"/>
                </a:cubicBezTo>
                <a:cubicBezTo>
                  <a:pt x="5620" y="1429"/>
                  <a:pt x="4381" y="2286"/>
                  <a:pt x="3334" y="3334"/>
                </a:cubicBezTo>
                <a:cubicBezTo>
                  <a:pt x="1143" y="5429"/>
                  <a:pt x="0" y="8382"/>
                  <a:pt x="0" y="11430"/>
                </a:cubicBezTo>
                <a:cubicBezTo>
                  <a:pt x="0" y="12192"/>
                  <a:pt x="95" y="12859"/>
                  <a:pt x="191" y="13621"/>
                </a:cubicBezTo>
                <a:cubicBezTo>
                  <a:pt x="381" y="14383"/>
                  <a:pt x="571" y="15049"/>
                  <a:pt x="762" y="15716"/>
                </a:cubicBezTo>
                <a:cubicBezTo>
                  <a:pt x="1048" y="16383"/>
                  <a:pt x="1429" y="17050"/>
                  <a:pt x="1810" y="17717"/>
                </a:cubicBezTo>
                <a:cubicBezTo>
                  <a:pt x="2286" y="18288"/>
                  <a:pt x="2762" y="18955"/>
                  <a:pt x="3238" y="19431"/>
                </a:cubicBezTo>
                <a:cubicBezTo>
                  <a:pt x="3810" y="20002"/>
                  <a:pt x="4286" y="20383"/>
                  <a:pt x="4953" y="20765"/>
                </a:cubicBezTo>
                <a:cubicBezTo>
                  <a:pt x="5620" y="21241"/>
                  <a:pt x="6287" y="21622"/>
                  <a:pt x="6953" y="21812"/>
                </a:cubicBezTo>
                <a:cubicBezTo>
                  <a:pt x="7620" y="22098"/>
                  <a:pt x="8382" y="22384"/>
                  <a:pt x="9144" y="22479"/>
                </a:cubicBezTo>
                <a:cubicBezTo>
                  <a:pt x="10573" y="22765"/>
                  <a:pt x="12097" y="22765"/>
                  <a:pt x="13525" y="22479"/>
                </a:cubicBezTo>
                <a:cubicBezTo>
                  <a:pt x="14288" y="22289"/>
                  <a:pt x="14954" y="22098"/>
                  <a:pt x="15621" y="21812"/>
                </a:cubicBezTo>
                <a:cubicBezTo>
                  <a:pt x="16288" y="21622"/>
                  <a:pt x="16954" y="21241"/>
                  <a:pt x="17621" y="20765"/>
                </a:cubicBezTo>
                <a:cubicBezTo>
                  <a:pt x="18193" y="20383"/>
                  <a:pt x="18859" y="19907"/>
                  <a:pt x="19336" y="19431"/>
                </a:cubicBezTo>
                <a:cubicBezTo>
                  <a:pt x="19907" y="18859"/>
                  <a:pt x="20288" y="18288"/>
                  <a:pt x="20669" y="17717"/>
                </a:cubicBezTo>
                <a:cubicBezTo>
                  <a:pt x="21146" y="17145"/>
                  <a:pt x="21526" y="16383"/>
                  <a:pt x="21717" y="15716"/>
                </a:cubicBezTo>
                <a:cubicBezTo>
                  <a:pt x="22003" y="15049"/>
                  <a:pt x="22288" y="14383"/>
                  <a:pt x="22384" y="13621"/>
                </a:cubicBezTo>
                <a:cubicBezTo>
                  <a:pt x="22574" y="12859"/>
                  <a:pt x="22574" y="12192"/>
                  <a:pt x="22574" y="11430"/>
                </a:cubicBezTo>
                <a:cubicBezTo>
                  <a:pt x="22574" y="8382"/>
                  <a:pt x="21336" y="5524"/>
                  <a:pt x="19241" y="3334"/>
                </a:cubicBezTo>
                <a:cubicBezTo>
                  <a:pt x="18193" y="2286"/>
                  <a:pt x="16859" y="1429"/>
                  <a:pt x="15526" y="857"/>
                </a:cubicBezTo>
                <a:cubicBezTo>
                  <a:pt x="14288" y="286"/>
                  <a:pt x="12859" y="0"/>
                  <a:pt x="11335" y="0"/>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14" name="稻壳儿智宇https://www.docer.com/works?userid=328340712">
            <a:extLst>
              <a:ext uri="{FF2B5EF4-FFF2-40B4-BE49-F238E27FC236}">
                <a16:creationId xmlns:a16="http://schemas.microsoft.com/office/drawing/2014/main" id="{B2991FD8-7A7D-0A94-0C52-0F15F7DB20E7}"/>
              </a:ext>
            </a:extLst>
          </p:cNvPr>
          <p:cNvSpPr/>
          <p:nvPr/>
        </p:nvSpPr>
        <p:spPr>
          <a:xfrm>
            <a:off x="3929369" y="2226084"/>
            <a:ext cx="198510" cy="198510"/>
          </a:xfrm>
          <a:custGeom>
            <a:avLst/>
            <a:gdLst>
              <a:gd name="connsiteX0" fmla="*/ 112204 w 112204"/>
              <a:gd name="connsiteY0" fmla="*/ 56102 h 112204"/>
              <a:gd name="connsiteX1" fmla="*/ 56102 w 112204"/>
              <a:gd name="connsiteY1" fmla="*/ 112204 h 112204"/>
              <a:gd name="connsiteX2" fmla="*/ 0 w 112204"/>
              <a:gd name="connsiteY2" fmla="*/ 56102 h 112204"/>
              <a:gd name="connsiteX3" fmla="*/ 56102 w 112204"/>
              <a:gd name="connsiteY3" fmla="*/ 0 h 112204"/>
              <a:gd name="connsiteX4" fmla="*/ 112204 w 112204"/>
              <a:gd name="connsiteY4" fmla="*/ 56102 h 112204"/>
              <a:gd name="connsiteX5" fmla="*/ 96869 w 112204"/>
              <a:gd name="connsiteY5" fmla="*/ 56102 h 112204"/>
              <a:gd name="connsiteX6" fmla="*/ 56007 w 112204"/>
              <a:gd name="connsiteY6" fmla="*/ 15240 h 112204"/>
              <a:gd name="connsiteX7" fmla="*/ 15145 w 112204"/>
              <a:gd name="connsiteY7" fmla="*/ 56102 h 112204"/>
              <a:gd name="connsiteX8" fmla="*/ 56007 w 112204"/>
              <a:gd name="connsiteY8" fmla="*/ 96964 h 112204"/>
              <a:gd name="connsiteX9" fmla="*/ 96869 w 112204"/>
              <a:gd name="connsiteY9" fmla="*/ 56102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204" h="112204">
                <a:moveTo>
                  <a:pt x="112204" y="56102"/>
                </a:moveTo>
                <a:cubicBezTo>
                  <a:pt x="112204" y="87058"/>
                  <a:pt x="87058" y="112204"/>
                  <a:pt x="56102" y="112204"/>
                </a:cubicBezTo>
                <a:cubicBezTo>
                  <a:pt x="25146" y="112204"/>
                  <a:pt x="0" y="87058"/>
                  <a:pt x="0" y="56102"/>
                </a:cubicBezTo>
                <a:cubicBezTo>
                  <a:pt x="0" y="25146"/>
                  <a:pt x="25146" y="0"/>
                  <a:pt x="56102" y="0"/>
                </a:cubicBezTo>
                <a:cubicBezTo>
                  <a:pt x="86963" y="0"/>
                  <a:pt x="112204" y="25146"/>
                  <a:pt x="112204" y="56102"/>
                </a:cubicBezTo>
                <a:close/>
                <a:moveTo>
                  <a:pt x="96869" y="56102"/>
                </a:moveTo>
                <a:cubicBezTo>
                  <a:pt x="96869" y="33528"/>
                  <a:pt x="78581" y="15240"/>
                  <a:pt x="56007" y="15240"/>
                </a:cubicBezTo>
                <a:cubicBezTo>
                  <a:pt x="33433" y="15240"/>
                  <a:pt x="15145" y="33528"/>
                  <a:pt x="15145" y="56102"/>
                </a:cubicBezTo>
                <a:cubicBezTo>
                  <a:pt x="15145" y="78676"/>
                  <a:pt x="33433" y="96964"/>
                  <a:pt x="56007" y="96964"/>
                </a:cubicBezTo>
                <a:cubicBezTo>
                  <a:pt x="78581" y="96964"/>
                  <a:pt x="96869" y="78676"/>
                  <a:pt x="96869" y="56102"/>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15" name="稻壳儿智宇https://www.docer.com/works?userid=328340712">
            <a:extLst>
              <a:ext uri="{FF2B5EF4-FFF2-40B4-BE49-F238E27FC236}">
                <a16:creationId xmlns:a16="http://schemas.microsoft.com/office/drawing/2014/main" id="{F7901FD3-5003-B94F-3443-B7BB122919A4}"/>
              </a:ext>
            </a:extLst>
          </p:cNvPr>
          <p:cNvSpPr/>
          <p:nvPr/>
        </p:nvSpPr>
        <p:spPr>
          <a:xfrm>
            <a:off x="5940257" y="3501572"/>
            <a:ext cx="1665263" cy="1210611"/>
          </a:xfrm>
          <a:custGeom>
            <a:avLst/>
            <a:gdLst>
              <a:gd name="connsiteX0" fmla="*/ 470535 w 941260"/>
              <a:gd name="connsiteY0" fmla="*/ 684276 h 684276"/>
              <a:gd name="connsiteX1" fmla="*/ 0 w 941260"/>
              <a:gd name="connsiteY1" fmla="*/ 213741 h 684276"/>
              <a:gd name="connsiteX2" fmla="*/ 51245 w 941260"/>
              <a:gd name="connsiteY2" fmla="*/ 0 h 684276"/>
              <a:gd name="connsiteX3" fmla="*/ 71628 w 941260"/>
              <a:gd name="connsiteY3" fmla="*/ 10382 h 684276"/>
              <a:gd name="connsiteX4" fmla="*/ 22955 w 941260"/>
              <a:gd name="connsiteY4" fmla="*/ 213646 h 684276"/>
              <a:gd name="connsiteX5" fmla="*/ 470630 w 941260"/>
              <a:gd name="connsiteY5" fmla="*/ 661321 h 684276"/>
              <a:gd name="connsiteX6" fmla="*/ 918305 w 941260"/>
              <a:gd name="connsiteY6" fmla="*/ 213646 h 684276"/>
              <a:gd name="connsiteX7" fmla="*/ 869632 w 941260"/>
              <a:gd name="connsiteY7" fmla="*/ 10382 h 684276"/>
              <a:gd name="connsiteX8" fmla="*/ 890016 w 941260"/>
              <a:gd name="connsiteY8" fmla="*/ 0 h 684276"/>
              <a:gd name="connsiteX9" fmla="*/ 941261 w 941260"/>
              <a:gd name="connsiteY9" fmla="*/ 213741 h 684276"/>
              <a:gd name="connsiteX10" fmla="*/ 470535 w 941260"/>
              <a:gd name="connsiteY10" fmla="*/ 684276 h 6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260" h="684276">
                <a:moveTo>
                  <a:pt x="470535" y="684276"/>
                </a:moveTo>
                <a:cubicBezTo>
                  <a:pt x="211074" y="684276"/>
                  <a:pt x="0" y="473202"/>
                  <a:pt x="0" y="213741"/>
                </a:cubicBezTo>
                <a:cubicBezTo>
                  <a:pt x="0" y="138494"/>
                  <a:pt x="17240" y="66580"/>
                  <a:pt x="51245" y="0"/>
                </a:cubicBezTo>
                <a:lnTo>
                  <a:pt x="71628" y="10382"/>
                </a:lnTo>
                <a:cubicBezTo>
                  <a:pt x="39338" y="73724"/>
                  <a:pt x="22955" y="142113"/>
                  <a:pt x="22955" y="213646"/>
                </a:cubicBezTo>
                <a:cubicBezTo>
                  <a:pt x="22955" y="460439"/>
                  <a:pt x="223742" y="661321"/>
                  <a:pt x="470630" y="661321"/>
                </a:cubicBezTo>
                <a:cubicBezTo>
                  <a:pt x="717423" y="661321"/>
                  <a:pt x="918305" y="460534"/>
                  <a:pt x="918305" y="213646"/>
                </a:cubicBezTo>
                <a:cubicBezTo>
                  <a:pt x="918305" y="142113"/>
                  <a:pt x="901922" y="73628"/>
                  <a:pt x="869632" y="10382"/>
                </a:cubicBezTo>
                <a:lnTo>
                  <a:pt x="890016" y="0"/>
                </a:lnTo>
                <a:cubicBezTo>
                  <a:pt x="924020" y="66580"/>
                  <a:pt x="941261" y="138494"/>
                  <a:pt x="941261" y="213741"/>
                </a:cubicBezTo>
                <a:cubicBezTo>
                  <a:pt x="941165" y="473202"/>
                  <a:pt x="729996" y="684276"/>
                  <a:pt x="470535" y="684276"/>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16" name="稻壳儿智宇https://www.docer.com/works?userid=328340712">
            <a:extLst>
              <a:ext uri="{FF2B5EF4-FFF2-40B4-BE49-F238E27FC236}">
                <a16:creationId xmlns:a16="http://schemas.microsoft.com/office/drawing/2014/main" id="{FFDEB521-01D5-5004-2FCC-82FF101C1C10}"/>
              </a:ext>
            </a:extLst>
          </p:cNvPr>
          <p:cNvSpPr/>
          <p:nvPr/>
        </p:nvSpPr>
        <p:spPr>
          <a:xfrm>
            <a:off x="6203264" y="3310691"/>
            <a:ext cx="1138442" cy="1138442"/>
          </a:xfrm>
          <a:custGeom>
            <a:avLst/>
            <a:gdLst>
              <a:gd name="connsiteX0" fmla="*/ 643485 w 643484"/>
              <a:gd name="connsiteY0" fmla="*/ 321742 h 643484"/>
              <a:gd name="connsiteX1" fmla="*/ 321742 w 643484"/>
              <a:gd name="connsiteY1" fmla="*/ 643485 h 643484"/>
              <a:gd name="connsiteX2" fmla="*/ 0 w 643484"/>
              <a:gd name="connsiteY2" fmla="*/ 321742 h 643484"/>
              <a:gd name="connsiteX3" fmla="*/ 321742 w 643484"/>
              <a:gd name="connsiteY3" fmla="*/ 0 h 643484"/>
              <a:gd name="connsiteX4" fmla="*/ 643485 w 643484"/>
              <a:gd name="connsiteY4" fmla="*/ 321742 h 643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484" h="643484">
                <a:moveTo>
                  <a:pt x="643485" y="321742"/>
                </a:moveTo>
                <a:cubicBezTo>
                  <a:pt x="643485" y="499436"/>
                  <a:pt x="499436" y="643485"/>
                  <a:pt x="321742" y="643485"/>
                </a:cubicBezTo>
                <a:cubicBezTo>
                  <a:pt x="144049" y="643485"/>
                  <a:pt x="0" y="499436"/>
                  <a:pt x="0" y="321742"/>
                </a:cubicBezTo>
                <a:cubicBezTo>
                  <a:pt x="0" y="144049"/>
                  <a:pt x="144049" y="0"/>
                  <a:pt x="321742" y="0"/>
                </a:cubicBezTo>
                <a:cubicBezTo>
                  <a:pt x="499436" y="0"/>
                  <a:pt x="643485" y="144049"/>
                  <a:pt x="643485" y="321742"/>
                </a:cubicBezTo>
                <a:close/>
              </a:path>
            </a:pathLst>
          </a:custGeom>
          <a:solidFill>
            <a:schemeClr val="accent4"/>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dk1">
                    <a:lumMod val="85000"/>
                    <a:lumOff val="15000"/>
                  </a:schemeClr>
                </a:solidFill>
                <a:latin typeface="思源宋体" panose="02020400000000000000" pitchFamily="18" charset="-122"/>
                <a:ea typeface="思源宋体" panose="02020400000000000000" pitchFamily="18" charset="-122"/>
                <a:sym typeface="微软雅黑"/>
              </a:rPr>
              <a:t>2026.03</a:t>
            </a:r>
          </a:p>
        </p:txBody>
      </p:sp>
      <p:sp>
        <p:nvSpPr>
          <p:cNvPr id="17" name="稻壳儿智宇https://www.docer.com/works?userid=328340712">
            <a:extLst>
              <a:ext uri="{FF2B5EF4-FFF2-40B4-BE49-F238E27FC236}">
                <a16:creationId xmlns:a16="http://schemas.microsoft.com/office/drawing/2014/main" id="{2EE70397-C96C-42CA-60A6-06041ED45A94}"/>
              </a:ext>
            </a:extLst>
          </p:cNvPr>
          <p:cNvSpPr/>
          <p:nvPr/>
        </p:nvSpPr>
        <p:spPr>
          <a:xfrm>
            <a:off x="6748118" y="2531769"/>
            <a:ext cx="40442" cy="456506"/>
          </a:xfrm>
          <a:custGeom>
            <a:avLst/>
            <a:gdLst>
              <a:gd name="connsiteX0" fmla="*/ 11430 w 22859"/>
              <a:gd name="connsiteY0" fmla="*/ 0 h 258032"/>
              <a:gd name="connsiteX1" fmla="*/ 11430 w 22859"/>
              <a:gd name="connsiteY1" fmla="*/ 0 h 258032"/>
              <a:gd name="connsiteX2" fmla="*/ 22860 w 22859"/>
              <a:gd name="connsiteY2" fmla="*/ 11430 h 258032"/>
              <a:gd name="connsiteX3" fmla="*/ 22860 w 22859"/>
              <a:gd name="connsiteY3" fmla="*/ 11430 h 258032"/>
              <a:gd name="connsiteX4" fmla="*/ 11430 w 22859"/>
              <a:gd name="connsiteY4" fmla="*/ 22860 h 258032"/>
              <a:gd name="connsiteX5" fmla="*/ 11430 w 22859"/>
              <a:gd name="connsiteY5" fmla="*/ 22860 h 258032"/>
              <a:gd name="connsiteX6" fmla="*/ 0 w 22859"/>
              <a:gd name="connsiteY6" fmla="*/ 11430 h 258032"/>
              <a:gd name="connsiteX7" fmla="*/ 11430 w 22859"/>
              <a:gd name="connsiteY7" fmla="*/ 0 h 258032"/>
              <a:gd name="connsiteX8" fmla="*/ 11430 w 22859"/>
              <a:gd name="connsiteY8" fmla="*/ 47054 h 258032"/>
              <a:gd name="connsiteX9" fmla="*/ 11430 w 22859"/>
              <a:gd name="connsiteY9" fmla="*/ 47054 h 258032"/>
              <a:gd name="connsiteX10" fmla="*/ 22860 w 22859"/>
              <a:gd name="connsiteY10" fmla="*/ 58483 h 258032"/>
              <a:gd name="connsiteX11" fmla="*/ 22860 w 22859"/>
              <a:gd name="connsiteY11" fmla="*/ 58483 h 258032"/>
              <a:gd name="connsiteX12" fmla="*/ 11430 w 22859"/>
              <a:gd name="connsiteY12" fmla="*/ 69913 h 258032"/>
              <a:gd name="connsiteX13" fmla="*/ 11430 w 22859"/>
              <a:gd name="connsiteY13" fmla="*/ 69913 h 258032"/>
              <a:gd name="connsiteX14" fmla="*/ 0 w 22859"/>
              <a:gd name="connsiteY14" fmla="*/ 58483 h 258032"/>
              <a:gd name="connsiteX15" fmla="*/ 11430 w 22859"/>
              <a:gd name="connsiteY15" fmla="*/ 47054 h 258032"/>
              <a:gd name="connsiteX16" fmla="*/ 11430 w 22859"/>
              <a:gd name="connsiteY16" fmla="*/ 94107 h 258032"/>
              <a:gd name="connsiteX17" fmla="*/ 11430 w 22859"/>
              <a:gd name="connsiteY17" fmla="*/ 94107 h 258032"/>
              <a:gd name="connsiteX18" fmla="*/ 22860 w 22859"/>
              <a:gd name="connsiteY18" fmla="*/ 105537 h 258032"/>
              <a:gd name="connsiteX19" fmla="*/ 22860 w 22859"/>
              <a:gd name="connsiteY19" fmla="*/ 105537 h 258032"/>
              <a:gd name="connsiteX20" fmla="*/ 11430 w 22859"/>
              <a:gd name="connsiteY20" fmla="*/ 116967 h 258032"/>
              <a:gd name="connsiteX21" fmla="*/ 11430 w 22859"/>
              <a:gd name="connsiteY21" fmla="*/ 116967 h 258032"/>
              <a:gd name="connsiteX22" fmla="*/ 0 w 22859"/>
              <a:gd name="connsiteY22" fmla="*/ 105537 h 258032"/>
              <a:gd name="connsiteX23" fmla="*/ 11430 w 22859"/>
              <a:gd name="connsiteY23" fmla="*/ 94107 h 258032"/>
              <a:gd name="connsiteX24" fmla="*/ 11430 w 22859"/>
              <a:gd name="connsiteY24" fmla="*/ 141161 h 258032"/>
              <a:gd name="connsiteX25" fmla="*/ 11430 w 22859"/>
              <a:gd name="connsiteY25" fmla="*/ 141161 h 258032"/>
              <a:gd name="connsiteX26" fmla="*/ 22860 w 22859"/>
              <a:gd name="connsiteY26" fmla="*/ 152590 h 258032"/>
              <a:gd name="connsiteX27" fmla="*/ 22860 w 22859"/>
              <a:gd name="connsiteY27" fmla="*/ 152590 h 258032"/>
              <a:gd name="connsiteX28" fmla="*/ 11430 w 22859"/>
              <a:gd name="connsiteY28" fmla="*/ 164021 h 258032"/>
              <a:gd name="connsiteX29" fmla="*/ 11430 w 22859"/>
              <a:gd name="connsiteY29" fmla="*/ 164021 h 258032"/>
              <a:gd name="connsiteX30" fmla="*/ 0 w 22859"/>
              <a:gd name="connsiteY30" fmla="*/ 152590 h 258032"/>
              <a:gd name="connsiteX31" fmla="*/ 11430 w 22859"/>
              <a:gd name="connsiteY31" fmla="*/ 141161 h 258032"/>
              <a:gd name="connsiteX32" fmla="*/ 11430 w 22859"/>
              <a:gd name="connsiteY32" fmla="*/ 188214 h 258032"/>
              <a:gd name="connsiteX33" fmla="*/ 11430 w 22859"/>
              <a:gd name="connsiteY33" fmla="*/ 188214 h 258032"/>
              <a:gd name="connsiteX34" fmla="*/ 22860 w 22859"/>
              <a:gd name="connsiteY34" fmla="*/ 199644 h 258032"/>
              <a:gd name="connsiteX35" fmla="*/ 22860 w 22859"/>
              <a:gd name="connsiteY35" fmla="*/ 199644 h 258032"/>
              <a:gd name="connsiteX36" fmla="*/ 11430 w 22859"/>
              <a:gd name="connsiteY36" fmla="*/ 211074 h 258032"/>
              <a:gd name="connsiteX37" fmla="*/ 11430 w 22859"/>
              <a:gd name="connsiteY37" fmla="*/ 211074 h 258032"/>
              <a:gd name="connsiteX38" fmla="*/ 0 w 22859"/>
              <a:gd name="connsiteY38" fmla="*/ 199644 h 258032"/>
              <a:gd name="connsiteX39" fmla="*/ 11430 w 22859"/>
              <a:gd name="connsiteY39" fmla="*/ 188214 h 258032"/>
              <a:gd name="connsiteX40" fmla="*/ 11430 w 22859"/>
              <a:gd name="connsiteY40" fmla="*/ 235172 h 258032"/>
              <a:gd name="connsiteX41" fmla="*/ 11430 w 22859"/>
              <a:gd name="connsiteY41" fmla="*/ 235172 h 258032"/>
              <a:gd name="connsiteX42" fmla="*/ 22860 w 22859"/>
              <a:gd name="connsiteY42" fmla="*/ 246602 h 258032"/>
              <a:gd name="connsiteX43" fmla="*/ 22860 w 22859"/>
              <a:gd name="connsiteY43" fmla="*/ 246602 h 258032"/>
              <a:gd name="connsiteX44" fmla="*/ 11430 w 22859"/>
              <a:gd name="connsiteY44" fmla="*/ 258032 h 258032"/>
              <a:gd name="connsiteX45" fmla="*/ 11430 w 22859"/>
              <a:gd name="connsiteY45" fmla="*/ 258032 h 258032"/>
              <a:gd name="connsiteX46" fmla="*/ 0 w 22859"/>
              <a:gd name="connsiteY46" fmla="*/ 246602 h 258032"/>
              <a:gd name="connsiteX47" fmla="*/ 11430 w 22859"/>
              <a:gd name="connsiteY47" fmla="*/ 235172 h 25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859" h="258032">
                <a:moveTo>
                  <a:pt x="11430" y="0"/>
                </a:moveTo>
                <a:lnTo>
                  <a:pt x="11430" y="0"/>
                </a:lnTo>
                <a:cubicBezTo>
                  <a:pt x="17812" y="0"/>
                  <a:pt x="22860" y="5143"/>
                  <a:pt x="22860" y="11430"/>
                </a:cubicBezTo>
                <a:lnTo>
                  <a:pt x="22860" y="11430"/>
                </a:lnTo>
                <a:cubicBezTo>
                  <a:pt x="22860" y="17812"/>
                  <a:pt x="17716" y="22860"/>
                  <a:pt x="11430" y="22860"/>
                </a:cubicBezTo>
                <a:lnTo>
                  <a:pt x="11430" y="22860"/>
                </a:lnTo>
                <a:cubicBezTo>
                  <a:pt x="5048" y="22860"/>
                  <a:pt x="0" y="17717"/>
                  <a:pt x="0" y="11430"/>
                </a:cubicBezTo>
                <a:cubicBezTo>
                  <a:pt x="0" y="5143"/>
                  <a:pt x="5048" y="0"/>
                  <a:pt x="11430" y="0"/>
                </a:cubicBezTo>
                <a:close/>
                <a:moveTo>
                  <a:pt x="11430" y="47054"/>
                </a:moveTo>
                <a:lnTo>
                  <a:pt x="11430" y="47054"/>
                </a:lnTo>
                <a:cubicBezTo>
                  <a:pt x="17812" y="47054"/>
                  <a:pt x="22860" y="52197"/>
                  <a:pt x="22860" y="58483"/>
                </a:cubicBezTo>
                <a:lnTo>
                  <a:pt x="22860" y="58483"/>
                </a:lnTo>
                <a:cubicBezTo>
                  <a:pt x="22860" y="64865"/>
                  <a:pt x="17716" y="69913"/>
                  <a:pt x="11430" y="69913"/>
                </a:cubicBezTo>
                <a:lnTo>
                  <a:pt x="11430" y="69913"/>
                </a:lnTo>
                <a:cubicBezTo>
                  <a:pt x="5048" y="69913"/>
                  <a:pt x="0" y="64770"/>
                  <a:pt x="0" y="58483"/>
                </a:cubicBezTo>
                <a:cubicBezTo>
                  <a:pt x="0" y="52197"/>
                  <a:pt x="5048" y="47054"/>
                  <a:pt x="11430" y="47054"/>
                </a:cubicBezTo>
                <a:close/>
                <a:moveTo>
                  <a:pt x="11430" y="94107"/>
                </a:moveTo>
                <a:lnTo>
                  <a:pt x="11430" y="94107"/>
                </a:lnTo>
                <a:cubicBezTo>
                  <a:pt x="17812" y="94107"/>
                  <a:pt x="22860" y="99250"/>
                  <a:pt x="22860" y="105537"/>
                </a:cubicBezTo>
                <a:lnTo>
                  <a:pt x="22860" y="105537"/>
                </a:lnTo>
                <a:cubicBezTo>
                  <a:pt x="22860" y="111919"/>
                  <a:pt x="17716" y="116967"/>
                  <a:pt x="11430" y="116967"/>
                </a:cubicBezTo>
                <a:lnTo>
                  <a:pt x="11430" y="116967"/>
                </a:lnTo>
                <a:cubicBezTo>
                  <a:pt x="5048" y="116967"/>
                  <a:pt x="0" y="111823"/>
                  <a:pt x="0" y="105537"/>
                </a:cubicBezTo>
                <a:cubicBezTo>
                  <a:pt x="0" y="99250"/>
                  <a:pt x="5048" y="94107"/>
                  <a:pt x="11430" y="94107"/>
                </a:cubicBezTo>
                <a:close/>
                <a:moveTo>
                  <a:pt x="11430" y="141161"/>
                </a:moveTo>
                <a:lnTo>
                  <a:pt x="11430" y="141161"/>
                </a:lnTo>
                <a:cubicBezTo>
                  <a:pt x="17812" y="141161"/>
                  <a:pt x="22860" y="146304"/>
                  <a:pt x="22860" y="152590"/>
                </a:cubicBezTo>
                <a:lnTo>
                  <a:pt x="22860" y="152590"/>
                </a:lnTo>
                <a:cubicBezTo>
                  <a:pt x="22860" y="158972"/>
                  <a:pt x="17716" y="164021"/>
                  <a:pt x="11430" y="164021"/>
                </a:cubicBezTo>
                <a:lnTo>
                  <a:pt x="11430" y="164021"/>
                </a:lnTo>
                <a:cubicBezTo>
                  <a:pt x="5048" y="164021"/>
                  <a:pt x="0" y="158877"/>
                  <a:pt x="0" y="152590"/>
                </a:cubicBezTo>
                <a:cubicBezTo>
                  <a:pt x="0" y="146304"/>
                  <a:pt x="5048" y="141161"/>
                  <a:pt x="11430" y="141161"/>
                </a:cubicBezTo>
                <a:close/>
                <a:moveTo>
                  <a:pt x="11430" y="188214"/>
                </a:moveTo>
                <a:lnTo>
                  <a:pt x="11430" y="188214"/>
                </a:lnTo>
                <a:cubicBezTo>
                  <a:pt x="17812" y="188214"/>
                  <a:pt x="22860" y="193357"/>
                  <a:pt x="22860" y="199644"/>
                </a:cubicBezTo>
                <a:lnTo>
                  <a:pt x="22860" y="199644"/>
                </a:lnTo>
                <a:cubicBezTo>
                  <a:pt x="22860" y="205930"/>
                  <a:pt x="17716" y="211074"/>
                  <a:pt x="11430" y="211074"/>
                </a:cubicBezTo>
                <a:lnTo>
                  <a:pt x="11430" y="211074"/>
                </a:lnTo>
                <a:cubicBezTo>
                  <a:pt x="5048" y="211074"/>
                  <a:pt x="0" y="205930"/>
                  <a:pt x="0" y="199644"/>
                </a:cubicBezTo>
                <a:cubicBezTo>
                  <a:pt x="0" y="193262"/>
                  <a:pt x="5048" y="188214"/>
                  <a:pt x="11430" y="188214"/>
                </a:cubicBezTo>
                <a:close/>
                <a:moveTo>
                  <a:pt x="11430" y="235172"/>
                </a:moveTo>
                <a:lnTo>
                  <a:pt x="11430" y="235172"/>
                </a:lnTo>
                <a:cubicBezTo>
                  <a:pt x="17812" y="235172"/>
                  <a:pt x="22860" y="240316"/>
                  <a:pt x="22860" y="246602"/>
                </a:cubicBezTo>
                <a:lnTo>
                  <a:pt x="22860" y="246602"/>
                </a:lnTo>
                <a:cubicBezTo>
                  <a:pt x="22860" y="252984"/>
                  <a:pt x="17716" y="258032"/>
                  <a:pt x="11430" y="258032"/>
                </a:cubicBezTo>
                <a:lnTo>
                  <a:pt x="11430" y="258032"/>
                </a:lnTo>
                <a:cubicBezTo>
                  <a:pt x="5048" y="258032"/>
                  <a:pt x="0" y="252889"/>
                  <a:pt x="0" y="246602"/>
                </a:cubicBezTo>
                <a:cubicBezTo>
                  <a:pt x="0" y="240316"/>
                  <a:pt x="5048" y="235172"/>
                  <a:pt x="11430" y="235172"/>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18" name="稻壳儿智宇https://www.docer.com/works?userid=328340712">
            <a:extLst>
              <a:ext uri="{FF2B5EF4-FFF2-40B4-BE49-F238E27FC236}">
                <a16:creationId xmlns:a16="http://schemas.microsoft.com/office/drawing/2014/main" id="{0707DEB5-D708-908A-558A-992BDAD32EC5}"/>
              </a:ext>
            </a:extLst>
          </p:cNvPr>
          <p:cNvSpPr/>
          <p:nvPr/>
        </p:nvSpPr>
        <p:spPr>
          <a:xfrm>
            <a:off x="6748286" y="2448692"/>
            <a:ext cx="39938" cy="40148"/>
          </a:xfrm>
          <a:custGeom>
            <a:avLst/>
            <a:gdLst>
              <a:gd name="connsiteX0" fmla="*/ 11334 w 22574"/>
              <a:gd name="connsiteY0" fmla="*/ 0 h 22693"/>
              <a:gd name="connsiteX1" fmla="*/ 6953 w 22574"/>
              <a:gd name="connsiteY1" fmla="*/ 857 h 22693"/>
              <a:gd name="connsiteX2" fmla="*/ 3334 w 22574"/>
              <a:gd name="connsiteY2" fmla="*/ 3334 h 22693"/>
              <a:gd name="connsiteX3" fmla="*/ 0 w 22574"/>
              <a:gd name="connsiteY3" fmla="*/ 11430 h 22693"/>
              <a:gd name="connsiteX4" fmla="*/ 190 w 22574"/>
              <a:gd name="connsiteY4" fmla="*/ 13621 h 22693"/>
              <a:gd name="connsiteX5" fmla="*/ 762 w 22574"/>
              <a:gd name="connsiteY5" fmla="*/ 15716 h 22693"/>
              <a:gd name="connsiteX6" fmla="*/ 1809 w 22574"/>
              <a:gd name="connsiteY6" fmla="*/ 17717 h 22693"/>
              <a:gd name="connsiteX7" fmla="*/ 3238 w 22574"/>
              <a:gd name="connsiteY7" fmla="*/ 19431 h 22693"/>
              <a:gd name="connsiteX8" fmla="*/ 4953 w 22574"/>
              <a:gd name="connsiteY8" fmla="*/ 20765 h 22693"/>
              <a:gd name="connsiteX9" fmla="*/ 6953 w 22574"/>
              <a:gd name="connsiteY9" fmla="*/ 21812 h 22693"/>
              <a:gd name="connsiteX10" fmla="*/ 9144 w 22574"/>
              <a:gd name="connsiteY10" fmla="*/ 22479 h 22693"/>
              <a:gd name="connsiteX11" fmla="*/ 13525 w 22574"/>
              <a:gd name="connsiteY11" fmla="*/ 22479 h 22693"/>
              <a:gd name="connsiteX12" fmla="*/ 15621 w 22574"/>
              <a:gd name="connsiteY12" fmla="*/ 21812 h 22693"/>
              <a:gd name="connsiteX13" fmla="*/ 17621 w 22574"/>
              <a:gd name="connsiteY13" fmla="*/ 20765 h 22693"/>
              <a:gd name="connsiteX14" fmla="*/ 19336 w 22574"/>
              <a:gd name="connsiteY14" fmla="*/ 19431 h 22693"/>
              <a:gd name="connsiteX15" fmla="*/ 20669 w 22574"/>
              <a:gd name="connsiteY15" fmla="*/ 17717 h 22693"/>
              <a:gd name="connsiteX16" fmla="*/ 21717 w 22574"/>
              <a:gd name="connsiteY16" fmla="*/ 15716 h 22693"/>
              <a:gd name="connsiteX17" fmla="*/ 22384 w 22574"/>
              <a:gd name="connsiteY17" fmla="*/ 13621 h 22693"/>
              <a:gd name="connsiteX18" fmla="*/ 22574 w 22574"/>
              <a:gd name="connsiteY18" fmla="*/ 11430 h 22693"/>
              <a:gd name="connsiteX19" fmla="*/ 19240 w 22574"/>
              <a:gd name="connsiteY19" fmla="*/ 3334 h 22693"/>
              <a:gd name="connsiteX20" fmla="*/ 15526 w 22574"/>
              <a:gd name="connsiteY20" fmla="*/ 857 h 22693"/>
              <a:gd name="connsiteX21" fmla="*/ 11334 w 22574"/>
              <a:gd name="connsiteY21" fmla="*/ 0 h 2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574" h="22693">
                <a:moveTo>
                  <a:pt x="11334" y="0"/>
                </a:moveTo>
                <a:cubicBezTo>
                  <a:pt x="9811" y="0"/>
                  <a:pt x="8382" y="286"/>
                  <a:pt x="6953" y="857"/>
                </a:cubicBezTo>
                <a:cubicBezTo>
                  <a:pt x="5620" y="1429"/>
                  <a:pt x="4381" y="2286"/>
                  <a:pt x="3334" y="3334"/>
                </a:cubicBezTo>
                <a:cubicBezTo>
                  <a:pt x="1143" y="5429"/>
                  <a:pt x="0" y="8382"/>
                  <a:pt x="0" y="11430"/>
                </a:cubicBezTo>
                <a:cubicBezTo>
                  <a:pt x="0" y="12192"/>
                  <a:pt x="95" y="12859"/>
                  <a:pt x="190" y="13621"/>
                </a:cubicBezTo>
                <a:cubicBezTo>
                  <a:pt x="381" y="14383"/>
                  <a:pt x="571" y="15049"/>
                  <a:pt x="762" y="15716"/>
                </a:cubicBezTo>
                <a:cubicBezTo>
                  <a:pt x="1048" y="16383"/>
                  <a:pt x="1429" y="17050"/>
                  <a:pt x="1809" y="17717"/>
                </a:cubicBezTo>
                <a:cubicBezTo>
                  <a:pt x="2286" y="18288"/>
                  <a:pt x="2762" y="18955"/>
                  <a:pt x="3238" y="19431"/>
                </a:cubicBezTo>
                <a:cubicBezTo>
                  <a:pt x="3810" y="20002"/>
                  <a:pt x="4286" y="20383"/>
                  <a:pt x="4953" y="20765"/>
                </a:cubicBezTo>
                <a:cubicBezTo>
                  <a:pt x="5620" y="21241"/>
                  <a:pt x="6286" y="21622"/>
                  <a:pt x="6953" y="21812"/>
                </a:cubicBezTo>
                <a:cubicBezTo>
                  <a:pt x="7620" y="22098"/>
                  <a:pt x="8382" y="22384"/>
                  <a:pt x="9144" y="22479"/>
                </a:cubicBezTo>
                <a:cubicBezTo>
                  <a:pt x="10573" y="22765"/>
                  <a:pt x="12097" y="22765"/>
                  <a:pt x="13525" y="22479"/>
                </a:cubicBezTo>
                <a:cubicBezTo>
                  <a:pt x="14288" y="22289"/>
                  <a:pt x="14954" y="22098"/>
                  <a:pt x="15621" y="21812"/>
                </a:cubicBezTo>
                <a:cubicBezTo>
                  <a:pt x="16288" y="21622"/>
                  <a:pt x="16954" y="21241"/>
                  <a:pt x="17621" y="20765"/>
                </a:cubicBezTo>
                <a:cubicBezTo>
                  <a:pt x="18192" y="20383"/>
                  <a:pt x="18859" y="19907"/>
                  <a:pt x="19336" y="19431"/>
                </a:cubicBezTo>
                <a:cubicBezTo>
                  <a:pt x="19907" y="18859"/>
                  <a:pt x="20288" y="18288"/>
                  <a:pt x="20669" y="17717"/>
                </a:cubicBezTo>
                <a:cubicBezTo>
                  <a:pt x="21146" y="17145"/>
                  <a:pt x="21526" y="16383"/>
                  <a:pt x="21717" y="15716"/>
                </a:cubicBezTo>
                <a:cubicBezTo>
                  <a:pt x="22003" y="15049"/>
                  <a:pt x="22288" y="14383"/>
                  <a:pt x="22384" y="13621"/>
                </a:cubicBezTo>
                <a:cubicBezTo>
                  <a:pt x="22574" y="12859"/>
                  <a:pt x="22574" y="12192"/>
                  <a:pt x="22574" y="11430"/>
                </a:cubicBezTo>
                <a:cubicBezTo>
                  <a:pt x="22574" y="8382"/>
                  <a:pt x="21336" y="5524"/>
                  <a:pt x="19240" y="3334"/>
                </a:cubicBezTo>
                <a:cubicBezTo>
                  <a:pt x="18192" y="2286"/>
                  <a:pt x="16859" y="1429"/>
                  <a:pt x="15526" y="857"/>
                </a:cubicBezTo>
                <a:cubicBezTo>
                  <a:pt x="14288" y="286"/>
                  <a:pt x="12859" y="0"/>
                  <a:pt x="11334" y="0"/>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19" name="稻壳儿智宇https://www.docer.com/works?userid=328340712">
            <a:extLst>
              <a:ext uri="{FF2B5EF4-FFF2-40B4-BE49-F238E27FC236}">
                <a16:creationId xmlns:a16="http://schemas.microsoft.com/office/drawing/2014/main" id="{FEDCF7FA-64A4-4E9F-B43D-DAD50A22F20C}"/>
              </a:ext>
            </a:extLst>
          </p:cNvPr>
          <p:cNvSpPr/>
          <p:nvPr/>
        </p:nvSpPr>
        <p:spPr>
          <a:xfrm>
            <a:off x="6669085" y="2226084"/>
            <a:ext cx="198510" cy="198510"/>
          </a:xfrm>
          <a:custGeom>
            <a:avLst/>
            <a:gdLst>
              <a:gd name="connsiteX0" fmla="*/ 112204 w 112204"/>
              <a:gd name="connsiteY0" fmla="*/ 56102 h 112204"/>
              <a:gd name="connsiteX1" fmla="*/ 56102 w 112204"/>
              <a:gd name="connsiteY1" fmla="*/ 112204 h 112204"/>
              <a:gd name="connsiteX2" fmla="*/ 0 w 112204"/>
              <a:gd name="connsiteY2" fmla="*/ 56102 h 112204"/>
              <a:gd name="connsiteX3" fmla="*/ 56102 w 112204"/>
              <a:gd name="connsiteY3" fmla="*/ 0 h 112204"/>
              <a:gd name="connsiteX4" fmla="*/ 112204 w 112204"/>
              <a:gd name="connsiteY4" fmla="*/ 56102 h 112204"/>
              <a:gd name="connsiteX5" fmla="*/ 96964 w 112204"/>
              <a:gd name="connsiteY5" fmla="*/ 56102 h 112204"/>
              <a:gd name="connsiteX6" fmla="*/ 56102 w 112204"/>
              <a:gd name="connsiteY6" fmla="*/ 15240 h 112204"/>
              <a:gd name="connsiteX7" fmla="*/ 15240 w 112204"/>
              <a:gd name="connsiteY7" fmla="*/ 56102 h 112204"/>
              <a:gd name="connsiteX8" fmla="*/ 56102 w 112204"/>
              <a:gd name="connsiteY8" fmla="*/ 96964 h 112204"/>
              <a:gd name="connsiteX9" fmla="*/ 96964 w 112204"/>
              <a:gd name="connsiteY9" fmla="*/ 56102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204" h="112204">
                <a:moveTo>
                  <a:pt x="112204" y="56102"/>
                </a:moveTo>
                <a:cubicBezTo>
                  <a:pt x="112204" y="87058"/>
                  <a:pt x="87058" y="112204"/>
                  <a:pt x="56102" y="112204"/>
                </a:cubicBezTo>
                <a:cubicBezTo>
                  <a:pt x="25146" y="112204"/>
                  <a:pt x="0" y="87058"/>
                  <a:pt x="0" y="56102"/>
                </a:cubicBezTo>
                <a:cubicBezTo>
                  <a:pt x="0" y="25146"/>
                  <a:pt x="25146" y="0"/>
                  <a:pt x="56102" y="0"/>
                </a:cubicBezTo>
                <a:cubicBezTo>
                  <a:pt x="87058" y="0"/>
                  <a:pt x="112204" y="25146"/>
                  <a:pt x="112204" y="56102"/>
                </a:cubicBezTo>
                <a:close/>
                <a:moveTo>
                  <a:pt x="96964" y="56102"/>
                </a:moveTo>
                <a:cubicBezTo>
                  <a:pt x="96964" y="33528"/>
                  <a:pt x="78677" y="15240"/>
                  <a:pt x="56102" y="15240"/>
                </a:cubicBezTo>
                <a:cubicBezTo>
                  <a:pt x="33528" y="15240"/>
                  <a:pt x="15240" y="33528"/>
                  <a:pt x="15240" y="56102"/>
                </a:cubicBezTo>
                <a:cubicBezTo>
                  <a:pt x="15240" y="78676"/>
                  <a:pt x="33528" y="96964"/>
                  <a:pt x="56102" y="96964"/>
                </a:cubicBezTo>
                <a:cubicBezTo>
                  <a:pt x="78677" y="96964"/>
                  <a:pt x="96964" y="78676"/>
                  <a:pt x="96964" y="56102"/>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23" name="稻壳儿智宇https://www.docer.com/works?userid=328340712">
            <a:extLst>
              <a:ext uri="{FF2B5EF4-FFF2-40B4-BE49-F238E27FC236}">
                <a16:creationId xmlns:a16="http://schemas.microsoft.com/office/drawing/2014/main" id="{7F7F2233-6598-D0ED-C72A-06950CE32573}"/>
              </a:ext>
            </a:extLst>
          </p:cNvPr>
          <p:cNvSpPr/>
          <p:nvPr/>
        </p:nvSpPr>
        <p:spPr>
          <a:xfrm>
            <a:off x="4569388" y="2150757"/>
            <a:ext cx="1664929" cy="1210609"/>
          </a:xfrm>
          <a:custGeom>
            <a:avLst/>
            <a:gdLst>
              <a:gd name="connsiteX0" fmla="*/ 890016 w 941071"/>
              <a:gd name="connsiteY0" fmla="*/ 684276 h 684275"/>
              <a:gd name="connsiteX1" fmla="*/ 869633 w 941071"/>
              <a:gd name="connsiteY1" fmla="*/ 673894 h 684275"/>
              <a:gd name="connsiteX2" fmla="*/ 918305 w 941071"/>
              <a:gd name="connsiteY2" fmla="*/ 470630 h 684275"/>
              <a:gd name="connsiteX3" fmla="*/ 470630 w 941071"/>
              <a:gd name="connsiteY3" fmla="*/ 22955 h 684275"/>
              <a:gd name="connsiteX4" fmla="*/ 22955 w 941071"/>
              <a:gd name="connsiteY4" fmla="*/ 470630 h 684275"/>
              <a:gd name="connsiteX5" fmla="*/ 71628 w 941071"/>
              <a:gd name="connsiteY5" fmla="*/ 673894 h 684275"/>
              <a:gd name="connsiteX6" fmla="*/ 51245 w 941071"/>
              <a:gd name="connsiteY6" fmla="*/ 684276 h 684275"/>
              <a:gd name="connsiteX7" fmla="*/ 0 w 941071"/>
              <a:gd name="connsiteY7" fmla="*/ 470535 h 684275"/>
              <a:gd name="connsiteX8" fmla="*/ 470535 w 941071"/>
              <a:gd name="connsiteY8" fmla="*/ 0 h 684275"/>
              <a:gd name="connsiteX9" fmla="*/ 941070 w 941071"/>
              <a:gd name="connsiteY9" fmla="*/ 470535 h 684275"/>
              <a:gd name="connsiteX10" fmla="*/ 890016 w 941071"/>
              <a:gd name="connsiteY10" fmla="*/ 684276 h 68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071" h="684275">
                <a:moveTo>
                  <a:pt x="890016" y="684276"/>
                </a:moveTo>
                <a:lnTo>
                  <a:pt x="869633" y="673894"/>
                </a:lnTo>
                <a:cubicBezTo>
                  <a:pt x="901922" y="610553"/>
                  <a:pt x="918305" y="542163"/>
                  <a:pt x="918305" y="470630"/>
                </a:cubicBezTo>
                <a:cubicBezTo>
                  <a:pt x="918305" y="223838"/>
                  <a:pt x="717518" y="22955"/>
                  <a:pt x="470630" y="22955"/>
                </a:cubicBezTo>
                <a:cubicBezTo>
                  <a:pt x="223838" y="22955"/>
                  <a:pt x="22955" y="223742"/>
                  <a:pt x="22955" y="470630"/>
                </a:cubicBezTo>
                <a:cubicBezTo>
                  <a:pt x="22955" y="542258"/>
                  <a:pt x="39338" y="610648"/>
                  <a:pt x="71628" y="673894"/>
                </a:cubicBezTo>
                <a:lnTo>
                  <a:pt x="51245" y="684276"/>
                </a:lnTo>
                <a:cubicBezTo>
                  <a:pt x="17240" y="617696"/>
                  <a:pt x="0" y="545783"/>
                  <a:pt x="0" y="470535"/>
                </a:cubicBezTo>
                <a:cubicBezTo>
                  <a:pt x="0" y="211074"/>
                  <a:pt x="211074" y="0"/>
                  <a:pt x="470535" y="0"/>
                </a:cubicBezTo>
                <a:cubicBezTo>
                  <a:pt x="729996" y="0"/>
                  <a:pt x="941070" y="211074"/>
                  <a:pt x="941070" y="470535"/>
                </a:cubicBezTo>
                <a:cubicBezTo>
                  <a:pt x="941261" y="545783"/>
                  <a:pt x="924020" y="617696"/>
                  <a:pt x="890016" y="684276"/>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24" name="稻壳儿智宇https://www.docer.com/works?userid=328340712">
            <a:extLst>
              <a:ext uri="{FF2B5EF4-FFF2-40B4-BE49-F238E27FC236}">
                <a16:creationId xmlns:a16="http://schemas.microsoft.com/office/drawing/2014/main" id="{D764AA8F-F626-B712-5705-F48F9AFA755B}"/>
              </a:ext>
            </a:extLst>
          </p:cNvPr>
          <p:cNvSpPr/>
          <p:nvPr/>
        </p:nvSpPr>
        <p:spPr>
          <a:xfrm>
            <a:off x="4832899" y="2413783"/>
            <a:ext cx="1138479" cy="1138480"/>
          </a:xfrm>
          <a:custGeom>
            <a:avLst/>
            <a:gdLst>
              <a:gd name="connsiteX0" fmla="*/ 643506 w 643505"/>
              <a:gd name="connsiteY0" fmla="*/ 321753 h 643505"/>
              <a:gd name="connsiteX1" fmla="*/ 321753 w 643505"/>
              <a:gd name="connsiteY1" fmla="*/ 643506 h 643505"/>
              <a:gd name="connsiteX2" fmla="*/ 0 w 643505"/>
              <a:gd name="connsiteY2" fmla="*/ 321753 h 643505"/>
              <a:gd name="connsiteX3" fmla="*/ 321753 w 643505"/>
              <a:gd name="connsiteY3" fmla="*/ 0 h 643505"/>
              <a:gd name="connsiteX4" fmla="*/ 643506 w 643505"/>
              <a:gd name="connsiteY4" fmla="*/ 321753 h 64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505" h="643505">
                <a:moveTo>
                  <a:pt x="643506" y="321753"/>
                </a:moveTo>
                <a:cubicBezTo>
                  <a:pt x="643506" y="499452"/>
                  <a:pt x="499452" y="643506"/>
                  <a:pt x="321753" y="643506"/>
                </a:cubicBezTo>
                <a:cubicBezTo>
                  <a:pt x="144054" y="643506"/>
                  <a:pt x="0" y="499452"/>
                  <a:pt x="0" y="321753"/>
                </a:cubicBezTo>
                <a:cubicBezTo>
                  <a:pt x="0" y="144054"/>
                  <a:pt x="144054" y="0"/>
                  <a:pt x="321753" y="0"/>
                </a:cubicBezTo>
                <a:cubicBezTo>
                  <a:pt x="499452" y="0"/>
                  <a:pt x="643506" y="144054"/>
                  <a:pt x="643506" y="321753"/>
                </a:cubicBezTo>
                <a:close/>
              </a:path>
            </a:pathLst>
          </a:custGeom>
          <a:solidFill>
            <a:schemeClr val="accent3"/>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lt1"/>
                </a:solidFill>
                <a:latin typeface="思源宋体" panose="02020400000000000000" pitchFamily="18" charset="-122"/>
                <a:ea typeface="思源宋体" panose="02020400000000000000" pitchFamily="18" charset="-122"/>
                <a:sym typeface="微软雅黑"/>
              </a:rPr>
              <a:t>2026.01</a:t>
            </a:r>
          </a:p>
        </p:txBody>
      </p:sp>
      <p:sp>
        <p:nvSpPr>
          <p:cNvPr id="25" name="稻壳儿智宇https://www.docer.com/works?userid=328340712">
            <a:extLst>
              <a:ext uri="{FF2B5EF4-FFF2-40B4-BE49-F238E27FC236}">
                <a16:creationId xmlns:a16="http://schemas.microsoft.com/office/drawing/2014/main" id="{191AA986-5DD4-AE94-C0E6-C28F402DD6EB}"/>
              </a:ext>
            </a:extLst>
          </p:cNvPr>
          <p:cNvSpPr/>
          <p:nvPr/>
        </p:nvSpPr>
        <p:spPr>
          <a:xfrm>
            <a:off x="5401009" y="3869271"/>
            <a:ext cx="40442" cy="456506"/>
          </a:xfrm>
          <a:custGeom>
            <a:avLst/>
            <a:gdLst>
              <a:gd name="connsiteX0" fmla="*/ 0 w 22859"/>
              <a:gd name="connsiteY0" fmla="*/ 246602 h 258032"/>
              <a:gd name="connsiteX1" fmla="*/ 11430 w 22859"/>
              <a:gd name="connsiteY1" fmla="*/ 235172 h 258032"/>
              <a:gd name="connsiteX2" fmla="*/ 11430 w 22859"/>
              <a:gd name="connsiteY2" fmla="*/ 235172 h 258032"/>
              <a:gd name="connsiteX3" fmla="*/ 22860 w 22859"/>
              <a:gd name="connsiteY3" fmla="*/ 246602 h 258032"/>
              <a:gd name="connsiteX4" fmla="*/ 22860 w 22859"/>
              <a:gd name="connsiteY4" fmla="*/ 246602 h 258032"/>
              <a:gd name="connsiteX5" fmla="*/ 11430 w 22859"/>
              <a:gd name="connsiteY5" fmla="*/ 258032 h 258032"/>
              <a:gd name="connsiteX6" fmla="*/ 11430 w 22859"/>
              <a:gd name="connsiteY6" fmla="*/ 258032 h 258032"/>
              <a:gd name="connsiteX7" fmla="*/ 0 w 22859"/>
              <a:gd name="connsiteY7" fmla="*/ 246602 h 258032"/>
              <a:gd name="connsiteX8" fmla="*/ 0 w 22859"/>
              <a:gd name="connsiteY8" fmla="*/ 199549 h 258032"/>
              <a:gd name="connsiteX9" fmla="*/ 11430 w 22859"/>
              <a:gd name="connsiteY9" fmla="*/ 188119 h 258032"/>
              <a:gd name="connsiteX10" fmla="*/ 11430 w 22859"/>
              <a:gd name="connsiteY10" fmla="*/ 188119 h 258032"/>
              <a:gd name="connsiteX11" fmla="*/ 22860 w 22859"/>
              <a:gd name="connsiteY11" fmla="*/ 199549 h 258032"/>
              <a:gd name="connsiteX12" fmla="*/ 22860 w 22859"/>
              <a:gd name="connsiteY12" fmla="*/ 199549 h 258032"/>
              <a:gd name="connsiteX13" fmla="*/ 11430 w 22859"/>
              <a:gd name="connsiteY13" fmla="*/ 210979 h 258032"/>
              <a:gd name="connsiteX14" fmla="*/ 11430 w 22859"/>
              <a:gd name="connsiteY14" fmla="*/ 210979 h 258032"/>
              <a:gd name="connsiteX15" fmla="*/ 0 w 22859"/>
              <a:gd name="connsiteY15" fmla="*/ 199549 h 258032"/>
              <a:gd name="connsiteX16" fmla="*/ 0 w 22859"/>
              <a:gd name="connsiteY16" fmla="*/ 152495 h 258032"/>
              <a:gd name="connsiteX17" fmla="*/ 11430 w 22859"/>
              <a:gd name="connsiteY17" fmla="*/ 141065 h 258032"/>
              <a:gd name="connsiteX18" fmla="*/ 11430 w 22859"/>
              <a:gd name="connsiteY18" fmla="*/ 141065 h 258032"/>
              <a:gd name="connsiteX19" fmla="*/ 22860 w 22859"/>
              <a:gd name="connsiteY19" fmla="*/ 152495 h 258032"/>
              <a:gd name="connsiteX20" fmla="*/ 22860 w 22859"/>
              <a:gd name="connsiteY20" fmla="*/ 152495 h 258032"/>
              <a:gd name="connsiteX21" fmla="*/ 11430 w 22859"/>
              <a:gd name="connsiteY21" fmla="*/ 163925 h 258032"/>
              <a:gd name="connsiteX22" fmla="*/ 11430 w 22859"/>
              <a:gd name="connsiteY22" fmla="*/ 163925 h 258032"/>
              <a:gd name="connsiteX23" fmla="*/ 0 w 22859"/>
              <a:gd name="connsiteY23" fmla="*/ 152495 h 258032"/>
              <a:gd name="connsiteX24" fmla="*/ 0 w 22859"/>
              <a:gd name="connsiteY24" fmla="*/ 105442 h 258032"/>
              <a:gd name="connsiteX25" fmla="*/ 11430 w 22859"/>
              <a:gd name="connsiteY25" fmla="*/ 94012 h 258032"/>
              <a:gd name="connsiteX26" fmla="*/ 11430 w 22859"/>
              <a:gd name="connsiteY26" fmla="*/ 94012 h 258032"/>
              <a:gd name="connsiteX27" fmla="*/ 22860 w 22859"/>
              <a:gd name="connsiteY27" fmla="*/ 105442 h 258032"/>
              <a:gd name="connsiteX28" fmla="*/ 22860 w 22859"/>
              <a:gd name="connsiteY28" fmla="*/ 105442 h 258032"/>
              <a:gd name="connsiteX29" fmla="*/ 11430 w 22859"/>
              <a:gd name="connsiteY29" fmla="*/ 116872 h 258032"/>
              <a:gd name="connsiteX30" fmla="*/ 11430 w 22859"/>
              <a:gd name="connsiteY30" fmla="*/ 116872 h 258032"/>
              <a:gd name="connsiteX31" fmla="*/ 0 w 22859"/>
              <a:gd name="connsiteY31" fmla="*/ 105442 h 258032"/>
              <a:gd name="connsiteX32" fmla="*/ 0 w 22859"/>
              <a:gd name="connsiteY32" fmla="*/ 58483 h 258032"/>
              <a:gd name="connsiteX33" fmla="*/ 11430 w 22859"/>
              <a:gd name="connsiteY33" fmla="*/ 47054 h 258032"/>
              <a:gd name="connsiteX34" fmla="*/ 11430 w 22859"/>
              <a:gd name="connsiteY34" fmla="*/ 47054 h 258032"/>
              <a:gd name="connsiteX35" fmla="*/ 22860 w 22859"/>
              <a:gd name="connsiteY35" fmla="*/ 58483 h 258032"/>
              <a:gd name="connsiteX36" fmla="*/ 22860 w 22859"/>
              <a:gd name="connsiteY36" fmla="*/ 58483 h 258032"/>
              <a:gd name="connsiteX37" fmla="*/ 11430 w 22859"/>
              <a:gd name="connsiteY37" fmla="*/ 69913 h 258032"/>
              <a:gd name="connsiteX38" fmla="*/ 11430 w 22859"/>
              <a:gd name="connsiteY38" fmla="*/ 69913 h 258032"/>
              <a:gd name="connsiteX39" fmla="*/ 0 w 22859"/>
              <a:gd name="connsiteY39" fmla="*/ 58483 h 258032"/>
              <a:gd name="connsiteX40" fmla="*/ 0 w 22859"/>
              <a:gd name="connsiteY40" fmla="*/ 11430 h 258032"/>
              <a:gd name="connsiteX41" fmla="*/ 11430 w 22859"/>
              <a:gd name="connsiteY41" fmla="*/ 0 h 258032"/>
              <a:gd name="connsiteX42" fmla="*/ 11430 w 22859"/>
              <a:gd name="connsiteY42" fmla="*/ 0 h 258032"/>
              <a:gd name="connsiteX43" fmla="*/ 22860 w 22859"/>
              <a:gd name="connsiteY43" fmla="*/ 11430 h 258032"/>
              <a:gd name="connsiteX44" fmla="*/ 22860 w 22859"/>
              <a:gd name="connsiteY44" fmla="*/ 11430 h 258032"/>
              <a:gd name="connsiteX45" fmla="*/ 11430 w 22859"/>
              <a:gd name="connsiteY45" fmla="*/ 22860 h 258032"/>
              <a:gd name="connsiteX46" fmla="*/ 11430 w 22859"/>
              <a:gd name="connsiteY46" fmla="*/ 22860 h 258032"/>
              <a:gd name="connsiteX47" fmla="*/ 0 w 22859"/>
              <a:gd name="connsiteY47" fmla="*/ 11430 h 25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859" h="258032">
                <a:moveTo>
                  <a:pt x="0" y="246602"/>
                </a:moveTo>
                <a:cubicBezTo>
                  <a:pt x="0" y="240221"/>
                  <a:pt x="5143" y="235172"/>
                  <a:pt x="11430" y="235172"/>
                </a:cubicBezTo>
                <a:lnTo>
                  <a:pt x="11430" y="235172"/>
                </a:lnTo>
                <a:cubicBezTo>
                  <a:pt x="17812" y="235172"/>
                  <a:pt x="22860" y="240316"/>
                  <a:pt x="22860" y="246602"/>
                </a:cubicBezTo>
                <a:lnTo>
                  <a:pt x="22860" y="246602"/>
                </a:lnTo>
                <a:cubicBezTo>
                  <a:pt x="22860" y="252984"/>
                  <a:pt x="17717" y="258032"/>
                  <a:pt x="11430" y="258032"/>
                </a:cubicBezTo>
                <a:lnTo>
                  <a:pt x="11430" y="258032"/>
                </a:lnTo>
                <a:cubicBezTo>
                  <a:pt x="5143" y="258032"/>
                  <a:pt x="0" y="252889"/>
                  <a:pt x="0" y="246602"/>
                </a:cubicBezTo>
                <a:close/>
                <a:moveTo>
                  <a:pt x="0" y="199549"/>
                </a:moveTo>
                <a:cubicBezTo>
                  <a:pt x="0" y="193167"/>
                  <a:pt x="5143" y="188119"/>
                  <a:pt x="11430" y="188119"/>
                </a:cubicBezTo>
                <a:lnTo>
                  <a:pt x="11430" y="188119"/>
                </a:lnTo>
                <a:cubicBezTo>
                  <a:pt x="17812" y="188119"/>
                  <a:pt x="22860" y="193262"/>
                  <a:pt x="22860" y="199549"/>
                </a:cubicBezTo>
                <a:lnTo>
                  <a:pt x="22860" y="199549"/>
                </a:lnTo>
                <a:cubicBezTo>
                  <a:pt x="22860" y="205931"/>
                  <a:pt x="17717" y="210979"/>
                  <a:pt x="11430" y="210979"/>
                </a:cubicBezTo>
                <a:lnTo>
                  <a:pt x="11430" y="210979"/>
                </a:lnTo>
                <a:cubicBezTo>
                  <a:pt x="5143" y="210979"/>
                  <a:pt x="0" y="205835"/>
                  <a:pt x="0" y="199549"/>
                </a:cubicBezTo>
                <a:close/>
                <a:moveTo>
                  <a:pt x="0" y="152495"/>
                </a:moveTo>
                <a:cubicBezTo>
                  <a:pt x="0" y="146113"/>
                  <a:pt x="5143" y="141065"/>
                  <a:pt x="11430" y="141065"/>
                </a:cubicBezTo>
                <a:lnTo>
                  <a:pt x="11430" y="141065"/>
                </a:lnTo>
                <a:cubicBezTo>
                  <a:pt x="17812" y="141065"/>
                  <a:pt x="22860" y="146209"/>
                  <a:pt x="22860" y="152495"/>
                </a:cubicBezTo>
                <a:lnTo>
                  <a:pt x="22860" y="152495"/>
                </a:lnTo>
                <a:cubicBezTo>
                  <a:pt x="22860" y="158877"/>
                  <a:pt x="17717" y="163925"/>
                  <a:pt x="11430" y="163925"/>
                </a:cubicBezTo>
                <a:lnTo>
                  <a:pt x="11430" y="163925"/>
                </a:lnTo>
                <a:cubicBezTo>
                  <a:pt x="5143" y="163925"/>
                  <a:pt x="0" y="158877"/>
                  <a:pt x="0" y="152495"/>
                </a:cubicBezTo>
                <a:close/>
                <a:moveTo>
                  <a:pt x="0" y="105442"/>
                </a:moveTo>
                <a:cubicBezTo>
                  <a:pt x="0" y="99060"/>
                  <a:pt x="5143" y="94012"/>
                  <a:pt x="11430" y="94012"/>
                </a:cubicBezTo>
                <a:lnTo>
                  <a:pt x="11430" y="94012"/>
                </a:lnTo>
                <a:cubicBezTo>
                  <a:pt x="17812" y="94012"/>
                  <a:pt x="22860" y="99155"/>
                  <a:pt x="22860" y="105442"/>
                </a:cubicBezTo>
                <a:lnTo>
                  <a:pt x="22860" y="105442"/>
                </a:lnTo>
                <a:cubicBezTo>
                  <a:pt x="22860" y="111824"/>
                  <a:pt x="17717" y="116872"/>
                  <a:pt x="11430" y="116872"/>
                </a:cubicBezTo>
                <a:lnTo>
                  <a:pt x="11430" y="116872"/>
                </a:lnTo>
                <a:cubicBezTo>
                  <a:pt x="5143" y="116967"/>
                  <a:pt x="0" y="111824"/>
                  <a:pt x="0" y="105442"/>
                </a:cubicBezTo>
                <a:close/>
                <a:moveTo>
                  <a:pt x="0" y="58483"/>
                </a:moveTo>
                <a:cubicBezTo>
                  <a:pt x="0" y="52197"/>
                  <a:pt x="5143" y="47054"/>
                  <a:pt x="11430" y="47054"/>
                </a:cubicBezTo>
                <a:lnTo>
                  <a:pt x="11430" y="47054"/>
                </a:lnTo>
                <a:cubicBezTo>
                  <a:pt x="17812" y="47054"/>
                  <a:pt x="22860" y="52197"/>
                  <a:pt x="22860" y="58483"/>
                </a:cubicBezTo>
                <a:lnTo>
                  <a:pt x="22860" y="58483"/>
                </a:lnTo>
                <a:cubicBezTo>
                  <a:pt x="22860" y="64865"/>
                  <a:pt x="17717" y="69913"/>
                  <a:pt x="11430" y="69913"/>
                </a:cubicBezTo>
                <a:lnTo>
                  <a:pt x="11430" y="69913"/>
                </a:lnTo>
                <a:cubicBezTo>
                  <a:pt x="5143" y="69913"/>
                  <a:pt x="0" y="64770"/>
                  <a:pt x="0" y="58483"/>
                </a:cubicBezTo>
                <a:close/>
                <a:moveTo>
                  <a:pt x="0" y="11430"/>
                </a:moveTo>
                <a:cubicBezTo>
                  <a:pt x="0" y="5048"/>
                  <a:pt x="5143" y="0"/>
                  <a:pt x="11430" y="0"/>
                </a:cubicBezTo>
                <a:lnTo>
                  <a:pt x="11430" y="0"/>
                </a:lnTo>
                <a:cubicBezTo>
                  <a:pt x="17812" y="0"/>
                  <a:pt x="22860" y="5144"/>
                  <a:pt x="22860" y="11430"/>
                </a:cubicBezTo>
                <a:lnTo>
                  <a:pt x="22860" y="11430"/>
                </a:lnTo>
                <a:cubicBezTo>
                  <a:pt x="22860" y="17812"/>
                  <a:pt x="17717" y="22860"/>
                  <a:pt x="11430" y="22860"/>
                </a:cubicBezTo>
                <a:lnTo>
                  <a:pt x="11430" y="22860"/>
                </a:lnTo>
                <a:cubicBezTo>
                  <a:pt x="5143" y="22860"/>
                  <a:pt x="0" y="17717"/>
                  <a:pt x="0" y="1143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26" name="稻壳儿智宇https://www.docer.com/works?userid=328340712">
            <a:extLst>
              <a:ext uri="{FF2B5EF4-FFF2-40B4-BE49-F238E27FC236}">
                <a16:creationId xmlns:a16="http://schemas.microsoft.com/office/drawing/2014/main" id="{6F1AEAC2-0B42-8E1F-73B4-E55CAD674F23}"/>
              </a:ext>
            </a:extLst>
          </p:cNvPr>
          <p:cNvSpPr/>
          <p:nvPr/>
        </p:nvSpPr>
        <p:spPr>
          <a:xfrm>
            <a:off x="5401177" y="4368877"/>
            <a:ext cx="39938" cy="40148"/>
          </a:xfrm>
          <a:custGeom>
            <a:avLst/>
            <a:gdLst>
              <a:gd name="connsiteX0" fmla="*/ 11335 w 22574"/>
              <a:gd name="connsiteY0" fmla="*/ 22693 h 22693"/>
              <a:gd name="connsiteX1" fmla="*/ 6953 w 22574"/>
              <a:gd name="connsiteY1" fmla="*/ 21836 h 22693"/>
              <a:gd name="connsiteX2" fmla="*/ 3334 w 22574"/>
              <a:gd name="connsiteY2" fmla="*/ 19360 h 22693"/>
              <a:gd name="connsiteX3" fmla="*/ 0 w 22574"/>
              <a:gd name="connsiteY3" fmla="*/ 11263 h 22693"/>
              <a:gd name="connsiteX4" fmla="*/ 191 w 22574"/>
              <a:gd name="connsiteY4" fmla="*/ 9073 h 22693"/>
              <a:gd name="connsiteX5" fmla="*/ 762 w 22574"/>
              <a:gd name="connsiteY5" fmla="*/ 6977 h 22693"/>
              <a:gd name="connsiteX6" fmla="*/ 1810 w 22574"/>
              <a:gd name="connsiteY6" fmla="*/ 4977 h 22693"/>
              <a:gd name="connsiteX7" fmla="*/ 3239 w 22574"/>
              <a:gd name="connsiteY7" fmla="*/ 3262 h 22693"/>
              <a:gd name="connsiteX8" fmla="*/ 4953 w 22574"/>
              <a:gd name="connsiteY8" fmla="*/ 1929 h 22693"/>
              <a:gd name="connsiteX9" fmla="*/ 6953 w 22574"/>
              <a:gd name="connsiteY9" fmla="*/ 881 h 22693"/>
              <a:gd name="connsiteX10" fmla="*/ 9144 w 22574"/>
              <a:gd name="connsiteY10" fmla="*/ 214 h 22693"/>
              <a:gd name="connsiteX11" fmla="*/ 13525 w 22574"/>
              <a:gd name="connsiteY11" fmla="*/ 214 h 22693"/>
              <a:gd name="connsiteX12" fmla="*/ 15621 w 22574"/>
              <a:gd name="connsiteY12" fmla="*/ 881 h 22693"/>
              <a:gd name="connsiteX13" fmla="*/ 17621 w 22574"/>
              <a:gd name="connsiteY13" fmla="*/ 1929 h 22693"/>
              <a:gd name="connsiteX14" fmla="*/ 19336 w 22574"/>
              <a:gd name="connsiteY14" fmla="*/ 3262 h 22693"/>
              <a:gd name="connsiteX15" fmla="*/ 20669 w 22574"/>
              <a:gd name="connsiteY15" fmla="*/ 4977 h 22693"/>
              <a:gd name="connsiteX16" fmla="*/ 21717 w 22574"/>
              <a:gd name="connsiteY16" fmla="*/ 6977 h 22693"/>
              <a:gd name="connsiteX17" fmla="*/ 22384 w 22574"/>
              <a:gd name="connsiteY17" fmla="*/ 9073 h 22693"/>
              <a:gd name="connsiteX18" fmla="*/ 22574 w 22574"/>
              <a:gd name="connsiteY18" fmla="*/ 11263 h 22693"/>
              <a:gd name="connsiteX19" fmla="*/ 19241 w 22574"/>
              <a:gd name="connsiteY19" fmla="*/ 19360 h 22693"/>
              <a:gd name="connsiteX20" fmla="*/ 15526 w 22574"/>
              <a:gd name="connsiteY20" fmla="*/ 21836 h 22693"/>
              <a:gd name="connsiteX21" fmla="*/ 11335 w 22574"/>
              <a:gd name="connsiteY21" fmla="*/ 22693 h 2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574" h="22693">
                <a:moveTo>
                  <a:pt x="11335" y="22693"/>
                </a:moveTo>
                <a:cubicBezTo>
                  <a:pt x="9811" y="22693"/>
                  <a:pt x="8382" y="22408"/>
                  <a:pt x="6953" y="21836"/>
                </a:cubicBezTo>
                <a:cubicBezTo>
                  <a:pt x="5620" y="21265"/>
                  <a:pt x="4382" y="20407"/>
                  <a:pt x="3334" y="19360"/>
                </a:cubicBezTo>
                <a:cubicBezTo>
                  <a:pt x="1143" y="17264"/>
                  <a:pt x="0" y="14311"/>
                  <a:pt x="0" y="11263"/>
                </a:cubicBezTo>
                <a:cubicBezTo>
                  <a:pt x="0" y="10501"/>
                  <a:pt x="95" y="9835"/>
                  <a:pt x="191" y="9073"/>
                </a:cubicBezTo>
                <a:cubicBezTo>
                  <a:pt x="381" y="8311"/>
                  <a:pt x="571" y="7644"/>
                  <a:pt x="762" y="6977"/>
                </a:cubicBezTo>
                <a:cubicBezTo>
                  <a:pt x="1048" y="6310"/>
                  <a:pt x="1429" y="5644"/>
                  <a:pt x="1810" y="4977"/>
                </a:cubicBezTo>
                <a:cubicBezTo>
                  <a:pt x="2286" y="4405"/>
                  <a:pt x="2762" y="3739"/>
                  <a:pt x="3239" y="3262"/>
                </a:cubicBezTo>
                <a:cubicBezTo>
                  <a:pt x="3810" y="2691"/>
                  <a:pt x="4286" y="2310"/>
                  <a:pt x="4953" y="1929"/>
                </a:cubicBezTo>
                <a:cubicBezTo>
                  <a:pt x="5620" y="1453"/>
                  <a:pt x="6287" y="1072"/>
                  <a:pt x="6953" y="881"/>
                </a:cubicBezTo>
                <a:cubicBezTo>
                  <a:pt x="7620" y="595"/>
                  <a:pt x="8382" y="310"/>
                  <a:pt x="9144" y="214"/>
                </a:cubicBezTo>
                <a:cubicBezTo>
                  <a:pt x="10573" y="-71"/>
                  <a:pt x="12097" y="-71"/>
                  <a:pt x="13525" y="214"/>
                </a:cubicBezTo>
                <a:cubicBezTo>
                  <a:pt x="14288" y="405"/>
                  <a:pt x="14954" y="595"/>
                  <a:pt x="15621" y="881"/>
                </a:cubicBezTo>
                <a:cubicBezTo>
                  <a:pt x="16288" y="1072"/>
                  <a:pt x="16954" y="1453"/>
                  <a:pt x="17621" y="1929"/>
                </a:cubicBezTo>
                <a:cubicBezTo>
                  <a:pt x="18193" y="2310"/>
                  <a:pt x="18860" y="2786"/>
                  <a:pt x="19336" y="3262"/>
                </a:cubicBezTo>
                <a:cubicBezTo>
                  <a:pt x="19907" y="3834"/>
                  <a:pt x="20288" y="4405"/>
                  <a:pt x="20669" y="4977"/>
                </a:cubicBezTo>
                <a:cubicBezTo>
                  <a:pt x="21146" y="5548"/>
                  <a:pt x="21527" y="6310"/>
                  <a:pt x="21717" y="6977"/>
                </a:cubicBezTo>
                <a:cubicBezTo>
                  <a:pt x="22003" y="7644"/>
                  <a:pt x="22289" y="8311"/>
                  <a:pt x="22384" y="9073"/>
                </a:cubicBezTo>
                <a:cubicBezTo>
                  <a:pt x="22574" y="9835"/>
                  <a:pt x="22574" y="10501"/>
                  <a:pt x="22574" y="11263"/>
                </a:cubicBezTo>
                <a:cubicBezTo>
                  <a:pt x="22574" y="14311"/>
                  <a:pt x="21336" y="17169"/>
                  <a:pt x="19241" y="19360"/>
                </a:cubicBezTo>
                <a:cubicBezTo>
                  <a:pt x="18193" y="20407"/>
                  <a:pt x="16859" y="21265"/>
                  <a:pt x="15526" y="21836"/>
                </a:cubicBezTo>
                <a:cubicBezTo>
                  <a:pt x="14383" y="22312"/>
                  <a:pt x="12859" y="22693"/>
                  <a:pt x="11335" y="22693"/>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27" name="稻壳儿智宇https://www.docer.com/works?userid=328340712">
            <a:extLst>
              <a:ext uri="{FF2B5EF4-FFF2-40B4-BE49-F238E27FC236}">
                <a16:creationId xmlns:a16="http://schemas.microsoft.com/office/drawing/2014/main" id="{3534CF28-1B63-A353-FF89-EEE097F54E67}"/>
              </a:ext>
            </a:extLst>
          </p:cNvPr>
          <p:cNvSpPr/>
          <p:nvPr/>
        </p:nvSpPr>
        <p:spPr>
          <a:xfrm>
            <a:off x="5321976" y="4432955"/>
            <a:ext cx="198510" cy="198510"/>
          </a:xfrm>
          <a:custGeom>
            <a:avLst/>
            <a:gdLst>
              <a:gd name="connsiteX0" fmla="*/ 56102 w 112204"/>
              <a:gd name="connsiteY0" fmla="*/ 112205 h 112204"/>
              <a:gd name="connsiteX1" fmla="*/ 0 w 112204"/>
              <a:gd name="connsiteY1" fmla="*/ 56102 h 112204"/>
              <a:gd name="connsiteX2" fmla="*/ 56102 w 112204"/>
              <a:gd name="connsiteY2" fmla="*/ 0 h 112204"/>
              <a:gd name="connsiteX3" fmla="*/ 112204 w 112204"/>
              <a:gd name="connsiteY3" fmla="*/ 56102 h 112204"/>
              <a:gd name="connsiteX4" fmla="*/ 56102 w 112204"/>
              <a:gd name="connsiteY4" fmla="*/ 112205 h 112204"/>
              <a:gd name="connsiteX5" fmla="*/ 56102 w 112204"/>
              <a:gd name="connsiteY5" fmla="*/ 15240 h 112204"/>
              <a:gd name="connsiteX6" fmla="*/ 15240 w 112204"/>
              <a:gd name="connsiteY6" fmla="*/ 56102 h 112204"/>
              <a:gd name="connsiteX7" fmla="*/ 56102 w 112204"/>
              <a:gd name="connsiteY7" fmla="*/ 96965 h 112204"/>
              <a:gd name="connsiteX8" fmla="*/ 96965 w 112204"/>
              <a:gd name="connsiteY8" fmla="*/ 56102 h 112204"/>
              <a:gd name="connsiteX9" fmla="*/ 56102 w 112204"/>
              <a:gd name="connsiteY9" fmla="*/ 15240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204" h="112204">
                <a:moveTo>
                  <a:pt x="56102" y="112205"/>
                </a:moveTo>
                <a:cubicBezTo>
                  <a:pt x="25146" y="112205"/>
                  <a:pt x="0" y="87058"/>
                  <a:pt x="0" y="56102"/>
                </a:cubicBezTo>
                <a:cubicBezTo>
                  <a:pt x="0" y="25146"/>
                  <a:pt x="25146" y="0"/>
                  <a:pt x="56102" y="0"/>
                </a:cubicBezTo>
                <a:cubicBezTo>
                  <a:pt x="87058" y="0"/>
                  <a:pt x="112204" y="25146"/>
                  <a:pt x="112204" y="56102"/>
                </a:cubicBezTo>
                <a:cubicBezTo>
                  <a:pt x="112300" y="87058"/>
                  <a:pt x="87058" y="112205"/>
                  <a:pt x="56102" y="112205"/>
                </a:cubicBezTo>
                <a:close/>
                <a:moveTo>
                  <a:pt x="56102" y="15240"/>
                </a:moveTo>
                <a:cubicBezTo>
                  <a:pt x="33528" y="15240"/>
                  <a:pt x="15240" y="33528"/>
                  <a:pt x="15240" y="56102"/>
                </a:cubicBezTo>
                <a:cubicBezTo>
                  <a:pt x="15240" y="78677"/>
                  <a:pt x="33528" y="96965"/>
                  <a:pt x="56102" y="96965"/>
                </a:cubicBezTo>
                <a:cubicBezTo>
                  <a:pt x="78676" y="96965"/>
                  <a:pt x="96965" y="78677"/>
                  <a:pt x="96965" y="56102"/>
                </a:cubicBezTo>
                <a:cubicBezTo>
                  <a:pt x="96965" y="33528"/>
                  <a:pt x="78676" y="15240"/>
                  <a:pt x="56102" y="1524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32" name="稻壳儿智宇https://www.docer.com/works?userid=328340712">
            <a:extLst>
              <a:ext uri="{FF2B5EF4-FFF2-40B4-BE49-F238E27FC236}">
                <a16:creationId xmlns:a16="http://schemas.microsoft.com/office/drawing/2014/main" id="{E6805C64-1850-FB07-248F-F1C1C46C9BEE}"/>
              </a:ext>
            </a:extLst>
          </p:cNvPr>
          <p:cNvSpPr/>
          <p:nvPr/>
        </p:nvSpPr>
        <p:spPr>
          <a:xfrm>
            <a:off x="7301857" y="2150757"/>
            <a:ext cx="1664927" cy="1210609"/>
          </a:xfrm>
          <a:custGeom>
            <a:avLst/>
            <a:gdLst>
              <a:gd name="connsiteX0" fmla="*/ 51245 w 941070"/>
              <a:gd name="connsiteY0" fmla="*/ 684276 h 684275"/>
              <a:gd name="connsiteX1" fmla="*/ 0 w 941070"/>
              <a:gd name="connsiteY1" fmla="*/ 470535 h 684275"/>
              <a:gd name="connsiteX2" fmla="*/ 470535 w 941070"/>
              <a:gd name="connsiteY2" fmla="*/ 0 h 684275"/>
              <a:gd name="connsiteX3" fmla="*/ 941070 w 941070"/>
              <a:gd name="connsiteY3" fmla="*/ 470535 h 684275"/>
              <a:gd name="connsiteX4" fmla="*/ 889826 w 941070"/>
              <a:gd name="connsiteY4" fmla="*/ 684276 h 684275"/>
              <a:gd name="connsiteX5" fmla="*/ 869442 w 941070"/>
              <a:gd name="connsiteY5" fmla="*/ 673894 h 684275"/>
              <a:gd name="connsiteX6" fmla="*/ 918115 w 941070"/>
              <a:gd name="connsiteY6" fmla="*/ 470630 h 684275"/>
              <a:gd name="connsiteX7" fmla="*/ 470440 w 941070"/>
              <a:gd name="connsiteY7" fmla="*/ 22955 h 684275"/>
              <a:gd name="connsiteX8" fmla="*/ 22765 w 941070"/>
              <a:gd name="connsiteY8" fmla="*/ 470630 h 684275"/>
              <a:gd name="connsiteX9" fmla="*/ 71438 w 941070"/>
              <a:gd name="connsiteY9" fmla="*/ 673894 h 684275"/>
              <a:gd name="connsiteX10" fmla="*/ 51245 w 941070"/>
              <a:gd name="connsiteY10" fmla="*/ 684276 h 68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070" h="684275">
                <a:moveTo>
                  <a:pt x="51245" y="684276"/>
                </a:moveTo>
                <a:cubicBezTo>
                  <a:pt x="17240" y="617696"/>
                  <a:pt x="0" y="545783"/>
                  <a:pt x="0" y="470535"/>
                </a:cubicBezTo>
                <a:cubicBezTo>
                  <a:pt x="0" y="211074"/>
                  <a:pt x="211074" y="0"/>
                  <a:pt x="470535" y="0"/>
                </a:cubicBezTo>
                <a:cubicBezTo>
                  <a:pt x="729996" y="0"/>
                  <a:pt x="941070" y="211074"/>
                  <a:pt x="941070" y="470535"/>
                </a:cubicBezTo>
                <a:cubicBezTo>
                  <a:pt x="941070" y="545783"/>
                  <a:pt x="923830" y="617696"/>
                  <a:pt x="889826" y="684276"/>
                </a:cubicBezTo>
                <a:lnTo>
                  <a:pt x="869442" y="673894"/>
                </a:lnTo>
                <a:cubicBezTo>
                  <a:pt x="901732" y="610553"/>
                  <a:pt x="918115" y="542163"/>
                  <a:pt x="918115" y="470630"/>
                </a:cubicBezTo>
                <a:cubicBezTo>
                  <a:pt x="918115" y="223838"/>
                  <a:pt x="717328" y="22955"/>
                  <a:pt x="470440" y="22955"/>
                </a:cubicBezTo>
                <a:cubicBezTo>
                  <a:pt x="223552" y="22955"/>
                  <a:pt x="22765" y="223742"/>
                  <a:pt x="22765" y="470630"/>
                </a:cubicBezTo>
                <a:cubicBezTo>
                  <a:pt x="22765" y="542258"/>
                  <a:pt x="39148" y="610648"/>
                  <a:pt x="71438" y="673894"/>
                </a:cubicBezTo>
                <a:lnTo>
                  <a:pt x="51245" y="684276"/>
                </a:ln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38" name="稻壳儿智宇https://www.docer.com/works?userid=328340712">
            <a:extLst>
              <a:ext uri="{FF2B5EF4-FFF2-40B4-BE49-F238E27FC236}">
                <a16:creationId xmlns:a16="http://schemas.microsoft.com/office/drawing/2014/main" id="{5A891FE3-5FED-A6C0-F8EE-C5DE7CB6CB8D}"/>
              </a:ext>
            </a:extLst>
          </p:cNvPr>
          <p:cNvSpPr/>
          <p:nvPr/>
        </p:nvSpPr>
        <p:spPr>
          <a:xfrm>
            <a:off x="7565133" y="2414005"/>
            <a:ext cx="1138474" cy="1138474"/>
          </a:xfrm>
          <a:custGeom>
            <a:avLst/>
            <a:gdLst>
              <a:gd name="connsiteX0" fmla="*/ 643503 w 643502"/>
              <a:gd name="connsiteY0" fmla="*/ 321751 h 643502"/>
              <a:gd name="connsiteX1" fmla="*/ 321751 w 643502"/>
              <a:gd name="connsiteY1" fmla="*/ 643503 h 643502"/>
              <a:gd name="connsiteX2" fmla="*/ 0 w 643502"/>
              <a:gd name="connsiteY2" fmla="*/ 321751 h 643502"/>
              <a:gd name="connsiteX3" fmla="*/ 321751 w 643502"/>
              <a:gd name="connsiteY3" fmla="*/ 0 h 643502"/>
              <a:gd name="connsiteX4" fmla="*/ 643503 w 643502"/>
              <a:gd name="connsiteY4" fmla="*/ 321751 h 643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502" h="643502">
                <a:moveTo>
                  <a:pt x="643503" y="321751"/>
                </a:moveTo>
                <a:cubicBezTo>
                  <a:pt x="643503" y="499450"/>
                  <a:pt x="499450" y="643503"/>
                  <a:pt x="321751" y="643503"/>
                </a:cubicBezTo>
                <a:cubicBezTo>
                  <a:pt x="144053" y="643503"/>
                  <a:pt x="0" y="499450"/>
                  <a:pt x="0" y="321751"/>
                </a:cubicBezTo>
                <a:cubicBezTo>
                  <a:pt x="0" y="144053"/>
                  <a:pt x="144053" y="0"/>
                  <a:pt x="321751" y="0"/>
                </a:cubicBezTo>
                <a:cubicBezTo>
                  <a:pt x="499450" y="0"/>
                  <a:pt x="643503" y="144053"/>
                  <a:pt x="643503" y="321751"/>
                </a:cubicBezTo>
                <a:close/>
              </a:path>
            </a:pathLst>
          </a:custGeom>
          <a:solidFill>
            <a:schemeClr val="accent5"/>
          </a:solidFill>
          <a:ln w="9525" cap="flat">
            <a:noFill/>
            <a:prstDash val="solid"/>
            <a:miter/>
          </a:ln>
        </p:spPr>
        <p:txBody>
          <a:bodyPr lIns="0" tIns="0" r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lt1"/>
                </a:solidFill>
                <a:latin typeface="思源宋体" panose="02020400000000000000" pitchFamily="18" charset="-122"/>
                <a:ea typeface="思源宋体" panose="02020400000000000000" pitchFamily="18" charset="-122"/>
                <a:sym typeface="微软雅黑"/>
              </a:rPr>
              <a:t>2026.04</a:t>
            </a:r>
          </a:p>
        </p:txBody>
      </p:sp>
      <p:sp>
        <p:nvSpPr>
          <p:cNvPr id="44" name="稻壳儿智宇https://www.docer.com/works?userid=328340712">
            <a:extLst>
              <a:ext uri="{FF2B5EF4-FFF2-40B4-BE49-F238E27FC236}">
                <a16:creationId xmlns:a16="http://schemas.microsoft.com/office/drawing/2014/main" id="{A8DD12BF-E713-A42C-D2EF-D9B5A6EC32C6}"/>
              </a:ext>
            </a:extLst>
          </p:cNvPr>
          <p:cNvSpPr/>
          <p:nvPr/>
        </p:nvSpPr>
        <p:spPr>
          <a:xfrm>
            <a:off x="8118649" y="3869271"/>
            <a:ext cx="40444" cy="456506"/>
          </a:xfrm>
          <a:custGeom>
            <a:avLst/>
            <a:gdLst>
              <a:gd name="connsiteX0" fmla="*/ 0 w 22860"/>
              <a:gd name="connsiteY0" fmla="*/ 246602 h 258032"/>
              <a:gd name="connsiteX1" fmla="*/ 11430 w 22860"/>
              <a:gd name="connsiteY1" fmla="*/ 235172 h 258032"/>
              <a:gd name="connsiteX2" fmla="*/ 11430 w 22860"/>
              <a:gd name="connsiteY2" fmla="*/ 235172 h 258032"/>
              <a:gd name="connsiteX3" fmla="*/ 22860 w 22860"/>
              <a:gd name="connsiteY3" fmla="*/ 246602 h 258032"/>
              <a:gd name="connsiteX4" fmla="*/ 22860 w 22860"/>
              <a:gd name="connsiteY4" fmla="*/ 246602 h 258032"/>
              <a:gd name="connsiteX5" fmla="*/ 11430 w 22860"/>
              <a:gd name="connsiteY5" fmla="*/ 258032 h 258032"/>
              <a:gd name="connsiteX6" fmla="*/ 11430 w 22860"/>
              <a:gd name="connsiteY6" fmla="*/ 258032 h 258032"/>
              <a:gd name="connsiteX7" fmla="*/ 0 w 22860"/>
              <a:gd name="connsiteY7" fmla="*/ 246602 h 258032"/>
              <a:gd name="connsiteX8" fmla="*/ 0 w 22860"/>
              <a:gd name="connsiteY8" fmla="*/ 199549 h 258032"/>
              <a:gd name="connsiteX9" fmla="*/ 11430 w 22860"/>
              <a:gd name="connsiteY9" fmla="*/ 188119 h 258032"/>
              <a:gd name="connsiteX10" fmla="*/ 11430 w 22860"/>
              <a:gd name="connsiteY10" fmla="*/ 188119 h 258032"/>
              <a:gd name="connsiteX11" fmla="*/ 22860 w 22860"/>
              <a:gd name="connsiteY11" fmla="*/ 199549 h 258032"/>
              <a:gd name="connsiteX12" fmla="*/ 22860 w 22860"/>
              <a:gd name="connsiteY12" fmla="*/ 199549 h 258032"/>
              <a:gd name="connsiteX13" fmla="*/ 11430 w 22860"/>
              <a:gd name="connsiteY13" fmla="*/ 210979 h 258032"/>
              <a:gd name="connsiteX14" fmla="*/ 11430 w 22860"/>
              <a:gd name="connsiteY14" fmla="*/ 210979 h 258032"/>
              <a:gd name="connsiteX15" fmla="*/ 0 w 22860"/>
              <a:gd name="connsiteY15" fmla="*/ 199549 h 258032"/>
              <a:gd name="connsiteX16" fmla="*/ 0 w 22860"/>
              <a:gd name="connsiteY16" fmla="*/ 152495 h 258032"/>
              <a:gd name="connsiteX17" fmla="*/ 11430 w 22860"/>
              <a:gd name="connsiteY17" fmla="*/ 141065 h 258032"/>
              <a:gd name="connsiteX18" fmla="*/ 11430 w 22860"/>
              <a:gd name="connsiteY18" fmla="*/ 141065 h 258032"/>
              <a:gd name="connsiteX19" fmla="*/ 22860 w 22860"/>
              <a:gd name="connsiteY19" fmla="*/ 152495 h 258032"/>
              <a:gd name="connsiteX20" fmla="*/ 22860 w 22860"/>
              <a:gd name="connsiteY20" fmla="*/ 152495 h 258032"/>
              <a:gd name="connsiteX21" fmla="*/ 11430 w 22860"/>
              <a:gd name="connsiteY21" fmla="*/ 163925 h 258032"/>
              <a:gd name="connsiteX22" fmla="*/ 11430 w 22860"/>
              <a:gd name="connsiteY22" fmla="*/ 163925 h 258032"/>
              <a:gd name="connsiteX23" fmla="*/ 0 w 22860"/>
              <a:gd name="connsiteY23" fmla="*/ 152495 h 258032"/>
              <a:gd name="connsiteX24" fmla="*/ 0 w 22860"/>
              <a:gd name="connsiteY24" fmla="*/ 105442 h 258032"/>
              <a:gd name="connsiteX25" fmla="*/ 11430 w 22860"/>
              <a:gd name="connsiteY25" fmla="*/ 94012 h 258032"/>
              <a:gd name="connsiteX26" fmla="*/ 11430 w 22860"/>
              <a:gd name="connsiteY26" fmla="*/ 94012 h 258032"/>
              <a:gd name="connsiteX27" fmla="*/ 22860 w 22860"/>
              <a:gd name="connsiteY27" fmla="*/ 105442 h 258032"/>
              <a:gd name="connsiteX28" fmla="*/ 22860 w 22860"/>
              <a:gd name="connsiteY28" fmla="*/ 105442 h 258032"/>
              <a:gd name="connsiteX29" fmla="*/ 11430 w 22860"/>
              <a:gd name="connsiteY29" fmla="*/ 116872 h 258032"/>
              <a:gd name="connsiteX30" fmla="*/ 11430 w 22860"/>
              <a:gd name="connsiteY30" fmla="*/ 116872 h 258032"/>
              <a:gd name="connsiteX31" fmla="*/ 0 w 22860"/>
              <a:gd name="connsiteY31" fmla="*/ 105442 h 258032"/>
              <a:gd name="connsiteX32" fmla="*/ 0 w 22860"/>
              <a:gd name="connsiteY32" fmla="*/ 58483 h 258032"/>
              <a:gd name="connsiteX33" fmla="*/ 11430 w 22860"/>
              <a:gd name="connsiteY33" fmla="*/ 47054 h 258032"/>
              <a:gd name="connsiteX34" fmla="*/ 11430 w 22860"/>
              <a:gd name="connsiteY34" fmla="*/ 47054 h 258032"/>
              <a:gd name="connsiteX35" fmla="*/ 22860 w 22860"/>
              <a:gd name="connsiteY35" fmla="*/ 58483 h 258032"/>
              <a:gd name="connsiteX36" fmla="*/ 22860 w 22860"/>
              <a:gd name="connsiteY36" fmla="*/ 58483 h 258032"/>
              <a:gd name="connsiteX37" fmla="*/ 11430 w 22860"/>
              <a:gd name="connsiteY37" fmla="*/ 69913 h 258032"/>
              <a:gd name="connsiteX38" fmla="*/ 11430 w 22860"/>
              <a:gd name="connsiteY38" fmla="*/ 69913 h 258032"/>
              <a:gd name="connsiteX39" fmla="*/ 0 w 22860"/>
              <a:gd name="connsiteY39" fmla="*/ 58483 h 258032"/>
              <a:gd name="connsiteX40" fmla="*/ 0 w 22860"/>
              <a:gd name="connsiteY40" fmla="*/ 11430 h 258032"/>
              <a:gd name="connsiteX41" fmla="*/ 11430 w 22860"/>
              <a:gd name="connsiteY41" fmla="*/ 0 h 258032"/>
              <a:gd name="connsiteX42" fmla="*/ 11430 w 22860"/>
              <a:gd name="connsiteY42" fmla="*/ 0 h 258032"/>
              <a:gd name="connsiteX43" fmla="*/ 22860 w 22860"/>
              <a:gd name="connsiteY43" fmla="*/ 11430 h 258032"/>
              <a:gd name="connsiteX44" fmla="*/ 22860 w 22860"/>
              <a:gd name="connsiteY44" fmla="*/ 11430 h 258032"/>
              <a:gd name="connsiteX45" fmla="*/ 11430 w 22860"/>
              <a:gd name="connsiteY45" fmla="*/ 22860 h 258032"/>
              <a:gd name="connsiteX46" fmla="*/ 11430 w 22860"/>
              <a:gd name="connsiteY46" fmla="*/ 22860 h 258032"/>
              <a:gd name="connsiteX47" fmla="*/ 0 w 22860"/>
              <a:gd name="connsiteY47" fmla="*/ 11430 h 25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860" h="258032">
                <a:moveTo>
                  <a:pt x="0" y="246602"/>
                </a:moveTo>
                <a:cubicBezTo>
                  <a:pt x="0" y="240221"/>
                  <a:pt x="5144" y="235172"/>
                  <a:pt x="11430" y="235172"/>
                </a:cubicBezTo>
                <a:lnTo>
                  <a:pt x="11430" y="235172"/>
                </a:lnTo>
                <a:cubicBezTo>
                  <a:pt x="17812" y="235172"/>
                  <a:pt x="22860" y="240316"/>
                  <a:pt x="22860" y="246602"/>
                </a:cubicBezTo>
                <a:lnTo>
                  <a:pt x="22860" y="246602"/>
                </a:lnTo>
                <a:cubicBezTo>
                  <a:pt x="22860" y="252984"/>
                  <a:pt x="17717" y="258032"/>
                  <a:pt x="11430" y="258032"/>
                </a:cubicBezTo>
                <a:lnTo>
                  <a:pt x="11430" y="258032"/>
                </a:lnTo>
                <a:cubicBezTo>
                  <a:pt x="5144" y="258032"/>
                  <a:pt x="0" y="252889"/>
                  <a:pt x="0" y="246602"/>
                </a:cubicBezTo>
                <a:close/>
                <a:moveTo>
                  <a:pt x="0" y="199549"/>
                </a:moveTo>
                <a:cubicBezTo>
                  <a:pt x="0" y="193167"/>
                  <a:pt x="5144" y="188119"/>
                  <a:pt x="11430" y="188119"/>
                </a:cubicBezTo>
                <a:lnTo>
                  <a:pt x="11430" y="188119"/>
                </a:lnTo>
                <a:cubicBezTo>
                  <a:pt x="17812" y="188119"/>
                  <a:pt x="22860" y="193262"/>
                  <a:pt x="22860" y="199549"/>
                </a:cubicBezTo>
                <a:lnTo>
                  <a:pt x="22860" y="199549"/>
                </a:lnTo>
                <a:cubicBezTo>
                  <a:pt x="22860" y="205931"/>
                  <a:pt x="17717" y="210979"/>
                  <a:pt x="11430" y="210979"/>
                </a:cubicBezTo>
                <a:lnTo>
                  <a:pt x="11430" y="210979"/>
                </a:lnTo>
                <a:cubicBezTo>
                  <a:pt x="5144" y="210979"/>
                  <a:pt x="0" y="205835"/>
                  <a:pt x="0" y="199549"/>
                </a:cubicBezTo>
                <a:close/>
                <a:moveTo>
                  <a:pt x="0" y="152495"/>
                </a:moveTo>
                <a:cubicBezTo>
                  <a:pt x="0" y="146113"/>
                  <a:pt x="5144" y="141065"/>
                  <a:pt x="11430" y="141065"/>
                </a:cubicBezTo>
                <a:lnTo>
                  <a:pt x="11430" y="141065"/>
                </a:lnTo>
                <a:cubicBezTo>
                  <a:pt x="17812" y="141065"/>
                  <a:pt x="22860" y="146209"/>
                  <a:pt x="22860" y="152495"/>
                </a:cubicBezTo>
                <a:lnTo>
                  <a:pt x="22860" y="152495"/>
                </a:lnTo>
                <a:cubicBezTo>
                  <a:pt x="22860" y="158877"/>
                  <a:pt x="17717" y="163925"/>
                  <a:pt x="11430" y="163925"/>
                </a:cubicBezTo>
                <a:lnTo>
                  <a:pt x="11430" y="163925"/>
                </a:lnTo>
                <a:cubicBezTo>
                  <a:pt x="5144" y="163925"/>
                  <a:pt x="0" y="158877"/>
                  <a:pt x="0" y="152495"/>
                </a:cubicBezTo>
                <a:close/>
                <a:moveTo>
                  <a:pt x="0" y="105442"/>
                </a:moveTo>
                <a:cubicBezTo>
                  <a:pt x="0" y="99060"/>
                  <a:pt x="5144" y="94012"/>
                  <a:pt x="11430" y="94012"/>
                </a:cubicBezTo>
                <a:lnTo>
                  <a:pt x="11430" y="94012"/>
                </a:lnTo>
                <a:cubicBezTo>
                  <a:pt x="17812" y="94012"/>
                  <a:pt x="22860" y="99155"/>
                  <a:pt x="22860" y="105442"/>
                </a:cubicBezTo>
                <a:lnTo>
                  <a:pt x="22860" y="105442"/>
                </a:lnTo>
                <a:cubicBezTo>
                  <a:pt x="22860" y="111824"/>
                  <a:pt x="17717" y="116872"/>
                  <a:pt x="11430" y="116872"/>
                </a:cubicBezTo>
                <a:lnTo>
                  <a:pt x="11430" y="116872"/>
                </a:lnTo>
                <a:cubicBezTo>
                  <a:pt x="5144" y="116967"/>
                  <a:pt x="0" y="111824"/>
                  <a:pt x="0" y="105442"/>
                </a:cubicBezTo>
                <a:close/>
                <a:moveTo>
                  <a:pt x="0" y="58483"/>
                </a:moveTo>
                <a:cubicBezTo>
                  <a:pt x="0" y="52197"/>
                  <a:pt x="5144" y="47054"/>
                  <a:pt x="11430" y="47054"/>
                </a:cubicBezTo>
                <a:lnTo>
                  <a:pt x="11430" y="47054"/>
                </a:lnTo>
                <a:cubicBezTo>
                  <a:pt x="17812" y="47054"/>
                  <a:pt x="22860" y="52197"/>
                  <a:pt x="22860" y="58483"/>
                </a:cubicBezTo>
                <a:lnTo>
                  <a:pt x="22860" y="58483"/>
                </a:lnTo>
                <a:cubicBezTo>
                  <a:pt x="22860" y="64865"/>
                  <a:pt x="17717" y="69913"/>
                  <a:pt x="11430" y="69913"/>
                </a:cubicBezTo>
                <a:lnTo>
                  <a:pt x="11430" y="69913"/>
                </a:lnTo>
                <a:cubicBezTo>
                  <a:pt x="5144" y="69913"/>
                  <a:pt x="0" y="64770"/>
                  <a:pt x="0" y="58483"/>
                </a:cubicBezTo>
                <a:close/>
                <a:moveTo>
                  <a:pt x="0" y="11430"/>
                </a:moveTo>
                <a:cubicBezTo>
                  <a:pt x="0" y="5048"/>
                  <a:pt x="5144" y="0"/>
                  <a:pt x="11430" y="0"/>
                </a:cubicBezTo>
                <a:lnTo>
                  <a:pt x="11430" y="0"/>
                </a:lnTo>
                <a:cubicBezTo>
                  <a:pt x="17812" y="0"/>
                  <a:pt x="22860" y="5144"/>
                  <a:pt x="22860" y="11430"/>
                </a:cubicBezTo>
                <a:lnTo>
                  <a:pt x="22860" y="11430"/>
                </a:lnTo>
                <a:cubicBezTo>
                  <a:pt x="22860" y="17812"/>
                  <a:pt x="17717" y="22860"/>
                  <a:pt x="11430" y="22860"/>
                </a:cubicBezTo>
                <a:lnTo>
                  <a:pt x="11430" y="22860"/>
                </a:lnTo>
                <a:cubicBezTo>
                  <a:pt x="5144" y="22860"/>
                  <a:pt x="0" y="17717"/>
                  <a:pt x="0" y="11430"/>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48" name="稻壳儿智宇https://www.docer.com/works?userid=328340712">
            <a:extLst>
              <a:ext uri="{FF2B5EF4-FFF2-40B4-BE49-F238E27FC236}">
                <a16:creationId xmlns:a16="http://schemas.microsoft.com/office/drawing/2014/main" id="{43C7C064-E117-C930-EEE2-B8FC665F02D2}"/>
              </a:ext>
            </a:extLst>
          </p:cNvPr>
          <p:cNvSpPr/>
          <p:nvPr/>
        </p:nvSpPr>
        <p:spPr>
          <a:xfrm>
            <a:off x="8118817" y="4368877"/>
            <a:ext cx="39938" cy="40148"/>
          </a:xfrm>
          <a:custGeom>
            <a:avLst/>
            <a:gdLst>
              <a:gd name="connsiteX0" fmla="*/ 11335 w 22574"/>
              <a:gd name="connsiteY0" fmla="*/ 22693 h 22693"/>
              <a:gd name="connsiteX1" fmla="*/ 6953 w 22574"/>
              <a:gd name="connsiteY1" fmla="*/ 21836 h 22693"/>
              <a:gd name="connsiteX2" fmla="*/ 3334 w 22574"/>
              <a:gd name="connsiteY2" fmla="*/ 19360 h 22693"/>
              <a:gd name="connsiteX3" fmla="*/ 0 w 22574"/>
              <a:gd name="connsiteY3" fmla="*/ 11263 h 22693"/>
              <a:gd name="connsiteX4" fmla="*/ 190 w 22574"/>
              <a:gd name="connsiteY4" fmla="*/ 9073 h 22693"/>
              <a:gd name="connsiteX5" fmla="*/ 762 w 22574"/>
              <a:gd name="connsiteY5" fmla="*/ 6977 h 22693"/>
              <a:gd name="connsiteX6" fmla="*/ 1810 w 22574"/>
              <a:gd name="connsiteY6" fmla="*/ 4977 h 22693"/>
              <a:gd name="connsiteX7" fmla="*/ 3238 w 22574"/>
              <a:gd name="connsiteY7" fmla="*/ 3262 h 22693"/>
              <a:gd name="connsiteX8" fmla="*/ 4953 w 22574"/>
              <a:gd name="connsiteY8" fmla="*/ 1929 h 22693"/>
              <a:gd name="connsiteX9" fmla="*/ 6953 w 22574"/>
              <a:gd name="connsiteY9" fmla="*/ 881 h 22693"/>
              <a:gd name="connsiteX10" fmla="*/ 9144 w 22574"/>
              <a:gd name="connsiteY10" fmla="*/ 214 h 22693"/>
              <a:gd name="connsiteX11" fmla="*/ 13526 w 22574"/>
              <a:gd name="connsiteY11" fmla="*/ 214 h 22693"/>
              <a:gd name="connsiteX12" fmla="*/ 15621 w 22574"/>
              <a:gd name="connsiteY12" fmla="*/ 881 h 22693"/>
              <a:gd name="connsiteX13" fmla="*/ 17621 w 22574"/>
              <a:gd name="connsiteY13" fmla="*/ 1929 h 22693"/>
              <a:gd name="connsiteX14" fmla="*/ 19336 w 22574"/>
              <a:gd name="connsiteY14" fmla="*/ 3262 h 22693"/>
              <a:gd name="connsiteX15" fmla="*/ 20669 w 22574"/>
              <a:gd name="connsiteY15" fmla="*/ 4977 h 22693"/>
              <a:gd name="connsiteX16" fmla="*/ 21717 w 22574"/>
              <a:gd name="connsiteY16" fmla="*/ 6977 h 22693"/>
              <a:gd name="connsiteX17" fmla="*/ 22384 w 22574"/>
              <a:gd name="connsiteY17" fmla="*/ 9073 h 22693"/>
              <a:gd name="connsiteX18" fmla="*/ 22574 w 22574"/>
              <a:gd name="connsiteY18" fmla="*/ 11263 h 22693"/>
              <a:gd name="connsiteX19" fmla="*/ 19240 w 22574"/>
              <a:gd name="connsiteY19" fmla="*/ 19360 h 22693"/>
              <a:gd name="connsiteX20" fmla="*/ 15526 w 22574"/>
              <a:gd name="connsiteY20" fmla="*/ 21836 h 22693"/>
              <a:gd name="connsiteX21" fmla="*/ 11335 w 22574"/>
              <a:gd name="connsiteY21" fmla="*/ 22693 h 2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574" h="22693">
                <a:moveTo>
                  <a:pt x="11335" y="22693"/>
                </a:moveTo>
                <a:cubicBezTo>
                  <a:pt x="9811" y="22693"/>
                  <a:pt x="8382" y="22408"/>
                  <a:pt x="6953" y="21836"/>
                </a:cubicBezTo>
                <a:cubicBezTo>
                  <a:pt x="5620" y="21265"/>
                  <a:pt x="4381" y="20407"/>
                  <a:pt x="3334" y="19360"/>
                </a:cubicBezTo>
                <a:cubicBezTo>
                  <a:pt x="1143" y="17264"/>
                  <a:pt x="0" y="14311"/>
                  <a:pt x="0" y="11263"/>
                </a:cubicBezTo>
                <a:cubicBezTo>
                  <a:pt x="0" y="10501"/>
                  <a:pt x="95" y="9835"/>
                  <a:pt x="190" y="9073"/>
                </a:cubicBezTo>
                <a:cubicBezTo>
                  <a:pt x="381" y="8311"/>
                  <a:pt x="571" y="7644"/>
                  <a:pt x="762" y="6977"/>
                </a:cubicBezTo>
                <a:cubicBezTo>
                  <a:pt x="1048" y="6310"/>
                  <a:pt x="1429" y="5644"/>
                  <a:pt x="1810" y="4977"/>
                </a:cubicBezTo>
                <a:cubicBezTo>
                  <a:pt x="2286" y="4405"/>
                  <a:pt x="2762" y="3739"/>
                  <a:pt x="3238" y="3262"/>
                </a:cubicBezTo>
                <a:cubicBezTo>
                  <a:pt x="3810" y="2691"/>
                  <a:pt x="4286" y="2310"/>
                  <a:pt x="4953" y="1929"/>
                </a:cubicBezTo>
                <a:cubicBezTo>
                  <a:pt x="5620" y="1453"/>
                  <a:pt x="6287" y="1072"/>
                  <a:pt x="6953" y="881"/>
                </a:cubicBezTo>
                <a:cubicBezTo>
                  <a:pt x="7620" y="595"/>
                  <a:pt x="8382" y="310"/>
                  <a:pt x="9144" y="214"/>
                </a:cubicBezTo>
                <a:cubicBezTo>
                  <a:pt x="10573" y="-71"/>
                  <a:pt x="12097" y="-71"/>
                  <a:pt x="13526" y="214"/>
                </a:cubicBezTo>
                <a:cubicBezTo>
                  <a:pt x="14288" y="405"/>
                  <a:pt x="14954" y="595"/>
                  <a:pt x="15621" y="881"/>
                </a:cubicBezTo>
                <a:cubicBezTo>
                  <a:pt x="16288" y="1072"/>
                  <a:pt x="16954" y="1453"/>
                  <a:pt x="17621" y="1929"/>
                </a:cubicBezTo>
                <a:cubicBezTo>
                  <a:pt x="18193" y="2310"/>
                  <a:pt x="18860" y="2786"/>
                  <a:pt x="19336" y="3262"/>
                </a:cubicBezTo>
                <a:cubicBezTo>
                  <a:pt x="19907" y="3834"/>
                  <a:pt x="20288" y="4405"/>
                  <a:pt x="20669" y="4977"/>
                </a:cubicBezTo>
                <a:cubicBezTo>
                  <a:pt x="21146" y="5548"/>
                  <a:pt x="21527" y="6310"/>
                  <a:pt x="21717" y="6977"/>
                </a:cubicBezTo>
                <a:cubicBezTo>
                  <a:pt x="22003" y="7644"/>
                  <a:pt x="22288" y="8311"/>
                  <a:pt x="22384" y="9073"/>
                </a:cubicBezTo>
                <a:cubicBezTo>
                  <a:pt x="22574" y="9835"/>
                  <a:pt x="22574" y="10501"/>
                  <a:pt x="22574" y="11263"/>
                </a:cubicBezTo>
                <a:cubicBezTo>
                  <a:pt x="22574" y="14311"/>
                  <a:pt x="21336" y="17169"/>
                  <a:pt x="19240" y="19360"/>
                </a:cubicBezTo>
                <a:cubicBezTo>
                  <a:pt x="18193" y="20407"/>
                  <a:pt x="16859" y="21265"/>
                  <a:pt x="15526" y="21836"/>
                </a:cubicBezTo>
                <a:cubicBezTo>
                  <a:pt x="14383" y="22312"/>
                  <a:pt x="12859" y="22693"/>
                  <a:pt x="11335" y="22693"/>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lt1"/>
              </a:solidFill>
              <a:latin typeface="微软雅黑"/>
              <a:ea typeface="微软雅黑"/>
              <a:sym typeface="微软雅黑"/>
            </a:endParaRPr>
          </a:p>
        </p:txBody>
      </p:sp>
      <p:sp>
        <p:nvSpPr>
          <p:cNvPr id="54" name="稻壳儿智宇https://www.docer.com/works?userid=328340712">
            <a:extLst>
              <a:ext uri="{FF2B5EF4-FFF2-40B4-BE49-F238E27FC236}">
                <a16:creationId xmlns:a16="http://schemas.microsoft.com/office/drawing/2014/main" id="{276144CA-CBDD-0919-E127-060DF175C8CE}"/>
              </a:ext>
            </a:extLst>
          </p:cNvPr>
          <p:cNvSpPr/>
          <p:nvPr/>
        </p:nvSpPr>
        <p:spPr>
          <a:xfrm>
            <a:off x="8039616" y="4432955"/>
            <a:ext cx="198510" cy="198510"/>
          </a:xfrm>
          <a:custGeom>
            <a:avLst/>
            <a:gdLst>
              <a:gd name="connsiteX0" fmla="*/ 56102 w 112204"/>
              <a:gd name="connsiteY0" fmla="*/ 112205 h 112204"/>
              <a:gd name="connsiteX1" fmla="*/ 0 w 112204"/>
              <a:gd name="connsiteY1" fmla="*/ 56102 h 112204"/>
              <a:gd name="connsiteX2" fmla="*/ 56102 w 112204"/>
              <a:gd name="connsiteY2" fmla="*/ 0 h 112204"/>
              <a:gd name="connsiteX3" fmla="*/ 112204 w 112204"/>
              <a:gd name="connsiteY3" fmla="*/ 56102 h 112204"/>
              <a:gd name="connsiteX4" fmla="*/ 56102 w 112204"/>
              <a:gd name="connsiteY4" fmla="*/ 112205 h 112204"/>
              <a:gd name="connsiteX5" fmla="*/ 56102 w 112204"/>
              <a:gd name="connsiteY5" fmla="*/ 15240 h 112204"/>
              <a:gd name="connsiteX6" fmla="*/ 15240 w 112204"/>
              <a:gd name="connsiteY6" fmla="*/ 56102 h 112204"/>
              <a:gd name="connsiteX7" fmla="*/ 56102 w 112204"/>
              <a:gd name="connsiteY7" fmla="*/ 96965 h 112204"/>
              <a:gd name="connsiteX8" fmla="*/ 96965 w 112204"/>
              <a:gd name="connsiteY8" fmla="*/ 56102 h 112204"/>
              <a:gd name="connsiteX9" fmla="*/ 56102 w 112204"/>
              <a:gd name="connsiteY9" fmla="*/ 15240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204" h="112204">
                <a:moveTo>
                  <a:pt x="56102" y="112205"/>
                </a:moveTo>
                <a:cubicBezTo>
                  <a:pt x="25146" y="112205"/>
                  <a:pt x="0" y="87058"/>
                  <a:pt x="0" y="56102"/>
                </a:cubicBezTo>
                <a:cubicBezTo>
                  <a:pt x="0" y="25146"/>
                  <a:pt x="25146" y="0"/>
                  <a:pt x="56102" y="0"/>
                </a:cubicBezTo>
                <a:cubicBezTo>
                  <a:pt x="87059" y="0"/>
                  <a:pt x="112204" y="25146"/>
                  <a:pt x="112204" y="56102"/>
                </a:cubicBezTo>
                <a:cubicBezTo>
                  <a:pt x="112300" y="87058"/>
                  <a:pt x="87059" y="112205"/>
                  <a:pt x="56102" y="112205"/>
                </a:cubicBezTo>
                <a:close/>
                <a:moveTo>
                  <a:pt x="56102" y="15240"/>
                </a:moveTo>
                <a:cubicBezTo>
                  <a:pt x="33528" y="15240"/>
                  <a:pt x="15240" y="33528"/>
                  <a:pt x="15240" y="56102"/>
                </a:cubicBezTo>
                <a:cubicBezTo>
                  <a:pt x="15240" y="78677"/>
                  <a:pt x="33528" y="96965"/>
                  <a:pt x="56102" y="96965"/>
                </a:cubicBezTo>
                <a:cubicBezTo>
                  <a:pt x="78677" y="96965"/>
                  <a:pt x="96965" y="78677"/>
                  <a:pt x="96965" y="56102"/>
                </a:cubicBezTo>
                <a:cubicBezTo>
                  <a:pt x="96965" y="33528"/>
                  <a:pt x="78677" y="15240"/>
                  <a:pt x="56102" y="15240"/>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latin typeface="微软雅黑"/>
              <a:ea typeface="微软雅黑"/>
              <a:sym typeface="微软雅黑"/>
            </a:endParaRPr>
          </a:p>
        </p:txBody>
      </p:sp>
      <p:sp>
        <p:nvSpPr>
          <p:cNvPr id="65" name="稻壳儿智宇https://www.docer.com/works?userid=328340712">
            <a:extLst>
              <a:ext uri="{FF2B5EF4-FFF2-40B4-BE49-F238E27FC236}">
                <a16:creationId xmlns:a16="http://schemas.microsoft.com/office/drawing/2014/main" id="{0AF817B0-7A17-ABA4-5FD7-7FE7AF227E42}"/>
              </a:ext>
            </a:extLst>
          </p:cNvPr>
          <p:cNvSpPr txBox="1"/>
          <p:nvPr/>
        </p:nvSpPr>
        <p:spPr>
          <a:xfrm flipH="1">
            <a:off x="4357522" y="4809413"/>
            <a:ext cx="2127248" cy="908326"/>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400" dirty="0">
                <a:latin typeface="思源宋体" panose="02020400000000000000" pitchFamily="18" charset="-122"/>
                <a:ea typeface="思源宋体" panose="02020400000000000000" pitchFamily="18" charset="-122"/>
              </a:rPr>
              <a:t>实现知识感知模块，设计并实现模态和语义经验池与检索机制，确定经验池模块的有效性。</a:t>
            </a:r>
            <a:endParaRPr lang="zh-CN" altLang="en-US" sz="1400" dirty="0">
              <a:solidFill>
                <a:schemeClr val="dk1">
                  <a:lumMod val="95000"/>
                  <a:lumOff val="5000"/>
                </a:schemeClr>
              </a:solidFill>
              <a:latin typeface="思源宋体" panose="02020400000000000000" pitchFamily="18" charset="-122"/>
              <a:ea typeface="思源宋体" panose="02020400000000000000" pitchFamily="18" charset="-122"/>
              <a:cs typeface="Calibri" panose="020F0502020204030204" pitchFamily="34" charset="0"/>
              <a:sym typeface="微软雅黑"/>
            </a:endParaRPr>
          </a:p>
        </p:txBody>
      </p:sp>
      <p:sp>
        <p:nvSpPr>
          <p:cNvPr id="67" name="稻壳儿智宇https://www.docer.com/works?userid=328340712">
            <a:extLst>
              <a:ext uri="{FF2B5EF4-FFF2-40B4-BE49-F238E27FC236}">
                <a16:creationId xmlns:a16="http://schemas.microsoft.com/office/drawing/2014/main" id="{61178B86-FEDA-BFE3-0D7D-905876DAF899}"/>
              </a:ext>
            </a:extLst>
          </p:cNvPr>
          <p:cNvSpPr txBox="1"/>
          <p:nvPr/>
        </p:nvSpPr>
        <p:spPr>
          <a:xfrm flipH="1">
            <a:off x="7095131" y="4792247"/>
            <a:ext cx="2127248" cy="911981"/>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400" dirty="0">
                <a:latin typeface="思源宋体" panose="02020400000000000000" pitchFamily="18" charset="-122"/>
                <a:ea typeface="思源宋体" panose="02020400000000000000" pitchFamily="18" charset="-122"/>
              </a:rPr>
              <a:t>完善实验，评估系统效率与鲁棒性，分析实验数据，分析框架优势和缺陷，完成论文的撰写。</a:t>
            </a:r>
            <a:endParaRPr lang="zh-CN" altLang="en-US" sz="1400" dirty="0">
              <a:solidFill>
                <a:schemeClr val="dk1">
                  <a:lumMod val="95000"/>
                  <a:lumOff val="5000"/>
                </a:schemeClr>
              </a:solidFill>
              <a:latin typeface="思源宋体" panose="02020400000000000000" pitchFamily="18" charset="-122"/>
              <a:ea typeface="思源宋体" panose="02020400000000000000" pitchFamily="18" charset="-122"/>
              <a:cs typeface="Calibri" panose="020F0502020204030204" pitchFamily="34" charset="0"/>
              <a:sym typeface="微软雅黑"/>
            </a:endParaRPr>
          </a:p>
        </p:txBody>
      </p:sp>
      <p:sp>
        <p:nvSpPr>
          <p:cNvPr id="69" name="稻壳儿智宇https://www.docer.com/works?userid=328340712">
            <a:extLst>
              <a:ext uri="{FF2B5EF4-FFF2-40B4-BE49-F238E27FC236}">
                <a16:creationId xmlns:a16="http://schemas.microsoft.com/office/drawing/2014/main" id="{B57A8A9E-5A1E-08E3-3347-ED18013E3EA7}"/>
              </a:ext>
            </a:extLst>
          </p:cNvPr>
          <p:cNvSpPr txBox="1"/>
          <p:nvPr/>
        </p:nvSpPr>
        <p:spPr>
          <a:xfrm flipH="1">
            <a:off x="2940047" y="1424974"/>
            <a:ext cx="2127248" cy="67749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400" dirty="0">
                <a:latin typeface="思源宋体" panose="02020400000000000000" pitchFamily="18" charset="-122"/>
                <a:ea typeface="思源宋体" panose="02020400000000000000" pitchFamily="18" charset="-122"/>
              </a:rPr>
              <a:t>梳理相关工作，整理与清洗数据集，复现基线，得出初步评测结果。</a:t>
            </a:r>
            <a:endParaRPr lang="zh-CN" altLang="en-US" sz="1400" dirty="0">
              <a:solidFill>
                <a:schemeClr val="dk1">
                  <a:lumMod val="95000"/>
                  <a:lumOff val="5000"/>
                </a:schemeClr>
              </a:solidFill>
              <a:latin typeface="思源宋体" panose="02020400000000000000" pitchFamily="18" charset="-122"/>
              <a:ea typeface="思源宋体" panose="02020400000000000000" pitchFamily="18" charset="-122"/>
              <a:cs typeface="Calibri" panose="020F0502020204030204" pitchFamily="34" charset="0"/>
              <a:sym typeface="微软雅黑"/>
            </a:endParaRPr>
          </a:p>
        </p:txBody>
      </p:sp>
      <p:sp>
        <p:nvSpPr>
          <p:cNvPr id="71" name="稻壳儿智宇https://www.docer.com/works?userid=328340712">
            <a:extLst>
              <a:ext uri="{FF2B5EF4-FFF2-40B4-BE49-F238E27FC236}">
                <a16:creationId xmlns:a16="http://schemas.microsoft.com/office/drawing/2014/main" id="{7060FA15-E934-D5E0-23F5-FA62ED86BFA9}"/>
              </a:ext>
            </a:extLst>
          </p:cNvPr>
          <p:cNvSpPr txBox="1"/>
          <p:nvPr/>
        </p:nvSpPr>
        <p:spPr>
          <a:xfrm flipH="1">
            <a:off x="5809683" y="1398282"/>
            <a:ext cx="2127248" cy="67749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400" dirty="0">
                <a:latin typeface="思源宋体" panose="02020400000000000000" pitchFamily="18" charset="-122"/>
                <a:ea typeface="思源宋体" panose="02020400000000000000" pitchFamily="18" charset="-122"/>
              </a:rPr>
              <a:t>实现完整的核心算法，完成双重推理链，根据评测结果不断优化框架实现。</a:t>
            </a:r>
            <a:endParaRPr lang="zh-CN" altLang="en-US" sz="1400" dirty="0">
              <a:solidFill>
                <a:schemeClr val="dk1">
                  <a:lumMod val="95000"/>
                  <a:lumOff val="5000"/>
                </a:schemeClr>
              </a:solidFill>
              <a:latin typeface="思源宋体" panose="02020400000000000000" pitchFamily="18" charset="-122"/>
              <a:ea typeface="思源宋体" panose="02020400000000000000" pitchFamily="18" charset="-122"/>
              <a:cs typeface="Calibri" panose="020F0502020204030204" pitchFamily="34" charset="0"/>
              <a:sym typeface="微软雅黑"/>
            </a:endParaRPr>
          </a:p>
        </p:txBody>
      </p:sp>
    </p:spTree>
    <p:custDataLst>
      <p:tags r:id="rId1"/>
    </p:custDataLst>
    <p:extLst>
      <p:ext uri="{BB962C8B-B14F-4D97-AF65-F5344CB8AC3E}">
        <p14:creationId xmlns:p14="http://schemas.microsoft.com/office/powerpoint/2010/main" val="26221113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9986-44A6-DCE9-A115-9830E2629E8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5DB5627-F0A1-0030-1C83-8185422CE13F}"/>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04.</a:t>
            </a:r>
            <a:r>
              <a:rPr lang="zh-CN" altLang="en-US" dirty="0">
                <a:solidFill>
                  <a:schemeClr val="accent1"/>
                </a:solidFill>
                <a:latin typeface="思源宋体" panose="02020400000000000000" pitchFamily="18" charset="-122"/>
                <a:ea typeface="思源宋体" panose="02020400000000000000" pitchFamily="18" charset="-122"/>
                <a:sym typeface="微软雅黑"/>
              </a:rPr>
              <a:t>预期困难</a:t>
            </a:r>
          </a:p>
        </p:txBody>
      </p:sp>
      <p:sp>
        <p:nvSpPr>
          <p:cNvPr id="28" name="稻壳儿智宇https://www.docer.com/works?userid=328340712">
            <a:extLst>
              <a:ext uri="{FF2B5EF4-FFF2-40B4-BE49-F238E27FC236}">
                <a16:creationId xmlns:a16="http://schemas.microsoft.com/office/drawing/2014/main" id="{17918189-7FF3-A68E-F999-11C4A4C57AE4}"/>
              </a:ext>
            </a:extLst>
          </p:cNvPr>
          <p:cNvSpPr/>
          <p:nvPr>
            <p:custDataLst>
              <p:tags r:id="rId1"/>
            </p:custDataLst>
          </p:nvPr>
        </p:nvSpPr>
        <p:spPr bwMode="auto">
          <a:xfrm>
            <a:off x="1589087" y="1514475"/>
            <a:ext cx="5402263" cy="2079625"/>
          </a:xfrm>
          <a:custGeom>
            <a:avLst/>
            <a:gdLst>
              <a:gd name="T0" fmla="*/ 1254 w 1629"/>
              <a:gd name="T1" fmla="*/ 124 h 626"/>
              <a:gd name="T2" fmla="*/ 353 w 1629"/>
              <a:gd name="T3" fmla="*/ 124 h 626"/>
              <a:gd name="T4" fmla="*/ 353 w 1629"/>
              <a:gd name="T5" fmla="*/ 0 h 626"/>
              <a:gd name="T6" fmla="*/ 0 w 1629"/>
              <a:gd name="T7" fmla="*/ 313 h 626"/>
              <a:gd name="T8" fmla="*/ 353 w 1629"/>
              <a:gd name="T9" fmla="*/ 626 h 626"/>
              <a:gd name="T10" fmla="*/ 353 w 1629"/>
              <a:gd name="T11" fmla="*/ 499 h 626"/>
              <a:gd name="T12" fmla="*/ 1254 w 1629"/>
              <a:gd name="T13" fmla="*/ 499 h 626"/>
              <a:gd name="T14" fmla="*/ 1629 w 1629"/>
              <a:gd name="T15" fmla="*/ 577 h 626"/>
              <a:gd name="T16" fmla="*/ 1254 w 1629"/>
              <a:gd name="T17" fmla="*/ 1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9" h="626">
                <a:moveTo>
                  <a:pt x="1254" y="124"/>
                </a:moveTo>
                <a:cubicBezTo>
                  <a:pt x="353" y="124"/>
                  <a:pt x="353" y="124"/>
                  <a:pt x="353" y="124"/>
                </a:cubicBezTo>
                <a:cubicBezTo>
                  <a:pt x="353" y="0"/>
                  <a:pt x="353" y="0"/>
                  <a:pt x="353" y="0"/>
                </a:cubicBezTo>
                <a:cubicBezTo>
                  <a:pt x="0" y="313"/>
                  <a:pt x="0" y="313"/>
                  <a:pt x="0" y="313"/>
                </a:cubicBezTo>
                <a:cubicBezTo>
                  <a:pt x="353" y="626"/>
                  <a:pt x="353" y="626"/>
                  <a:pt x="353" y="626"/>
                </a:cubicBezTo>
                <a:cubicBezTo>
                  <a:pt x="353" y="499"/>
                  <a:pt x="353" y="499"/>
                  <a:pt x="353" y="499"/>
                </a:cubicBezTo>
                <a:cubicBezTo>
                  <a:pt x="1254" y="499"/>
                  <a:pt x="1254" y="499"/>
                  <a:pt x="1254" y="499"/>
                </a:cubicBezTo>
                <a:cubicBezTo>
                  <a:pt x="1375" y="499"/>
                  <a:pt x="1610" y="496"/>
                  <a:pt x="1629" y="577"/>
                </a:cubicBezTo>
                <a:cubicBezTo>
                  <a:pt x="1629" y="499"/>
                  <a:pt x="1593" y="124"/>
                  <a:pt x="1254" y="124"/>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31" name="稻壳儿智宇https://www.docer.com/works?userid=328340712">
            <a:extLst>
              <a:ext uri="{FF2B5EF4-FFF2-40B4-BE49-F238E27FC236}">
                <a16:creationId xmlns:a16="http://schemas.microsoft.com/office/drawing/2014/main" id="{F898E211-5F3C-00D0-3626-EA2E11C7D813}"/>
              </a:ext>
            </a:extLst>
          </p:cNvPr>
          <p:cNvSpPr/>
          <p:nvPr>
            <p:custDataLst>
              <p:tags r:id="rId2"/>
            </p:custDataLst>
          </p:nvPr>
        </p:nvSpPr>
        <p:spPr bwMode="auto">
          <a:xfrm>
            <a:off x="5200650" y="3503613"/>
            <a:ext cx="5402263" cy="2079625"/>
          </a:xfrm>
          <a:custGeom>
            <a:avLst/>
            <a:gdLst>
              <a:gd name="T0" fmla="*/ 374 w 1629"/>
              <a:gd name="T1" fmla="*/ 502 h 626"/>
              <a:gd name="T2" fmla="*/ 1276 w 1629"/>
              <a:gd name="T3" fmla="*/ 502 h 626"/>
              <a:gd name="T4" fmla="*/ 1276 w 1629"/>
              <a:gd name="T5" fmla="*/ 626 h 626"/>
              <a:gd name="T6" fmla="*/ 1629 w 1629"/>
              <a:gd name="T7" fmla="*/ 313 h 626"/>
              <a:gd name="T8" fmla="*/ 1276 w 1629"/>
              <a:gd name="T9" fmla="*/ 0 h 626"/>
              <a:gd name="T10" fmla="*/ 1276 w 1629"/>
              <a:gd name="T11" fmla="*/ 128 h 626"/>
              <a:gd name="T12" fmla="*/ 374 w 1629"/>
              <a:gd name="T13" fmla="*/ 128 h 626"/>
              <a:gd name="T14" fmla="*/ 0 w 1629"/>
              <a:gd name="T15" fmla="*/ 49 h 626"/>
              <a:gd name="T16" fmla="*/ 374 w 1629"/>
              <a:gd name="T17" fmla="*/ 502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9" h="626">
                <a:moveTo>
                  <a:pt x="374" y="502"/>
                </a:moveTo>
                <a:cubicBezTo>
                  <a:pt x="1276" y="502"/>
                  <a:pt x="1276" y="502"/>
                  <a:pt x="1276" y="502"/>
                </a:cubicBezTo>
                <a:cubicBezTo>
                  <a:pt x="1276" y="626"/>
                  <a:pt x="1276" y="626"/>
                  <a:pt x="1276" y="626"/>
                </a:cubicBezTo>
                <a:cubicBezTo>
                  <a:pt x="1629" y="313"/>
                  <a:pt x="1629" y="313"/>
                  <a:pt x="1629" y="313"/>
                </a:cubicBezTo>
                <a:cubicBezTo>
                  <a:pt x="1276" y="0"/>
                  <a:pt x="1276" y="0"/>
                  <a:pt x="1276" y="0"/>
                </a:cubicBezTo>
                <a:cubicBezTo>
                  <a:pt x="1276" y="128"/>
                  <a:pt x="1276" y="128"/>
                  <a:pt x="1276" y="128"/>
                </a:cubicBezTo>
                <a:cubicBezTo>
                  <a:pt x="374" y="128"/>
                  <a:pt x="374" y="128"/>
                  <a:pt x="374" y="128"/>
                </a:cubicBezTo>
                <a:cubicBezTo>
                  <a:pt x="254" y="128"/>
                  <a:pt x="19" y="131"/>
                  <a:pt x="0" y="49"/>
                </a:cubicBezTo>
                <a:cubicBezTo>
                  <a:pt x="0" y="128"/>
                  <a:pt x="36" y="502"/>
                  <a:pt x="374" y="502"/>
                </a:cubicBezTo>
                <a:close/>
              </a:path>
            </a:pathLst>
          </a:custGeom>
          <a:solidFill>
            <a:schemeClr val="accent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34" name="稻壳儿智宇https://www.docer.com/works?userid=328340712">
            <a:extLst>
              <a:ext uri="{FF2B5EF4-FFF2-40B4-BE49-F238E27FC236}">
                <a16:creationId xmlns:a16="http://schemas.microsoft.com/office/drawing/2014/main" id="{B1008D87-98A8-BADC-DC95-D55AE64B7446}"/>
              </a:ext>
            </a:extLst>
          </p:cNvPr>
          <p:cNvSpPr/>
          <p:nvPr>
            <p:custDataLst>
              <p:tags r:id="rId3"/>
            </p:custDataLst>
          </p:nvPr>
        </p:nvSpPr>
        <p:spPr bwMode="auto">
          <a:xfrm>
            <a:off x="5200650" y="3162300"/>
            <a:ext cx="1787525" cy="776288"/>
          </a:xfrm>
          <a:custGeom>
            <a:avLst/>
            <a:gdLst>
              <a:gd name="T0" fmla="*/ 375 w 539"/>
              <a:gd name="T1" fmla="*/ 231 h 234"/>
              <a:gd name="T2" fmla="*/ 539 w 539"/>
              <a:gd name="T3" fmla="*/ 231 h 234"/>
              <a:gd name="T4" fmla="*/ 539 w 539"/>
              <a:gd name="T5" fmla="*/ 74 h 234"/>
              <a:gd name="T6" fmla="*/ 166 w 539"/>
              <a:gd name="T7" fmla="*/ 3 h 234"/>
              <a:gd name="T8" fmla="*/ 0 w 539"/>
              <a:gd name="T9" fmla="*/ 3 h 234"/>
              <a:gd name="T10" fmla="*/ 0 w 539"/>
              <a:gd name="T11" fmla="*/ 152 h 234"/>
              <a:gd name="T12" fmla="*/ 375 w 539"/>
              <a:gd name="T13" fmla="*/ 231 h 234"/>
            </a:gdLst>
            <a:ahLst/>
            <a:cxnLst>
              <a:cxn ang="0">
                <a:pos x="T0" y="T1"/>
              </a:cxn>
              <a:cxn ang="0">
                <a:pos x="T2" y="T3"/>
              </a:cxn>
              <a:cxn ang="0">
                <a:pos x="T4" y="T5"/>
              </a:cxn>
              <a:cxn ang="0">
                <a:pos x="T6" y="T7"/>
              </a:cxn>
              <a:cxn ang="0">
                <a:pos x="T8" y="T9"/>
              </a:cxn>
              <a:cxn ang="0">
                <a:pos x="T10" y="T11"/>
              </a:cxn>
              <a:cxn ang="0">
                <a:pos x="T12" y="T13"/>
              </a:cxn>
            </a:cxnLst>
            <a:rect l="0" t="0" r="r" b="b"/>
            <a:pathLst>
              <a:path w="539" h="234">
                <a:moveTo>
                  <a:pt x="375" y="231"/>
                </a:moveTo>
                <a:cubicBezTo>
                  <a:pt x="539" y="231"/>
                  <a:pt x="539" y="231"/>
                  <a:pt x="539" y="231"/>
                </a:cubicBezTo>
                <a:cubicBezTo>
                  <a:pt x="539" y="74"/>
                  <a:pt x="539" y="74"/>
                  <a:pt x="539" y="74"/>
                </a:cubicBezTo>
                <a:cubicBezTo>
                  <a:pt x="509" y="0"/>
                  <a:pt x="283" y="3"/>
                  <a:pt x="166" y="3"/>
                </a:cubicBezTo>
                <a:cubicBezTo>
                  <a:pt x="0" y="3"/>
                  <a:pt x="0" y="3"/>
                  <a:pt x="0" y="3"/>
                </a:cubicBezTo>
                <a:cubicBezTo>
                  <a:pt x="0" y="152"/>
                  <a:pt x="0" y="152"/>
                  <a:pt x="0" y="152"/>
                </a:cubicBezTo>
                <a:cubicBezTo>
                  <a:pt x="19" y="234"/>
                  <a:pt x="254" y="231"/>
                  <a:pt x="375" y="231"/>
                </a:cubicBezTo>
                <a:close/>
              </a:path>
            </a:pathLst>
          </a:custGeom>
          <a:solidFill>
            <a:schemeClr val="lt1">
              <a:lumMod val="9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5" name="稻壳儿智宇https://www.docer.com/works?userid=328340712">
            <a:extLst>
              <a:ext uri="{FF2B5EF4-FFF2-40B4-BE49-F238E27FC236}">
                <a16:creationId xmlns:a16="http://schemas.microsoft.com/office/drawing/2014/main" id="{19677191-F5B9-9F68-9C35-F9617CE282EC}"/>
              </a:ext>
            </a:extLst>
          </p:cNvPr>
          <p:cNvSpPr>
            <a:spLocks noEditPoints="1"/>
          </p:cNvSpPr>
          <p:nvPr>
            <p:custDataLst>
              <p:tags r:id="rId4"/>
            </p:custDataLst>
          </p:nvPr>
        </p:nvSpPr>
        <p:spPr bwMode="auto">
          <a:xfrm>
            <a:off x="5782124" y="4392524"/>
            <a:ext cx="531725" cy="305460"/>
          </a:xfrm>
          <a:custGeom>
            <a:avLst/>
            <a:gdLst>
              <a:gd name="T0" fmla="*/ 104 w 112"/>
              <a:gd name="T1" fmla="*/ 16 h 64"/>
              <a:gd name="T2" fmla="*/ 104 w 112"/>
              <a:gd name="T3" fmla="*/ 8 h 64"/>
              <a:gd name="T4" fmla="*/ 96 w 112"/>
              <a:gd name="T5" fmla="*/ 0 h 64"/>
              <a:gd name="T6" fmla="*/ 8 w 112"/>
              <a:gd name="T7" fmla="*/ 0 h 64"/>
              <a:gd name="T8" fmla="*/ 0 w 112"/>
              <a:gd name="T9" fmla="*/ 8 h 64"/>
              <a:gd name="T10" fmla="*/ 0 w 112"/>
              <a:gd name="T11" fmla="*/ 56 h 64"/>
              <a:gd name="T12" fmla="*/ 8 w 112"/>
              <a:gd name="T13" fmla="*/ 64 h 64"/>
              <a:gd name="T14" fmla="*/ 96 w 112"/>
              <a:gd name="T15" fmla="*/ 64 h 64"/>
              <a:gd name="T16" fmla="*/ 104 w 112"/>
              <a:gd name="T17" fmla="*/ 56 h 64"/>
              <a:gd name="T18" fmla="*/ 104 w 112"/>
              <a:gd name="T19" fmla="*/ 48 h 64"/>
              <a:gd name="T20" fmla="*/ 112 w 112"/>
              <a:gd name="T21" fmla="*/ 40 h 64"/>
              <a:gd name="T22" fmla="*/ 112 w 112"/>
              <a:gd name="T23" fmla="*/ 24 h 64"/>
              <a:gd name="T24" fmla="*/ 104 w 112"/>
              <a:gd name="T25" fmla="*/ 16 h 64"/>
              <a:gd name="T26" fmla="*/ 8 w 112"/>
              <a:gd name="T27" fmla="*/ 56 h 64"/>
              <a:gd name="T28" fmla="*/ 8 w 112"/>
              <a:gd name="T29" fmla="*/ 8 h 64"/>
              <a:gd name="T30" fmla="*/ 96 w 112"/>
              <a:gd name="T31" fmla="*/ 8 h 64"/>
              <a:gd name="T32" fmla="*/ 96 w 112"/>
              <a:gd name="T33" fmla="*/ 20 h 64"/>
              <a:gd name="T34" fmla="*/ 96 w 112"/>
              <a:gd name="T35" fmla="*/ 44 h 64"/>
              <a:gd name="T36" fmla="*/ 96 w 112"/>
              <a:gd name="T37" fmla="*/ 56 h 64"/>
              <a:gd name="T38" fmla="*/ 8 w 112"/>
              <a:gd name="T39"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2" h="64">
                <a:moveTo>
                  <a:pt x="104" y="16"/>
                </a:moveTo>
                <a:cubicBezTo>
                  <a:pt x="104" y="8"/>
                  <a:pt x="104" y="8"/>
                  <a:pt x="104" y="8"/>
                </a:cubicBezTo>
                <a:cubicBezTo>
                  <a:pt x="104" y="4"/>
                  <a:pt x="100" y="0"/>
                  <a:pt x="96" y="0"/>
                </a:cubicBezTo>
                <a:cubicBezTo>
                  <a:pt x="8" y="0"/>
                  <a:pt x="8" y="0"/>
                  <a:pt x="8" y="0"/>
                </a:cubicBezTo>
                <a:cubicBezTo>
                  <a:pt x="4" y="0"/>
                  <a:pt x="0" y="4"/>
                  <a:pt x="0" y="8"/>
                </a:cubicBezTo>
                <a:cubicBezTo>
                  <a:pt x="0" y="56"/>
                  <a:pt x="0" y="56"/>
                  <a:pt x="0" y="56"/>
                </a:cubicBezTo>
                <a:cubicBezTo>
                  <a:pt x="0" y="60"/>
                  <a:pt x="4" y="64"/>
                  <a:pt x="8" y="64"/>
                </a:cubicBezTo>
                <a:cubicBezTo>
                  <a:pt x="96" y="64"/>
                  <a:pt x="96" y="64"/>
                  <a:pt x="96" y="64"/>
                </a:cubicBezTo>
                <a:cubicBezTo>
                  <a:pt x="100" y="64"/>
                  <a:pt x="104" y="60"/>
                  <a:pt x="104" y="56"/>
                </a:cubicBezTo>
                <a:cubicBezTo>
                  <a:pt x="104" y="48"/>
                  <a:pt x="104" y="48"/>
                  <a:pt x="104" y="48"/>
                </a:cubicBezTo>
                <a:cubicBezTo>
                  <a:pt x="108" y="48"/>
                  <a:pt x="112" y="44"/>
                  <a:pt x="112" y="40"/>
                </a:cubicBezTo>
                <a:cubicBezTo>
                  <a:pt x="112" y="24"/>
                  <a:pt x="112" y="24"/>
                  <a:pt x="112" y="24"/>
                </a:cubicBezTo>
                <a:cubicBezTo>
                  <a:pt x="112" y="20"/>
                  <a:pt x="108" y="16"/>
                  <a:pt x="104" y="16"/>
                </a:cubicBezTo>
                <a:close/>
                <a:moveTo>
                  <a:pt x="8" y="56"/>
                </a:moveTo>
                <a:cubicBezTo>
                  <a:pt x="8" y="8"/>
                  <a:pt x="8" y="8"/>
                  <a:pt x="8" y="8"/>
                </a:cubicBezTo>
                <a:cubicBezTo>
                  <a:pt x="96" y="8"/>
                  <a:pt x="96" y="8"/>
                  <a:pt x="96" y="8"/>
                </a:cubicBezTo>
                <a:cubicBezTo>
                  <a:pt x="96" y="20"/>
                  <a:pt x="96" y="20"/>
                  <a:pt x="96" y="20"/>
                </a:cubicBezTo>
                <a:cubicBezTo>
                  <a:pt x="96" y="44"/>
                  <a:pt x="96" y="44"/>
                  <a:pt x="96" y="44"/>
                </a:cubicBezTo>
                <a:cubicBezTo>
                  <a:pt x="96" y="56"/>
                  <a:pt x="96" y="56"/>
                  <a:pt x="96" y="56"/>
                </a:cubicBezTo>
                <a:lnTo>
                  <a:pt x="8" y="56"/>
                </a:ln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6" name="稻壳儿智宇https://www.docer.com/works?userid=328340712">
            <a:extLst>
              <a:ext uri="{FF2B5EF4-FFF2-40B4-BE49-F238E27FC236}">
                <a16:creationId xmlns:a16="http://schemas.microsoft.com/office/drawing/2014/main" id="{5AE90FB6-4938-E923-63BB-839BF1968DE9}"/>
              </a:ext>
            </a:extLst>
          </p:cNvPr>
          <p:cNvSpPr>
            <a:spLocks noChangeArrowheads="1"/>
          </p:cNvSpPr>
          <p:nvPr>
            <p:custDataLst>
              <p:tags r:id="rId5"/>
            </p:custDataLst>
          </p:nvPr>
        </p:nvSpPr>
        <p:spPr bwMode="auto">
          <a:xfrm>
            <a:off x="5858488" y="4468890"/>
            <a:ext cx="339399" cy="152730"/>
          </a:xfrm>
          <a:prstGeom prst="rect">
            <a:avLst/>
          </a:prstGeom>
          <a:solidFill>
            <a:schemeClr val="l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2" name="稻壳儿智宇https://www.docer.com/works?userid=328340712">
            <a:extLst>
              <a:ext uri="{FF2B5EF4-FFF2-40B4-BE49-F238E27FC236}">
                <a16:creationId xmlns:a16="http://schemas.microsoft.com/office/drawing/2014/main" id="{2BE8EE09-61ED-F283-DA7E-5AA1F59A2D8B}"/>
              </a:ext>
            </a:extLst>
          </p:cNvPr>
          <p:cNvSpPr/>
          <p:nvPr>
            <p:custDataLst>
              <p:tags r:id="rId6"/>
            </p:custDataLst>
          </p:nvPr>
        </p:nvSpPr>
        <p:spPr bwMode="auto">
          <a:xfrm>
            <a:off x="5767827" y="2379038"/>
            <a:ext cx="219378" cy="320174"/>
          </a:xfrm>
          <a:custGeom>
            <a:avLst/>
            <a:gdLst>
              <a:gd name="T0" fmla="*/ 40 w 44"/>
              <a:gd name="T1" fmla="*/ 56 h 64"/>
              <a:gd name="T2" fmla="*/ 8 w 44"/>
              <a:gd name="T3" fmla="*/ 56 h 64"/>
              <a:gd name="T4" fmla="*/ 8 w 44"/>
              <a:gd name="T5" fmla="*/ 8 h 64"/>
              <a:gd name="T6" fmla="*/ 32 w 44"/>
              <a:gd name="T7" fmla="*/ 8 h 64"/>
              <a:gd name="T8" fmla="*/ 36 w 44"/>
              <a:gd name="T9" fmla="*/ 4 h 64"/>
              <a:gd name="T10" fmla="*/ 32 w 44"/>
              <a:gd name="T11" fmla="*/ 0 h 64"/>
              <a:gd name="T12" fmla="*/ 8 w 44"/>
              <a:gd name="T13" fmla="*/ 0 h 64"/>
              <a:gd name="T14" fmla="*/ 0 w 44"/>
              <a:gd name="T15" fmla="*/ 8 h 64"/>
              <a:gd name="T16" fmla="*/ 0 w 44"/>
              <a:gd name="T17" fmla="*/ 56 h 64"/>
              <a:gd name="T18" fmla="*/ 8 w 44"/>
              <a:gd name="T19" fmla="*/ 64 h 64"/>
              <a:gd name="T20" fmla="*/ 40 w 44"/>
              <a:gd name="T21" fmla="*/ 64 h 64"/>
              <a:gd name="T22" fmla="*/ 44 w 44"/>
              <a:gd name="T23" fmla="*/ 60 h 64"/>
              <a:gd name="T24" fmla="*/ 40 w 44"/>
              <a:gd name="T2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64">
                <a:moveTo>
                  <a:pt x="40" y="56"/>
                </a:moveTo>
                <a:cubicBezTo>
                  <a:pt x="8" y="56"/>
                  <a:pt x="8" y="56"/>
                  <a:pt x="8" y="56"/>
                </a:cubicBezTo>
                <a:cubicBezTo>
                  <a:pt x="8" y="8"/>
                  <a:pt x="8" y="8"/>
                  <a:pt x="8" y="8"/>
                </a:cubicBezTo>
                <a:cubicBezTo>
                  <a:pt x="32" y="8"/>
                  <a:pt x="32" y="8"/>
                  <a:pt x="32" y="8"/>
                </a:cubicBezTo>
                <a:cubicBezTo>
                  <a:pt x="34" y="8"/>
                  <a:pt x="36" y="6"/>
                  <a:pt x="36" y="4"/>
                </a:cubicBezTo>
                <a:cubicBezTo>
                  <a:pt x="36" y="2"/>
                  <a:pt x="34" y="0"/>
                  <a:pt x="32" y="0"/>
                </a:cubicBezTo>
                <a:cubicBezTo>
                  <a:pt x="8" y="0"/>
                  <a:pt x="8" y="0"/>
                  <a:pt x="8" y="0"/>
                </a:cubicBezTo>
                <a:cubicBezTo>
                  <a:pt x="4" y="0"/>
                  <a:pt x="0" y="4"/>
                  <a:pt x="0" y="8"/>
                </a:cubicBezTo>
                <a:cubicBezTo>
                  <a:pt x="0" y="56"/>
                  <a:pt x="0" y="56"/>
                  <a:pt x="0" y="56"/>
                </a:cubicBezTo>
                <a:cubicBezTo>
                  <a:pt x="0" y="60"/>
                  <a:pt x="4" y="64"/>
                  <a:pt x="8" y="64"/>
                </a:cubicBezTo>
                <a:cubicBezTo>
                  <a:pt x="40" y="64"/>
                  <a:pt x="40" y="64"/>
                  <a:pt x="40" y="64"/>
                </a:cubicBezTo>
                <a:cubicBezTo>
                  <a:pt x="42" y="64"/>
                  <a:pt x="44" y="62"/>
                  <a:pt x="44" y="60"/>
                </a:cubicBezTo>
                <a:cubicBezTo>
                  <a:pt x="44" y="58"/>
                  <a:pt x="42" y="56"/>
                  <a:pt x="40" y="5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3" name="稻壳儿智宇https://www.docer.com/works?userid=328340712">
            <a:extLst>
              <a:ext uri="{FF2B5EF4-FFF2-40B4-BE49-F238E27FC236}">
                <a16:creationId xmlns:a16="http://schemas.microsoft.com/office/drawing/2014/main" id="{B41A2E19-B8F1-07F8-60F1-18D6A7597A53}"/>
              </a:ext>
            </a:extLst>
          </p:cNvPr>
          <p:cNvSpPr/>
          <p:nvPr>
            <p:custDataLst>
              <p:tags r:id="rId7"/>
            </p:custDataLst>
          </p:nvPr>
        </p:nvSpPr>
        <p:spPr bwMode="auto">
          <a:xfrm>
            <a:off x="6067249" y="2379038"/>
            <a:ext cx="260882" cy="320174"/>
          </a:xfrm>
          <a:custGeom>
            <a:avLst/>
            <a:gdLst>
              <a:gd name="T0" fmla="*/ 44 w 52"/>
              <a:gd name="T1" fmla="*/ 16 h 64"/>
              <a:gd name="T2" fmla="*/ 44 w 52"/>
              <a:gd name="T3" fmla="*/ 8 h 64"/>
              <a:gd name="T4" fmla="*/ 36 w 52"/>
              <a:gd name="T5" fmla="*/ 0 h 64"/>
              <a:gd name="T6" fmla="*/ 12 w 52"/>
              <a:gd name="T7" fmla="*/ 0 h 64"/>
              <a:gd name="T8" fmla="*/ 8 w 52"/>
              <a:gd name="T9" fmla="*/ 4 h 64"/>
              <a:gd name="T10" fmla="*/ 12 w 52"/>
              <a:gd name="T11" fmla="*/ 8 h 64"/>
              <a:gd name="T12" fmla="*/ 36 w 52"/>
              <a:gd name="T13" fmla="*/ 8 h 64"/>
              <a:gd name="T14" fmla="*/ 36 w 52"/>
              <a:gd name="T15" fmla="*/ 20 h 64"/>
              <a:gd name="T16" fmla="*/ 36 w 52"/>
              <a:gd name="T17" fmla="*/ 44 h 64"/>
              <a:gd name="T18" fmla="*/ 36 w 52"/>
              <a:gd name="T19" fmla="*/ 56 h 64"/>
              <a:gd name="T20" fmla="*/ 4 w 52"/>
              <a:gd name="T21" fmla="*/ 56 h 64"/>
              <a:gd name="T22" fmla="*/ 0 w 52"/>
              <a:gd name="T23" fmla="*/ 60 h 64"/>
              <a:gd name="T24" fmla="*/ 4 w 52"/>
              <a:gd name="T25" fmla="*/ 64 h 64"/>
              <a:gd name="T26" fmla="*/ 36 w 52"/>
              <a:gd name="T27" fmla="*/ 64 h 64"/>
              <a:gd name="T28" fmla="*/ 44 w 52"/>
              <a:gd name="T29" fmla="*/ 56 h 64"/>
              <a:gd name="T30" fmla="*/ 44 w 52"/>
              <a:gd name="T31" fmla="*/ 48 h 64"/>
              <a:gd name="T32" fmla="*/ 52 w 52"/>
              <a:gd name="T33" fmla="*/ 40 h 64"/>
              <a:gd name="T34" fmla="*/ 52 w 52"/>
              <a:gd name="T35" fmla="*/ 24 h 64"/>
              <a:gd name="T36" fmla="*/ 44 w 52"/>
              <a:gd name="T37" fmla="*/ 1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64">
                <a:moveTo>
                  <a:pt x="44" y="16"/>
                </a:moveTo>
                <a:cubicBezTo>
                  <a:pt x="44" y="8"/>
                  <a:pt x="44" y="8"/>
                  <a:pt x="44" y="8"/>
                </a:cubicBezTo>
                <a:cubicBezTo>
                  <a:pt x="44" y="4"/>
                  <a:pt x="40" y="0"/>
                  <a:pt x="36" y="0"/>
                </a:cubicBezTo>
                <a:cubicBezTo>
                  <a:pt x="12" y="0"/>
                  <a:pt x="12" y="0"/>
                  <a:pt x="12" y="0"/>
                </a:cubicBezTo>
                <a:cubicBezTo>
                  <a:pt x="10" y="0"/>
                  <a:pt x="8" y="2"/>
                  <a:pt x="8" y="4"/>
                </a:cubicBezTo>
                <a:cubicBezTo>
                  <a:pt x="8" y="6"/>
                  <a:pt x="10" y="8"/>
                  <a:pt x="12" y="8"/>
                </a:cubicBezTo>
                <a:cubicBezTo>
                  <a:pt x="36" y="8"/>
                  <a:pt x="36" y="8"/>
                  <a:pt x="36" y="8"/>
                </a:cubicBezTo>
                <a:cubicBezTo>
                  <a:pt x="36" y="20"/>
                  <a:pt x="36" y="20"/>
                  <a:pt x="36" y="20"/>
                </a:cubicBezTo>
                <a:cubicBezTo>
                  <a:pt x="36" y="44"/>
                  <a:pt x="36" y="44"/>
                  <a:pt x="36" y="44"/>
                </a:cubicBezTo>
                <a:cubicBezTo>
                  <a:pt x="36" y="56"/>
                  <a:pt x="36" y="56"/>
                  <a:pt x="36" y="56"/>
                </a:cubicBezTo>
                <a:cubicBezTo>
                  <a:pt x="4" y="56"/>
                  <a:pt x="4" y="56"/>
                  <a:pt x="4" y="56"/>
                </a:cubicBezTo>
                <a:cubicBezTo>
                  <a:pt x="2" y="56"/>
                  <a:pt x="0" y="58"/>
                  <a:pt x="0" y="60"/>
                </a:cubicBezTo>
                <a:cubicBezTo>
                  <a:pt x="0" y="62"/>
                  <a:pt x="2" y="64"/>
                  <a:pt x="4" y="64"/>
                </a:cubicBezTo>
                <a:cubicBezTo>
                  <a:pt x="36" y="64"/>
                  <a:pt x="36" y="64"/>
                  <a:pt x="36" y="64"/>
                </a:cubicBezTo>
                <a:cubicBezTo>
                  <a:pt x="40" y="64"/>
                  <a:pt x="44" y="60"/>
                  <a:pt x="44" y="56"/>
                </a:cubicBezTo>
                <a:cubicBezTo>
                  <a:pt x="44" y="48"/>
                  <a:pt x="44" y="48"/>
                  <a:pt x="44" y="48"/>
                </a:cubicBezTo>
                <a:cubicBezTo>
                  <a:pt x="48" y="48"/>
                  <a:pt x="52" y="44"/>
                  <a:pt x="52" y="40"/>
                </a:cubicBezTo>
                <a:cubicBezTo>
                  <a:pt x="52" y="24"/>
                  <a:pt x="52" y="24"/>
                  <a:pt x="52" y="24"/>
                </a:cubicBezTo>
                <a:cubicBezTo>
                  <a:pt x="52" y="20"/>
                  <a:pt x="48" y="16"/>
                  <a:pt x="44" y="1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4" name="稻壳儿智宇https://www.docer.com/works?userid=328340712">
            <a:extLst>
              <a:ext uri="{FF2B5EF4-FFF2-40B4-BE49-F238E27FC236}">
                <a16:creationId xmlns:a16="http://schemas.microsoft.com/office/drawing/2014/main" id="{4E88363D-1165-7656-6B19-7247EE30C120}"/>
              </a:ext>
            </a:extLst>
          </p:cNvPr>
          <p:cNvSpPr/>
          <p:nvPr>
            <p:custDataLst>
              <p:tags r:id="rId8"/>
            </p:custDataLst>
          </p:nvPr>
        </p:nvSpPr>
        <p:spPr bwMode="auto">
          <a:xfrm>
            <a:off x="5910126" y="2340499"/>
            <a:ext cx="237165" cy="397253"/>
          </a:xfrm>
          <a:custGeom>
            <a:avLst/>
            <a:gdLst>
              <a:gd name="T0" fmla="*/ 48 w 48"/>
              <a:gd name="T1" fmla="*/ 32 h 80"/>
              <a:gd name="T2" fmla="*/ 48 w 48"/>
              <a:gd name="T3" fmla="*/ 24 h 80"/>
              <a:gd name="T4" fmla="*/ 36 w 48"/>
              <a:gd name="T5" fmla="*/ 24 h 80"/>
              <a:gd name="T6" fmla="*/ 36 w 48"/>
              <a:gd name="T7" fmla="*/ 4 h 80"/>
              <a:gd name="T8" fmla="*/ 32 w 48"/>
              <a:gd name="T9" fmla="*/ 0 h 80"/>
              <a:gd name="T10" fmla="*/ 28 w 48"/>
              <a:gd name="T11" fmla="*/ 4 h 80"/>
              <a:gd name="T12" fmla="*/ 28 w 48"/>
              <a:gd name="T13" fmla="*/ 24 h 80"/>
              <a:gd name="T14" fmla="*/ 20 w 48"/>
              <a:gd name="T15" fmla="*/ 24 h 80"/>
              <a:gd name="T16" fmla="*/ 20 w 48"/>
              <a:gd name="T17" fmla="*/ 4 h 80"/>
              <a:gd name="T18" fmla="*/ 16 w 48"/>
              <a:gd name="T19" fmla="*/ 0 h 80"/>
              <a:gd name="T20" fmla="*/ 12 w 48"/>
              <a:gd name="T21" fmla="*/ 4 h 80"/>
              <a:gd name="T22" fmla="*/ 12 w 48"/>
              <a:gd name="T23" fmla="*/ 24 h 80"/>
              <a:gd name="T24" fmla="*/ 0 w 48"/>
              <a:gd name="T25" fmla="*/ 24 h 80"/>
              <a:gd name="T26" fmla="*/ 0 w 48"/>
              <a:gd name="T27" fmla="*/ 32 h 80"/>
              <a:gd name="T28" fmla="*/ 20 w 48"/>
              <a:gd name="T29" fmla="*/ 52 h 80"/>
              <a:gd name="T30" fmla="*/ 20 w 48"/>
              <a:gd name="T31" fmla="*/ 76 h 80"/>
              <a:gd name="T32" fmla="*/ 24 w 48"/>
              <a:gd name="T33" fmla="*/ 80 h 80"/>
              <a:gd name="T34" fmla="*/ 28 w 48"/>
              <a:gd name="T35" fmla="*/ 76 h 80"/>
              <a:gd name="T36" fmla="*/ 28 w 48"/>
              <a:gd name="T37" fmla="*/ 52 h 80"/>
              <a:gd name="T38" fmla="*/ 48 w 48"/>
              <a:gd name="T39" fmla="*/ 3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80">
                <a:moveTo>
                  <a:pt x="48" y="32"/>
                </a:moveTo>
                <a:cubicBezTo>
                  <a:pt x="48" y="28"/>
                  <a:pt x="48" y="25"/>
                  <a:pt x="48" y="24"/>
                </a:cubicBezTo>
                <a:cubicBezTo>
                  <a:pt x="36" y="24"/>
                  <a:pt x="36" y="24"/>
                  <a:pt x="36" y="24"/>
                </a:cubicBezTo>
                <a:cubicBezTo>
                  <a:pt x="36" y="4"/>
                  <a:pt x="36" y="4"/>
                  <a:pt x="36" y="4"/>
                </a:cubicBezTo>
                <a:cubicBezTo>
                  <a:pt x="36" y="2"/>
                  <a:pt x="34" y="0"/>
                  <a:pt x="32" y="0"/>
                </a:cubicBezTo>
                <a:cubicBezTo>
                  <a:pt x="30" y="0"/>
                  <a:pt x="28" y="2"/>
                  <a:pt x="28" y="4"/>
                </a:cubicBezTo>
                <a:cubicBezTo>
                  <a:pt x="28" y="24"/>
                  <a:pt x="28" y="24"/>
                  <a:pt x="28" y="24"/>
                </a:cubicBezTo>
                <a:cubicBezTo>
                  <a:pt x="20" y="24"/>
                  <a:pt x="20" y="24"/>
                  <a:pt x="20" y="24"/>
                </a:cubicBezTo>
                <a:cubicBezTo>
                  <a:pt x="20" y="4"/>
                  <a:pt x="20" y="4"/>
                  <a:pt x="20" y="4"/>
                </a:cubicBezTo>
                <a:cubicBezTo>
                  <a:pt x="20" y="2"/>
                  <a:pt x="18" y="0"/>
                  <a:pt x="16" y="0"/>
                </a:cubicBezTo>
                <a:cubicBezTo>
                  <a:pt x="14" y="0"/>
                  <a:pt x="12" y="2"/>
                  <a:pt x="12" y="4"/>
                </a:cubicBezTo>
                <a:cubicBezTo>
                  <a:pt x="12" y="24"/>
                  <a:pt x="12" y="24"/>
                  <a:pt x="12" y="24"/>
                </a:cubicBezTo>
                <a:cubicBezTo>
                  <a:pt x="0" y="24"/>
                  <a:pt x="0" y="24"/>
                  <a:pt x="0" y="24"/>
                </a:cubicBezTo>
                <a:cubicBezTo>
                  <a:pt x="0" y="32"/>
                  <a:pt x="0" y="32"/>
                  <a:pt x="0" y="32"/>
                </a:cubicBezTo>
                <a:cubicBezTo>
                  <a:pt x="0" y="44"/>
                  <a:pt x="9" y="50"/>
                  <a:pt x="20" y="52"/>
                </a:cubicBezTo>
                <a:cubicBezTo>
                  <a:pt x="20" y="76"/>
                  <a:pt x="20" y="76"/>
                  <a:pt x="20" y="76"/>
                </a:cubicBezTo>
                <a:cubicBezTo>
                  <a:pt x="20" y="78"/>
                  <a:pt x="22" y="80"/>
                  <a:pt x="24" y="80"/>
                </a:cubicBezTo>
                <a:cubicBezTo>
                  <a:pt x="26" y="80"/>
                  <a:pt x="28" y="78"/>
                  <a:pt x="28" y="76"/>
                </a:cubicBezTo>
                <a:cubicBezTo>
                  <a:pt x="28" y="52"/>
                  <a:pt x="28" y="52"/>
                  <a:pt x="28" y="52"/>
                </a:cubicBezTo>
                <a:cubicBezTo>
                  <a:pt x="39" y="50"/>
                  <a:pt x="48" y="44"/>
                  <a:pt x="48" y="3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solidFill>
                <a:schemeClr val="dk1"/>
              </a:solidFill>
              <a:latin typeface="微软雅黑"/>
              <a:ea typeface="微软雅黑"/>
              <a:sym typeface="微软雅黑"/>
            </a:endParaRPr>
          </a:p>
        </p:txBody>
      </p:sp>
      <p:sp>
        <p:nvSpPr>
          <p:cNvPr id="50" name="稻壳儿智宇https://www.docer.com/works?userid=328340712">
            <a:extLst>
              <a:ext uri="{FF2B5EF4-FFF2-40B4-BE49-F238E27FC236}">
                <a16:creationId xmlns:a16="http://schemas.microsoft.com/office/drawing/2014/main" id="{3510E382-541B-8112-92F9-A682BA3C884B}"/>
              </a:ext>
            </a:extLst>
          </p:cNvPr>
          <p:cNvSpPr txBox="1"/>
          <p:nvPr>
            <p:custDataLst>
              <p:tags r:id="rId9"/>
            </p:custDataLst>
          </p:nvPr>
        </p:nvSpPr>
        <p:spPr>
          <a:xfrm>
            <a:off x="3484882" y="2329880"/>
            <a:ext cx="1231106"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chemeClr val="lt1"/>
                </a:solidFill>
                <a:latin typeface="思源宋体" panose="02020400000000000000" pitchFamily="18" charset="-122"/>
                <a:ea typeface="思源宋体" panose="02020400000000000000" pitchFamily="18" charset="-122"/>
                <a:sym typeface="微软雅黑"/>
              </a:rPr>
              <a:t>预期困难</a:t>
            </a:r>
          </a:p>
        </p:txBody>
      </p:sp>
      <p:sp>
        <p:nvSpPr>
          <p:cNvPr id="51" name="稻壳儿智宇https://www.docer.com/works?userid=328340712">
            <a:extLst>
              <a:ext uri="{FF2B5EF4-FFF2-40B4-BE49-F238E27FC236}">
                <a16:creationId xmlns:a16="http://schemas.microsoft.com/office/drawing/2014/main" id="{7B9AEC22-4830-241A-1017-00BABF72F2C5}"/>
              </a:ext>
            </a:extLst>
          </p:cNvPr>
          <p:cNvSpPr txBox="1"/>
          <p:nvPr>
            <p:custDataLst>
              <p:tags r:id="rId10"/>
            </p:custDataLst>
          </p:nvPr>
        </p:nvSpPr>
        <p:spPr>
          <a:xfrm>
            <a:off x="859254" y="3597507"/>
            <a:ext cx="3914386"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研究过程面临理论与工程并重的挑战，既需要深入理解双系统认知理论、模态贡献建模等概念性问题，又需掌握大模型调优、分布式计算与数据预处理等复杂的工程实践。</a:t>
            </a:r>
          </a:p>
        </p:txBody>
      </p:sp>
      <p:sp>
        <p:nvSpPr>
          <p:cNvPr id="48" name="稻壳儿智宇https://www.docer.com/works?userid=328340712">
            <a:extLst>
              <a:ext uri="{FF2B5EF4-FFF2-40B4-BE49-F238E27FC236}">
                <a16:creationId xmlns:a16="http://schemas.microsoft.com/office/drawing/2014/main" id="{74B92E3B-86BF-4C0E-5606-E2AEDAAF2F75}"/>
              </a:ext>
            </a:extLst>
          </p:cNvPr>
          <p:cNvSpPr txBox="1"/>
          <p:nvPr>
            <p:custDataLst>
              <p:tags r:id="rId11"/>
            </p:custDataLst>
          </p:nvPr>
        </p:nvSpPr>
        <p:spPr>
          <a:xfrm flipH="1">
            <a:off x="7322333" y="4389750"/>
            <a:ext cx="1231106"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lt1"/>
                </a:solidFill>
                <a:latin typeface="思源宋体" panose="02020400000000000000" pitchFamily="18" charset="-122"/>
                <a:ea typeface="思源宋体" panose="02020400000000000000" pitchFamily="18" charset="-122"/>
                <a:sym typeface="微软雅黑"/>
              </a:rPr>
              <a:t>解决方案</a:t>
            </a:r>
          </a:p>
        </p:txBody>
      </p:sp>
      <p:sp>
        <p:nvSpPr>
          <p:cNvPr id="49" name="稻壳儿智宇https://www.docer.com/works?userid=328340712">
            <a:extLst>
              <a:ext uri="{FF2B5EF4-FFF2-40B4-BE49-F238E27FC236}">
                <a16:creationId xmlns:a16="http://schemas.microsoft.com/office/drawing/2014/main" id="{3D5F7554-4D3C-21C1-748D-DB4AD2FBA556}"/>
              </a:ext>
            </a:extLst>
          </p:cNvPr>
          <p:cNvSpPr txBox="1"/>
          <p:nvPr>
            <p:custDataLst>
              <p:tags r:id="rId12"/>
            </p:custDataLst>
          </p:nvPr>
        </p:nvSpPr>
        <p:spPr>
          <a:xfrm flipH="1">
            <a:off x="7322333" y="1898975"/>
            <a:ext cx="4260067"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采取分阶段学习与迭代优化的策略推进整体工作，采用“边开发、边验证”的方法，将复杂系统分解为可独立测试的功能模块，在每个阶段完成基础功能验证后再进行集成。</a:t>
            </a:r>
            <a:endParaRPr lang="en-US" altLang="zh-CN" sz="1600" dirty="0" err="1">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2571615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74A-C0E6-F49E-A5B7-F040F95B5245}"/>
            </a:ext>
          </a:extLst>
        </p:cNvPr>
        <p:cNvGrpSpPr/>
        <p:nvPr/>
      </p:nvGrpSpPr>
      <p:grpSpPr>
        <a:xfrm>
          <a:off x="0" y="0"/>
          <a:ext cx="0" cy="0"/>
          <a:chOff x="0" y="0"/>
          <a:chExt cx="0" cy="0"/>
        </a:xfrm>
      </p:grpSpPr>
      <p:pic>
        <p:nvPicPr>
          <p:cNvPr id="23" name="稻壳儿智宇https://www.docer.com/works?userid=328340712" descr="背景图案&#10;&#10;描述已自动生成">
            <a:extLst>
              <a:ext uri="{FF2B5EF4-FFF2-40B4-BE49-F238E27FC236}">
                <a16:creationId xmlns:a16="http://schemas.microsoft.com/office/drawing/2014/main" id="{8ECCB966-EE48-B1AB-A6E1-420C917D93C4}"/>
              </a:ext>
            </a:extLst>
          </p:cNvPr>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a:extLst>
              <a:ext uri="{FF2B5EF4-FFF2-40B4-BE49-F238E27FC236}">
                <a16:creationId xmlns:a16="http://schemas.microsoft.com/office/drawing/2014/main" id="{1F3196E0-1854-C817-A743-EA13E71C7E9F}"/>
              </a:ext>
            </a:extLst>
          </p:cNvPr>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a:extLst>
              <a:ext uri="{FF2B5EF4-FFF2-40B4-BE49-F238E27FC236}">
                <a16:creationId xmlns:a16="http://schemas.microsoft.com/office/drawing/2014/main" id="{2A132B57-FE7A-350A-3D97-5868B982EA5E}"/>
              </a:ext>
            </a:extLst>
          </p:cNvPr>
          <p:cNvSpPr/>
          <p:nvPr/>
        </p:nvSpPr>
        <p:spPr>
          <a:xfrm>
            <a:off x="1791381" y="2921168"/>
            <a:ext cx="8609237" cy="1015663"/>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感谢各位老师的观看</a:t>
            </a:r>
          </a:p>
        </p:txBody>
      </p:sp>
      <p:sp>
        <p:nvSpPr>
          <p:cNvPr id="4" name="稻壳儿智宇https://www.docer.com/works?userid=328340712">
            <a:extLst>
              <a:ext uri="{FF2B5EF4-FFF2-40B4-BE49-F238E27FC236}">
                <a16:creationId xmlns:a16="http://schemas.microsoft.com/office/drawing/2014/main" id="{88C57FC9-75B9-E9F4-DD6E-3EE6202DD5CB}"/>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答辩人：金正达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815AD683-6F05-03A4-9814-078F1857C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extLst>
      <p:ext uri="{BB962C8B-B14F-4D97-AF65-F5344CB8AC3E}">
        <p14:creationId xmlns:p14="http://schemas.microsoft.com/office/powerpoint/2010/main" val="2920582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fa47d307-c4b8-4d6e-85db-a4194826635c"/>
  <p:tag name="COMMONDATA" val="eyJjb3VudCI6MiwiaGRpZCI6IjgwMTEzOTMxYTllMDgyYmY3MGViZDIyZjNkZWMzYTdk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ISLIDE.DIAGRAM" val="#461593;"/>
</p:tagLst>
</file>

<file path=ppt/tags/tag48.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ISLIDE.DIAGRAM" val="#461593;"/>
</p:tagLst>
</file>

<file path=ppt/tags/tag53.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ISLIDE.DIAGRAM" val="#461593;"/>
</p:tagLst>
</file>

<file path=ppt/tags/tag58.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5"/>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00.xml><?xml version="1.0" encoding="utf-8"?>
<p:tagLst xmlns:a="http://schemas.openxmlformats.org/drawingml/2006/main" xmlns:r="http://schemas.openxmlformats.org/officeDocument/2006/relationships" xmlns:p="http://schemas.openxmlformats.org/presentationml/2006/main">
  <p:tag name="ISLIDE.DIAGRAM" val="#467493;"/>
  <p:tag name="ISLIDE.ICON" val="#398555;#402765;#394246;"/>
</p:tagLst>
</file>

<file path=ppt/tags/tag10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第一PPT，www.1ppt.com">
  <a:themeElements>
    <a:clrScheme name="文案邦设计主题色-20190404-171738">
      <a:dk1>
        <a:srgbClr val="000000"/>
      </a:dk1>
      <a:lt1>
        <a:srgbClr val="FFFFFF"/>
      </a:lt1>
      <a:dk2>
        <a:srgbClr val="0F2344"/>
      </a:dk2>
      <a:lt2>
        <a:srgbClr val="C7D7F3"/>
      </a:lt2>
      <a:accent1>
        <a:srgbClr val="1E4588"/>
      </a:accent1>
      <a:accent2>
        <a:srgbClr val="D7C39F"/>
      </a:accent2>
      <a:accent3>
        <a:srgbClr val="1E4588"/>
      </a:accent3>
      <a:accent4>
        <a:srgbClr val="D7C39F"/>
      </a:accent4>
      <a:accent5>
        <a:srgbClr val="1E4588"/>
      </a:accent5>
      <a:accent6>
        <a:srgbClr val="D7C39F"/>
      </a:accent6>
      <a:hlink>
        <a:srgbClr val="0563C1"/>
      </a:hlink>
      <a:folHlink>
        <a:srgbClr val="954F72"/>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1906</Words>
  <Application>Microsoft Office PowerPoint</Application>
  <PresentationFormat>宽屏</PresentationFormat>
  <Paragraphs>129</Paragraphs>
  <Slides>19</Slides>
  <Notes>7</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19</vt:i4>
      </vt:variant>
    </vt:vector>
  </HeadingPairs>
  <TitlesOfParts>
    <vt:vector size="28" baseType="lpstr">
      <vt:lpstr>汉仪旗黑-45S</vt:lpstr>
      <vt:lpstr>思源宋体</vt:lpstr>
      <vt:lpstr>微软雅黑</vt:lpstr>
      <vt:lpstr>Arial</vt:lpstr>
      <vt:lpstr>Calibri</vt:lpstr>
      <vt:lpstr>Wingdings</vt:lpstr>
      <vt:lpstr>第一PPT，www.1ppt.com</vt:lpstr>
      <vt:lpstr>第一PPT，www.1ppt.com </vt:lpstr>
      <vt:lpstr>自定义设计方案</vt:lpstr>
      <vt:lpstr>PowerPoint 演示文稿</vt:lpstr>
      <vt:lpstr>PowerPoint 演示文稿</vt:lpstr>
      <vt:lpstr>PowerPoint 演示文稿</vt:lpstr>
      <vt:lpstr>01.研究背景</vt:lpstr>
      <vt:lpstr>01.研究背景</vt:lpstr>
      <vt:lpstr>01.研究意义</vt:lpstr>
      <vt:lpstr>PowerPoint 演示文稿</vt:lpstr>
      <vt:lpstr>02.基于大型语言模型的立场检测研究现状</vt:lpstr>
      <vt:lpstr>02.多模态立场检测研究现状</vt:lpstr>
      <vt:lpstr>02.快慢思考机制研究现状</vt:lpstr>
      <vt:lpstr>PowerPoint 演示文稿</vt:lpstr>
      <vt:lpstr>03.研究内容</vt:lpstr>
      <vt:lpstr>03.研究内容</vt:lpstr>
      <vt:lpstr>03.研究方案</vt:lpstr>
      <vt:lpstr>03.研究方案</vt:lpstr>
      <vt:lpstr>PowerPoint 演示文稿</vt:lpstr>
      <vt:lpstr>04.预期安排</vt:lpstr>
      <vt:lpstr>04.预期困难</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description>www.1ppt.com</dc:description>
  <cp:lastModifiedBy>正达 金</cp:lastModifiedBy>
  <cp:revision>26</cp:revision>
  <dcterms:created xsi:type="dcterms:W3CDTF">2022-03-22T04:00:00Z</dcterms:created>
  <dcterms:modified xsi:type="dcterms:W3CDTF">2025-10-21T08:49:23Z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B2CFBE5D82A249AF984D70F277C2B786_12</vt:lpwstr>
  </property>
  <property fmtid="{D5CDD505-2E9C-101B-9397-08002B2CF9AE}" pid="3" name="KSOProductBuildVer">
    <vt:lpwstr>2052-12.1.0.15374</vt:lpwstr>
  </property>
</Properties>
</file>