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3.xml" ContentType="application/vnd.openxmlformats-officedocument.presentationml.notesSlide+xml"/>
  <Override PartName="/ppt/tags/tag41.xml" ContentType="application/vnd.openxmlformats-officedocument.presentationml.tags+xml"/>
  <Override PartName="/ppt/notesSlides/notesSlide4.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5.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6.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7.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8.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9.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10.xml" ContentType="application/vnd.openxmlformats-officedocument.presentationml.notesSlide+xml"/>
  <Override PartName="/ppt/tags/tag75.xml" ContentType="application/vnd.openxmlformats-officedocument.presentationml.tags+xml"/>
  <Override PartName="/ppt/notesSlides/notesSlide11.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737" r:id="rId3"/>
  </p:sldMasterIdLst>
  <p:notesMasterIdLst>
    <p:notesMasterId r:id="rId24"/>
  </p:notesMasterIdLst>
  <p:handoutMasterIdLst>
    <p:handoutMasterId r:id="rId25"/>
  </p:handoutMasterIdLst>
  <p:sldIdLst>
    <p:sldId id="691" r:id="rId4"/>
    <p:sldId id="714" r:id="rId5"/>
    <p:sldId id="693" r:id="rId6"/>
    <p:sldId id="715" r:id="rId7"/>
    <p:sldId id="731" r:id="rId8"/>
    <p:sldId id="740" r:id="rId9"/>
    <p:sldId id="696" r:id="rId10"/>
    <p:sldId id="732" r:id="rId11"/>
    <p:sldId id="721" r:id="rId12"/>
    <p:sldId id="733" r:id="rId13"/>
    <p:sldId id="734" r:id="rId14"/>
    <p:sldId id="738" r:id="rId15"/>
    <p:sldId id="728" r:id="rId16"/>
    <p:sldId id="735" r:id="rId17"/>
    <p:sldId id="729" r:id="rId18"/>
    <p:sldId id="736" r:id="rId19"/>
    <p:sldId id="739" r:id="rId20"/>
    <p:sldId id="727" r:id="rId21"/>
    <p:sldId id="737" r:id="rId22"/>
    <p:sldId id="730" r:id="rId23"/>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3F1"/>
    <a:srgbClr val="022539"/>
    <a:srgbClr val="FB991C"/>
    <a:srgbClr val="1E7590"/>
    <a:srgbClr val="666666"/>
    <a:srgbClr val="DEDAD7"/>
    <a:srgbClr val="72929D"/>
    <a:srgbClr val="8A8A8A"/>
    <a:srgbClr val="535D5F"/>
    <a:srgbClr val="7293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92" autoAdjust="0"/>
    <p:restoredTop sz="87671" autoAdjust="0"/>
  </p:normalViewPr>
  <p:slideViewPr>
    <p:cSldViewPr snapToGrid="0">
      <p:cViewPr varScale="1">
        <p:scale>
          <a:sx n="80" d="100"/>
          <a:sy n="80" d="100"/>
        </p:scale>
        <p:origin x="1364" y="5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4232209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旗黑-45S" panose="00020600040101010101" pitchFamily="18" charset="-122"/>
                <a:ea typeface="汉仪旗黑-45S"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旗黑-45S" panose="00020600040101010101" pitchFamily="18" charset="-122"/>
                <a:ea typeface="汉仪旗黑-45S" panose="00020600040101010101" pitchFamily="18" charset="-122"/>
              </a:defRPr>
            </a:lvl1pPr>
          </a:lstStyle>
          <a:p>
            <a:fld id="{F87F258B-B836-4A03-90D9-E39CD78388D8}" type="datetimeFigureOut">
              <a:rPr lang="zh-CN" altLang="en-US" smtClean="0"/>
              <a:t>2026/5/18</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旗黑-45S" panose="00020600040101010101" pitchFamily="18" charset="-122"/>
                <a:ea typeface="汉仪旗黑-45S"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旗黑-45S" panose="00020600040101010101" pitchFamily="18" charset="-122"/>
                <a:ea typeface="汉仪旗黑-45S" panose="00020600040101010101" pitchFamily="18" charset="-122"/>
              </a:defRPr>
            </a:lvl1pPr>
          </a:lstStyle>
          <a:p>
            <a:fld id="{56961F87-20C5-4746-9C61-F4321B4DA788}" type="slidenum">
              <a:rPr lang="zh-CN" altLang="en-US" smtClean="0"/>
              <a:t>‹#›</a:t>
            </a:fld>
            <a:endParaRPr lang="zh-CN" altLang="en-US" dirty="0"/>
          </a:p>
        </p:txBody>
      </p:sp>
    </p:spTree>
    <p:extLst>
      <p:ext uri="{BB962C8B-B14F-4D97-AF65-F5344CB8AC3E}">
        <p14:creationId xmlns:p14="http://schemas.microsoft.com/office/powerpoint/2010/main" val="257968379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1pPr>
    <a:lvl2pPr marL="4572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2pPr>
    <a:lvl3pPr marL="9144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3pPr>
    <a:lvl4pPr marL="13716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4pPr>
    <a:lvl5pPr marL="18288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81315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37688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77719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7362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5DAC3-3896-85F8-19B2-D61E86A669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F9B945-46BC-1ABD-F595-5D470E57BF0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0A140F-6139-BB18-BD83-95B29A06EB4C}"/>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66135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09341-93C2-3E58-2CFE-77DDCAA15B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9693AD-B415-3B5D-4F7A-BFD5B1A137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9C95EE-38B2-B4EB-C84F-97547C7079A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75230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81A28-0A0F-39D1-F78B-2AA16FCC6A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FFCFAF-F408-D784-A890-096CAE4CB9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F92F0D-217D-72B4-54FD-030B30259AC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204792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8A048-3BFC-3821-EFB7-69F18776FA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EC0B17-9F17-F0F1-CC4E-A5E3A64972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126787-B05E-8099-2828-7485F676607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48708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03446-8C43-D9DD-0EBD-478ACC7406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65DA03-A769-2B6A-A32E-F6FB539AE80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64172D-0526-8B40-A74C-39AE37904A14}"/>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08881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06819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0435A-3CAA-10C3-7E6C-06543349D2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934F1D-D3F7-797B-57B0-A444DD00CF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4FF9FC-CC4E-B3B7-2164-19A3DB242F7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61830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CEAB3-9FB5-88CD-1BB2-DEA787C3F1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5ADFFF-5DDF-00F0-E6D0-0B52F1DAF0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5D35B4-D79F-610B-1295-57AF47E4173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63950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2.xml"/><Relationship Id="rId5" Type="http://schemas.openxmlformats.org/officeDocument/2006/relationships/tags" Target="../tags/tag11.xml"/><Relationship Id="rId4" Type="http://schemas.openxmlformats.org/officeDocument/2006/relationships/tags" Target="../tags/tag10.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24" name="图片 23" descr="背景图案&#10;&#10;描述已自动生成"/>
          <p:cNvPicPr>
            <a:picLocks noChangeAspect="1"/>
          </p:cNvPicPr>
          <p:nvPr userDrawn="1"/>
        </p:nvPicPr>
        <p:blipFill>
          <a:blip r:embed="rId2" cstate="print"/>
          <a:srcRect/>
          <a:stretch>
            <a:fillRect/>
          </a:stretch>
        </p:blipFill>
        <p:spPr>
          <a:xfrm>
            <a:off x="0" y="0"/>
            <a:ext cx="12192000" cy="6858000"/>
          </a:xfrm>
          <a:prstGeom prst="rect">
            <a:avLst/>
          </a:prstGeom>
        </p:spPr>
      </p:pic>
      <p:sp>
        <p:nvSpPr>
          <p:cNvPr id="21" name="矩形 20"/>
          <p:cNvSpPr/>
          <p:nvPr userDrawn="1"/>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userDrawn="1"/>
        </p:nvSpPr>
        <p:spPr>
          <a:xfrm>
            <a:off x="5257800" y="943796"/>
            <a:ext cx="1676400" cy="1676400"/>
          </a:xfrm>
          <a:prstGeom prst="ellipse">
            <a:avLst/>
          </a:prstGeom>
          <a:gradFill>
            <a:gsLst>
              <a:gs pos="100000">
                <a:schemeClr val="bg1">
                  <a:lumMod val="90000"/>
                </a:schemeClr>
              </a:gs>
              <a:gs pos="0">
                <a:schemeClr val="bg1"/>
              </a:gs>
            </a:gsLst>
            <a:lin ang="2700000" scaled="0"/>
          </a:gradFill>
          <a:ln>
            <a:noFill/>
          </a:ln>
          <a:effectLst>
            <a:outerShdw blurRad="889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占位符 15"/>
          <p:cNvSpPr>
            <a:spLocks noGrp="1"/>
          </p:cNvSpPr>
          <p:nvPr>
            <p:ph type="body" sz="quarter" idx="10" hasCustomPrompt="1"/>
          </p:nvPr>
        </p:nvSpPr>
        <p:spPr>
          <a:xfrm>
            <a:off x="5577841" y="1421591"/>
            <a:ext cx="1036320" cy="747897"/>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wrap="square" lIns="0" tIns="0" rIns="0" bIns="0">
            <a:spAutoFit/>
          </a:bodyPr>
          <a:lstStyle>
            <a:lvl1pPr marL="0" indent="0" algn="ctr">
              <a:buNone/>
              <a:defRPr lang="zh-CN" altLang="en-US" sz="5400" b="0" smtClean="0">
                <a:solidFill>
                  <a:schemeClr val="tx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914400" lvl="0" indent="-1143000" algn="l" defTabSz="914400" rtl="0" eaLnBrk="1" fontAlgn="base" latinLnBrk="0" hangingPunct="1">
              <a:lnSpc>
                <a:spcPct val="90000"/>
              </a:lnSpc>
              <a:spcBef>
                <a:spcPts val="1000"/>
              </a:spcBef>
            </a:pPr>
            <a:r>
              <a:rPr lang="en-US" altLang="zh-CN" dirty="0"/>
              <a:t>01</a:t>
            </a:r>
            <a:endParaRPr lang="zh-CN" altLang="en-US" dirty="0"/>
          </a:p>
        </p:txBody>
      </p:sp>
      <p:sp>
        <p:nvSpPr>
          <p:cNvPr id="18" name="文本占位符 13"/>
          <p:cNvSpPr>
            <a:spLocks noGrp="1"/>
          </p:cNvSpPr>
          <p:nvPr>
            <p:ph type="body" sz="quarter" idx="12" hasCustomPrompt="1"/>
          </p:nvPr>
        </p:nvSpPr>
        <p:spPr>
          <a:xfrm>
            <a:off x="2608162" y="2967335"/>
            <a:ext cx="6975676" cy="923330"/>
          </a:xfrm>
          <a:prstGeom prst="rect">
            <a:avLst/>
          </a:prstGeom>
          <a:noFill/>
        </p:spPr>
        <p:txBody>
          <a:bodyPr wrap="square" lIns="0" tIns="0" rIns="0" bIns="0" rtlCol="0">
            <a:spAutoFit/>
          </a:bodyPr>
          <a:lstStyle>
            <a:lvl1pPr marL="0" marR="0" indent="0" algn="ctr" rtl="0">
              <a:lnSpc>
                <a:spcPct val="100000"/>
              </a:lnSpc>
              <a:spcBef>
                <a:spcPts val="0"/>
              </a:spcBef>
              <a:spcAft>
                <a:spcPts val="0"/>
              </a:spcAft>
              <a:buNone/>
              <a:defRPr lang="zh-CN" altLang="en-US" sz="6000" b="1" spc="600" smtClean="0">
                <a:solidFill>
                  <a:schemeClr val="bg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r>
              <a:rPr lang="zh-CN" altLang="en-US" dirty="0"/>
              <a:t>输入您的标题</a:t>
            </a:r>
          </a:p>
        </p:txBody>
      </p:sp>
      <p:sp>
        <p:nvSpPr>
          <p:cNvPr id="4" name="文本占位符 3"/>
          <p:cNvSpPr>
            <a:spLocks noGrp="1"/>
          </p:cNvSpPr>
          <p:nvPr>
            <p:ph type="body" sz="quarter" idx="14" hasCustomPrompt="1"/>
          </p:nvPr>
        </p:nvSpPr>
        <p:spPr>
          <a:xfrm>
            <a:off x="2836546" y="4080434"/>
            <a:ext cx="6515734" cy="263525"/>
          </a:xfrm>
          <a:prstGeom prst="rect">
            <a:avLst/>
          </a:prstGeom>
        </p:spPr>
        <p:txBody>
          <a:bodyPr lIns="0" tIns="0" rIns="0" bIns="0"/>
          <a:lstStyle>
            <a:lvl1pPr marL="0" indent="0" algn="ctr">
              <a:buNone/>
              <a:defRPr sz="1400" spc="3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Part one</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sp>
        <p:nvSpPr>
          <p:cNvPr id="4" name="标题 1"/>
          <p:cNvSpPr>
            <a:spLocks noGrp="1"/>
          </p:cNvSpPr>
          <p:nvPr userDrawn="1">
            <p:ph type="title"/>
          </p:nvPr>
        </p:nvSpPr>
        <p:spPr>
          <a:xfrm>
            <a:off x="691837" y="260750"/>
            <a:ext cx="8048303" cy="441960"/>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400" b="1" kern="1200" spc="200" baseline="0">
                <a:solidFill>
                  <a:schemeClr val="accent1"/>
                </a:solidFill>
                <a:latin typeface="+mj-lt"/>
                <a:ea typeface="+mj-ea"/>
                <a:cs typeface="+mj-cs"/>
              </a:defRPr>
            </a:lvl1pPr>
          </a:lstStyle>
          <a:p>
            <a:r>
              <a:rPr lang="zh-CN" altLang="en-US" dirty="0"/>
              <a:t>单击此处编辑母版标题样式</a:t>
            </a:r>
          </a:p>
        </p:txBody>
      </p:sp>
      <p:grpSp>
        <p:nvGrpSpPr>
          <p:cNvPr id="28" name="组合 27"/>
          <p:cNvGrpSpPr/>
          <p:nvPr userDrawn="1"/>
        </p:nvGrpSpPr>
        <p:grpSpPr>
          <a:xfrm>
            <a:off x="131124" y="335280"/>
            <a:ext cx="498796" cy="292900"/>
            <a:chOff x="81280" y="260750"/>
            <a:chExt cx="498796" cy="441960"/>
          </a:xfrm>
        </p:grpSpPr>
        <p:sp>
          <p:nvSpPr>
            <p:cNvPr id="29" name="箭头: V 形 28"/>
            <p:cNvSpPr/>
            <p:nvPr/>
          </p:nvSpPr>
          <p:spPr>
            <a:xfrm>
              <a:off x="330678" y="260750"/>
              <a:ext cx="249398" cy="44196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箭头: V 形 29"/>
            <p:cNvSpPr/>
            <p:nvPr/>
          </p:nvSpPr>
          <p:spPr>
            <a:xfrm>
              <a:off x="81280" y="260750"/>
              <a:ext cx="249398" cy="44196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2026/5/18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24" name="图片 23" descr="背景图案&#10;&#10;描述已自动生成"/>
          <p:cNvPicPr>
            <a:picLocks noChangeAspect="1"/>
          </p:cNvPicPr>
          <p:nvPr userDrawn="1"/>
        </p:nvPicPr>
        <p:blipFill>
          <a:blip r:embed="rId2" cstate="print"/>
          <a:srcRect/>
          <a:stretch>
            <a:fillRect/>
          </a:stretch>
        </p:blipFill>
        <p:spPr>
          <a:xfrm>
            <a:off x="0" y="0"/>
            <a:ext cx="12192000" cy="6858000"/>
          </a:xfrm>
          <a:prstGeom prst="rect">
            <a:avLst/>
          </a:prstGeom>
        </p:spPr>
      </p:pic>
      <p:sp>
        <p:nvSpPr>
          <p:cNvPr id="21" name="矩形 20"/>
          <p:cNvSpPr/>
          <p:nvPr userDrawn="1"/>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3" name="椭圆 22"/>
          <p:cNvSpPr/>
          <p:nvPr userDrawn="1"/>
        </p:nvSpPr>
        <p:spPr>
          <a:xfrm>
            <a:off x="5257800" y="943796"/>
            <a:ext cx="1676400" cy="1676400"/>
          </a:xfrm>
          <a:prstGeom prst="ellipse">
            <a:avLst/>
          </a:prstGeom>
          <a:gradFill>
            <a:gsLst>
              <a:gs pos="100000">
                <a:schemeClr val="bg1">
                  <a:lumMod val="90000"/>
                </a:schemeClr>
              </a:gs>
              <a:gs pos="0">
                <a:schemeClr val="bg1"/>
              </a:gs>
            </a:gsLst>
            <a:lin ang="2700000" scaled="0"/>
          </a:gradFill>
          <a:ln>
            <a:noFill/>
          </a:ln>
          <a:effectLst>
            <a:outerShdw blurRad="889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6" name="文本占位符 15"/>
          <p:cNvSpPr>
            <a:spLocks noGrp="1"/>
          </p:cNvSpPr>
          <p:nvPr>
            <p:ph type="body" sz="quarter" idx="10" hasCustomPrompt="1"/>
          </p:nvPr>
        </p:nvSpPr>
        <p:spPr>
          <a:xfrm>
            <a:off x="5577841" y="1421591"/>
            <a:ext cx="1036320" cy="747897"/>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wrap="square" lIns="0" tIns="0" rIns="0" bIns="0">
            <a:spAutoFit/>
          </a:bodyPr>
          <a:lstStyle>
            <a:lvl1pPr marL="0" indent="0" algn="ctr">
              <a:buNone/>
              <a:defRPr lang="zh-CN" altLang="en-US" sz="5400" b="0" smtClean="0">
                <a:solidFill>
                  <a:schemeClr val="tx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914400" lvl="0" indent="-1143000" algn="l" defTabSz="914400" rtl="0" eaLnBrk="1" fontAlgn="base" latinLnBrk="0" hangingPunct="1">
              <a:lnSpc>
                <a:spcPct val="90000"/>
              </a:lnSpc>
              <a:spcBef>
                <a:spcPts val="1000"/>
              </a:spcBef>
            </a:pPr>
            <a:r>
              <a:rPr lang="en-US" altLang="zh-CN" dirty="0"/>
              <a:t>01</a:t>
            </a:r>
            <a:endParaRPr lang="zh-CN" altLang="en-US" dirty="0"/>
          </a:p>
        </p:txBody>
      </p:sp>
      <p:sp>
        <p:nvSpPr>
          <p:cNvPr id="18" name="文本占位符 13"/>
          <p:cNvSpPr>
            <a:spLocks noGrp="1"/>
          </p:cNvSpPr>
          <p:nvPr>
            <p:ph type="body" sz="quarter" idx="12" hasCustomPrompt="1"/>
          </p:nvPr>
        </p:nvSpPr>
        <p:spPr>
          <a:xfrm>
            <a:off x="2608162" y="2967335"/>
            <a:ext cx="6975676" cy="923330"/>
          </a:xfrm>
          <a:prstGeom prst="rect">
            <a:avLst/>
          </a:prstGeom>
          <a:noFill/>
        </p:spPr>
        <p:txBody>
          <a:bodyPr wrap="square" lIns="0" tIns="0" rIns="0" bIns="0" rtlCol="0">
            <a:spAutoFit/>
          </a:bodyPr>
          <a:lstStyle>
            <a:lvl1pPr marL="0" marR="0" indent="0" algn="ctr" rtl="0">
              <a:lnSpc>
                <a:spcPct val="100000"/>
              </a:lnSpc>
              <a:spcBef>
                <a:spcPts val="0"/>
              </a:spcBef>
              <a:spcAft>
                <a:spcPts val="0"/>
              </a:spcAft>
              <a:buNone/>
              <a:defRPr lang="zh-CN" altLang="en-US" sz="6000" b="1" spc="600" smtClean="0">
                <a:solidFill>
                  <a:schemeClr val="bg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r>
              <a:rPr lang="zh-CN" altLang="en-US" dirty="0"/>
              <a:t>输入您的标题</a:t>
            </a:r>
          </a:p>
        </p:txBody>
      </p:sp>
      <p:sp>
        <p:nvSpPr>
          <p:cNvPr id="4" name="文本占位符 3"/>
          <p:cNvSpPr>
            <a:spLocks noGrp="1"/>
          </p:cNvSpPr>
          <p:nvPr>
            <p:ph type="body" sz="quarter" idx="14" hasCustomPrompt="1"/>
          </p:nvPr>
        </p:nvSpPr>
        <p:spPr>
          <a:xfrm>
            <a:off x="2836546" y="4080434"/>
            <a:ext cx="6515734" cy="263525"/>
          </a:xfrm>
          <a:prstGeom prst="rect">
            <a:avLst/>
          </a:prstGeom>
        </p:spPr>
        <p:txBody>
          <a:bodyPr lIns="0" tIns="0" rIns="0" bIns="0"/>
          <a:lstStyle>
            <a:lvl1pPr marL="0" indent="0" algn="ctr">
              <a:buNone/>
              <a:defRPr sz="1400" spc="3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Part one</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sp>
        <p:nvSpPr>
          <p:cNvPr id="4" name="标题 1"/>
          <p:cNvSpPr>
            <a:spLocks noGrp="1"/>
          </p:cNvSpPr>
          <p:nvPr userDrawn="1">
            <p:ph type="title"/>
          </p:nvPr>
        </p:nvSpPr>
        <p:spPr>
          <a:xfrm>
            <a:off x="691837" y="260750"/>
            <a:ext cx="8048303" cy="441960"/>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400" b="1" kern="1200" spc="200" baseline="0">
                <a:solidFill>
                  <a:schemeClr val="accent1"/>
                </a:solidFill>
                <a:latin typeface="+mj-lt"/>
                <a:ea typeface="+mj-ea"/>
                <a:cs typeface="+mj-cs"/>
              </a:defRPr>
            </a:lvl1pPr>
          </a:lstStyle>
          <a:p>
            <a:r>
              <a:rPr lang="zh-CN" altLang="en-US" dirty="0"/>
              <a:t>单击此处编辑母版标题样式</a:t>
            </a:r>
          </a:p>
        </p:txBody>
      </p:sp>
      <p:grpSp>
        <p:nvGrpSpPr>
          <p:cNvPr id="28" name="组合 27"/>
          <p:cNvGrpSpPr/>
          <p:nvPr userDrawn="1"/>
        </p:nvGrpSpPr>
        <p:grpSpPr>
          <a:xfrm>
            <a:off x="131124" y="335280"/>
            <a:ext cx="498796" cy="292900"/>
            <a:chOff x="81280" y="260750"/>
            <a:chExt cx="498796" cy="441960"/>
          </a:xfrm>
        </p:grpSpPr>
        <p:sp>
          <p:nvSpPr>
            <p:cNvPr id="29" name="箭头: V 形 28"/>
            <p:cNvSpPr/>
            <p:nvPr/>
          </p:nvSpPr>
          <p:spPr>
            <a:xfrm>
              <a:off x="330678" y="260750"/>
              <a:ext cx="249398" cy="44196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箭头: V 形 29"/>
            <p:cNvSpPr/>
            <p:nvPr/>
          </p:nvSpPr>
          <p:spPr>
            <a:xfrm>
              <a:off x="81280" y="260750"/>
              <a:ext cx="249398" cy="44196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75237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01392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97018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1700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616576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53979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4338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320196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00241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18368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791510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139423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8214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8158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64636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12367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1643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20686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88568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552113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275774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2089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2719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9544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01079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7032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0620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68169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98751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73278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319889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84367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07967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1186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13278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27399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4378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9781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008753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903760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2826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9916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8669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91808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99543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403446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980893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0003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6929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19489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3770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1463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5316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5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56174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5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424969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5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7357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79623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44213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29676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32440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6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270910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99634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2687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6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18166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91471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6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568774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6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3617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6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17125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6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1972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6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278750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7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TextBox 2"/>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3268309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7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55458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7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485243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2026/5/18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2026/5/18</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64599637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2026/5/18</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4906559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5263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3.xml"/><Relationship Id="rId21" Type="http://schemas.openxmlformats.org/officeDocument/2006/relationships/slideLayout" Target="../slideLayouts/slideLayout28.xml"/><Relationship Id="rId42" Type="http://schemas.openxmlformats.org/officeDocument/2006/relationships/slideLayout" Target="../slideLayouts/slideLayout49.xml"/><Relationship Id="rId47" Type="http://schemas.openxmlformats.org/officeDocument/2006/relationships/slideLayout" Target="../slideLayouts/slideLayout54.xml"/><Relationship Id="rId63" Type="http://schemas.openxmlformats.org/officeDocument/2006/relationships/slideLayout" Target="../slideLayouts/slideLayout70.xml"/><Relationship Id="rId68" Type="http://schemas.openxmlformats.org/officeDocument/2006/relationships/slideLayout" Target="../slideLayouts/slideLayout75.xml"/><Relationship Id="rId16" Type="http://schemas.openxmlformats.org/officeDocument/2006/relationships/slideLayout" Target="../slideLayouts/slideLayout23.xml"/><Relationship Id="rId11" Type="http://schemas.openxmlformats.org/officeDocument/2006/relationships/slideLayout" Target="../slideLayouts/slideLayout18.xml"/><Relationship Id="rId32" Type="http://schemas.openxmlformats.org/officeDocument/2006/relationships/slideLayout" Target="../slideLayouts/slideLayout39.xml"/><Relationship Id="rId37" Type="http://schemas.openxmlformats.org/officeDocument/2006/relationships/slideLayout" Target="../slideLayouts/slideLayout44.xml"/><Relationship Id="rId53" Type="http://schemas.openxmlformats.org/officeDocument/2006/relationships/slideLayout" Target="../slideLayouts/slideLayout60.xml"/><Relationship Id="rId58" Type="http://schemas.openxmlformats.org/officeDocument/2006/relationships/slideLayout" Target="../slideLayouts/slideLayout65.xml"/><Relationship Id="rId74" Type="http://schemas.openxmlformats.org/officeDocument/2006/relationships/slideLayout" Target="../slideLayouts/slideLayout81.xml"/><Relationship Id="rId79" Type="http://schemas.openxmlformats.org/officeDocument/2006/relationships/slideLayout" Target="../slideLayouts/slideLayout86.xml"/><Relationship Id="rId5" Type="http://schemas.openxmlformats.org/officeDocument/2006/relationships/slideLayout" Target="../slideLayouts/slideLayout12.xml"/><Relationship Id="rId61" Type="http://schemas.openxmlformats.org/officeDocument/2006/relationships/slideLayout" Target="../slideLayouts/slideLayout68.xml"/><Relationship Id="rId19" Type="http://schemas.openxmlformats.org/officeDocument/2006/relationships/slideLayout" Target="../slideLayouts/slideLayout2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slideLayout" Target="../slideLayouts/slideLayout37.xml"/><Relationship Id="rId35" Type="http://schemas.openxmlformats.org/officeDocument/2006/relationships/slideLayout" Target="../slideLayouts/slideLayout42.xml"/><Relationship Id="rId43" Type="http://schemas.openxmlformats.org/officeDocument/2006/relationships/slideLayout" Target="../slideLayouts/slideLayout50.xml"/><Relationship Id="rId48" Type="http://schemas.openxmlformats.org/officeDocument/2006/relationships/slideLayout" Target="../slideLayouts/slideLayout55.xml"/><Relationship Id="rId56" Type="http://schemas.openxmlformats.org/officeDocument/2006/relationships/slideLayout" Target="../slideLayouts/slideLayout63.xml"/><Relationship Id="rId64" Type="http://schemas.openxmlformats.org/officeDocument/2006/relationships/slideLayout" Target="../slideLayouts/slideLayout71.xml"/><Relationship Id="rId69" Type="http://schemas.openxmlformats.org/officeDocument/2006/relationships/slideLayout" Target="../slideLayouts/slideLayout76.xml"/><Relationship Id="rId77" Type="http://schemas.openxmlformats.org/officeDocument/2006/relationships/slideLayout" Target="../slideLayouts/slideLayout84.xml"/><Relationship Id="rId8" Type="http://schemas.openxmlformats.org/officeDocument/2006/relationships/slideLayout" Target="../slideLayouts/slideLayout15.xml"/><Relationship Id="rId51" Type="http://schemas.openxmlformats.org/officeDocument/2006/relationships/slideLayout" Target="../slideLayouts/slideLayout58.xml"/><Relationship Id="rId72" Type="http://schemas.openxmlformats.org/officeDocument/2006/relationships/slideLayout" Target="../slideLayouts/slideLayout79.xml"/><Relationship Id="rId80" Type="http://schemas.openxmlformats.org/officeDocument/2006/relationships/slideLayout" Target="../slideLayouts/slideLayout87.xml"/><Relationship Id="rId3" Type="http://schemas.openxmlformats.org/officeDocument/2006/relationships/slideLayout" Target="../slideLayouts/slideLayout10.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33" Type="http://schemas.openxmlformats.org/officeDocument/2006/relationships/slideLayout" Target="../slideLayouts/slideLayout40.xml"/><Relationship Id="rId38" Type="http://schemas.openxmlformats.org/officeDocument/2006/relationships/slideLayout" Target="../slideLayouts/slideLayout45.xml"/><Relationship Id="rId46" Type="http://schemas.openxmlformats.org/officeDocument/2006/relationships/slideLayout" Target="../slideLayouts/slideLayout53.xml"/><Relationship Id="rId59" Type="http://schemas.openxmlformats.org/officeDocument/2006/relationships/slideLayout" Target="../slideLayouts/slideLayout66.xml"/><Relationship Id="rId67" Type="http://schemas.openxmlformats.org/officeDocument/2006/relationships/slideLayout" Target="../slideLayouts/slideLayout74.xml"/><Relationship Id="rId20" Type="http://schemas.openxmlformats.org/officeDocument/2006/relationships/slideLayout" Target="../slideLayouts/slideLayout27.xml"/><Relationship Id="rId41" Type="http://schemas.openxmlformats.org/officeDocument/2006/relationships/slideLayout" Target="../slideLayouts/slideLayout48.xml"/><Relationship Id="rId54" Type="http://schemas.openxmlformats.org/officeDocument/2006/relationships/slideLayout" Target="../slideLayouts/slideLayout61.xml"/><Relationship Id="rId62" Type="http://schemas.openxmlformats.org/officeDocument/2006/relationships/slideLayout" Target="../slideLayouts/slideLayout69.xml"/><Relationship Id="rId70" Type="http://schemas.openxmlformats.org/officeDocument/2006/relationships/slideLayout" Target="../slideLayouts/slideLayout77.xml"/><Relationship Id="rId75" Type="http://schemas.openxmlformats.org/officeDocument/2006/relationships/slideLayout" Target="../slideLayouts/slideLayout8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36" Type="http://schemas.openxmlformats.org/officeDocument/2006/relationships/slideLayout" Target="../slideLayouts/slideLayout43.xml"/><Relationship Id="rId49" Type="http://schemas.openxmlformats.org/officeDocument/2006/relationships/slideLayout" Target="../slideLayouts/slideLayout56.xml"/><Relationship Id="rId57" Type="http://schemas.openxmlformats.org/officeDocument/2006/relationships/slideLayout" Target="../slideLayouts/slideLayout64.xml"/><Relationship Id="rId10" Type="http://schemas.openxmlformats.org/officeDocument/2006/relationships/slideLayout" Target="../slideLayouts/slideLayout17.xml"/><Relationship Id="rId31" Type="http://schemas.openxmlformats.org/officeDocument/2006/relationships/slideLayout" Target="../slideLayouts/slideLayout38.xml"/><Relationship Id="rId44" Type="http://schemas.openxmlformats.org/officeDocument/2006/relationships/slideLayout" Target="../slideLayouts/slideLayout51.xml"/><Relationship Id="rId52" Type="http://schemas.openxmlformats.org/officeDocument/2006/relationships/slideLayout" Target="../slideLayouts/slideLayout59.xml"/><Relationship Id="rId60" Type="http://schemas.openxmlformats.org/officeDocument/2006/relationships/slideLayout" Target="../slideLayouts/slideLayout67.xml"/><Relationship Id="rId65" Type="http://schemas.openxmlformats.org/officeDocument/2006/relationships/slideLayout" Target="../slideLayouts/slideLayout72.xml"/><Relationship Id="rId73" Type="http://schemas.openxmlformats.org/officeDocument/2006/relationships/slideLayout" Target="../slideLayouts/slideLayout80.xml"/><Relationship Id="rId78" Type="http://schemas.openxmlformats.org/officeDocument/2006/relationships/slideLayout" Target="../slideLayouts/slideLayout85.xml"/><Relationship Id="rId81"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9" Type="http://schemas.openxmlformats.org/officeDocument/2006/relationships/slideLayout" Target="../slideLayouts/slideLayout46.xml"/><Relationship Id="rId34" Type="http://schemas.openxmlformats.org/officeDocument/2006/relationships/slideLayout" Target="../slideLayouts/slideLayout41.xml"/><Relationship Id="rId50" Type="http://schemas.openxmlformats.org/officeDocument/2006/relationships/slideLayout" Target="../slideLayouts/slideLayout57.xml"/><Relationship Id="rId55" Type="http://schemas.openxmlformats.org/officeDocument/2006/relationships/slideLayout" Target="../slideLayouts/slideLayout62.xml"/><Relationship Id="rId76" Type="http://schemas.openxmlformats.org/officeDocument/2006/relationships/slideLayout" Target="../slideLayouts/slideLayout83.xml"/><Relationship Id="rId7" Type="http://schemas.openxmlformats.org/officeDocument/2006/relationships/slideLayout" Target="../slideLayouts/slideLayout14.xml"/><Relationship Id="rId71" Type="http://schemas.openxmlformats.org/officeDocument/2006/relationships/slideLayout" Target="../slideLayouts/slideLayout78.xml"/><Relationship Id="rId2" Type="http://schemas.openxmlformats.org/officeDocument/2006/relationships/slideLayout" Target="../slideLayouts/slideLayout9.xml"/><Relationship Id="rId29" Type="http://schemas.openxmlformats.org/officeDocument/2006/relationships/slideLayout" Target="../slideLayouts/slideLayout36.xml"/><Relationship Id="rId24" Type="http://schemas.openxmlformats.org/officeDocument/2006/relationships/slideLayout" Target="../slideLayouts/slideLayout31.xml"/><Relationship Id="rId40" Type="http://schemas.openxmlformats.org/officeDocument/2006/relationships/slideLayout" Target="../slideLayouts/slideLayout47.xml"/><Relationship Id="rId45" Type="http://schemas.openxmlformats.org/officeDocument/2006/relationships/slideLayout" Target="../slideLayouts/slideLayout52.xml"/><Relationship Id="rId66" Type="http://schemas.openxmlformats.org/officeDocument/2006/relationships/slideLayout" Target="../slideLayouts/slideLayout7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0.xml"/><Relationship Id="rId2" Type="http://schemas.openxmlformats.org/officeDocument/2006/relationships/slideLayout" Target="../slideLayouts/slideLayout89.xml"/><Relationship Id="rId1" Type="http://schemas.openxmlformats.org/officeDocument/2006/relationships/slideLayout" Target="../slideLayouts/slideLayout88.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5" r:id="rId56"/>
    <p:sldLayoutId id="2147483716" r:id="rId57"/>
    <p:sldLayoutId id="2147483717" r:id="rId58"/>
    <p:sldLayoutId id="2147483718" r:id="rId59"/>
    <p:sldLayoutId id="2147483719" r:id="rId60"/>
    <p:sldLayoutId id="2147483720" r:id="rId61"/>
    <p:sldLayoutId id="2147483721" r:id="rId62"/>
    <p:sldLayoutId id="2147483722" r:id="rId63"/>
    <p:sldLayoutId id="2147483723" r:id="rId64"/>
    <p:sldLayoutId id="2147483724" r:id="rId65"/>
    <p:sldLayoutId id="2147483725" r:id="rId66"/>
    <p:sldLayoutId id="2147483726" r:id="rId67"/>
    <p:sldLayoutId id="2147483727" r:id="rId68"/>
    <p:sldLayoutId id="2147483728" r:id="rId69"/>
    <p:sldLayoutId id="2147483729" r:id="rId70"/>
    <p:sldLayoutId id="2147483730" r:id="rId71"/>
    <p:sldLayoutId id="2147483731" r:id="rId72"/>
    <p:sldLayoutId id="2147483732" r:id="rId73"/>
    <p:sldLayoutId id="2147483733" r:id="rId74"/>
    <p:sldLayoutId id="2147483734" r:id="rId75"/>
    <p:sldLayoutId id="2147483735" r:id="rId76"/>
    <p:sldLayoutId id="2147483736" r:id="rId77"/>
    <p:sldLayoutId id="2147483661" r:id="rId78"/>
    <p:sldLayoutId id="2147483662" r:id="rId79"/>
    <p:sldLayoutId id="2147483663" r:id="rId8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23731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18" Type="http://schemas.openxmlformats.org/officeDocument/2006/relationships/tags" Target="../tags/tag31.xml"/><Relationship Id="rId26" Type="http://schemas.openxmlformats.org/officeDocument/2006/relationships/image" Target="../media/image1.jpeg"/><Relationship Id="rId3" Type="http://schemas.openxmlformats.org/officeDocument/2006/relationships/tags" Target="../tags/tag16.xml"/><Relationship Id="rId21" Type="http://schemas.openxmlformats.org/officeDocument/2006/relationships/tags" Target="../tags/tag34.xml"/><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tags" Target="../tags/tag30.xml"/><Relationship Id="rId25" Type="http://schemas.openxmlformats.org/officeDocument/2006/relationships/notesSlide" Target="../notesSlides/notesSlide2.xml"/><Relationship Id="rId2" Type="http://schemas.openxmlformats.org/officeDocument/2006/relationships/tags" Target="../tags/tag15.xml"/><Relationship Id="rId16" Type="http://schemas.openxmlformats.org/officeDocument/2006/relationships/tags" Target="../tags/tag29.xml"/><Relationship Id="rId20" Type="http://schemas.openxmlformats.org/officeDocument/2006/relationships/tags" Target="../tags/tag33.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24" Type="http://schemas.openxmlformats.org/officeDocument/2006/relationships/slideLayout" Target="../slideLayouts/slideLayout8.xml"/><Relationship Id="rId5" Type="http://schemas.openxmlformats.org/officeDocument/2006/relationships/tags" Target="../tags/tag18.xml"/><Relationship Id="rId15" Type="http://schemas.openxmlformats.org/officeDocument/2006/relationships/tags" Target="../tags/tag28.xml"/><Relationship Id="rId23" Type="http://schemas.openxmlformats.org/officeDocument/2006/relationships/tags" Target="../tags/tag36.xml"/><Relationship Id="rId10" Type="http://schemas.openxmlformats.org/officeDocument/2006/relationships/tags" Target="../tags/tag23.xml"/><Relationship Id="rId19" Type="http://schemas.openxmlformats.org/officeDocument/2006/relationships/tags" Target="../tags/tag32.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 Id="rId22" Type="http://schemas.openxmlformats.org/officeDocument/2006/relationships/tags" Target="../tags/tag35.xml"/><Relationship Id="rId27"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4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slideLayout" Target="../slideLayouts/slideLayout11.xml"/><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tags" Target="../tags/tag53.xml"/><Relationship Id="rId2" Type="http://schemas.openxmlformats.org/officeDocument/2006/relationships/tags" Target="../tags/tag43.xml"/><Relationship Id="rId16" Type="http://schemas.openxmlformats.org/officeDocument/2006/relationships/image" Target="../media/image7.svg"/><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5" Type="http://schemas.openxmlformats.org/officeDocument/2006/relationships/tags" Target="../tags/tag46.xml"/><Relationship Id="rId15" Type="http://schemas.openxmlformats.org/officeDocument/2006/relationships/image" Target="../media/image6.svg"/><Relationship Id="rId10" Type="http://schemas.openxmlformats.org/officeDocument/2006/relationships/tags" Target="../tags/tag51.xml"/><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8.png"/><Relationship Id="rId5" Type="http://schemas.openxmlformats.org/officeDocument/2006/relationships/notesSlide" Target="../notesSlides/notesSlide6.xml"/><Relationship Id="rId4"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8.png"/><Relationship Id="rId5" Type="http://schemas.openxmlformats.org/officeDocument/2006/relationships/notesSlide" Target="../notesSlides/notesSlide7.xml"/><Relationship Id="rId4"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8.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notesSlide" Target="../notesSlides/notesSlide8.xml"/><Relationship Id="rId5" Type="http://schemas.openxmlformats.org/officeDocument/2006/relationships/slideLayout" Target="../slideLayouts/slideLayout11.xml"/><Relationship Id="rId4" Type="http://schemas.openxmlformats.org/officeDocument/2006/relationships/tags" Target="../tags/tag65.xml"/></Relationships>
</file>

<file path=ppt/slides/_rels/slide11.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8.png"/><Relationship Id="rId5" Type="http://schemas.openxmlformats.org/officeDocument/2006/relationships/notesSlide" Target="../notesSlides/notesSlide9.xml"/><Relationship Id="rId4"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0.xml"/><Relationship Id="rId1" Type="http://schemas.openxmlformats.org/officeDocument/2006/relationships/tags" Target="../tags/tag69.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11.xml"/><Relationship Id="rId1" Type="http://schemas.openxmlformats.org/officeDocument/2006/relationships/tags" Target="../tags/tag7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1.xml"/><Relationship Id="rId1" Type="http://schemas.openxmlformats.org/officeDocument/2006/relationships/tags" Target="../tags/tag7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11.xml"/><Relationship Id="rId1" Type="http://schemas.openxmlformats.org/officeDocument/2006/relationships/tags" Target="../tags/tag7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74.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75.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7.xml"/><Relationship Id="rId1" Type="http://schemas.openxmlformats.org/officeDocument/2006/relationships/tags" Target="../tags/tag76.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7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稻壳儿智宇https://www.docer.com/works?userid=328340712" descr="背景图案&#10;&#10;描述已自动生成"/>
          <p:cNvPicPr>
            <a:picLocks noChangeAspect="1"/>
          </p:cNvPicPr>
          <p:nvPr/>
        </p:nvPicPr>
        <p:blipFill>
          <a:blip r:embed="rId5" cstate="print"/>
          <a:srcRect/>
          <a:stretch>
            <a:fillRect/>
          </a:stretch>
        </p:blipFill>
        <p:spPr>
          <a:xfrm>
            <a:off x="0" y="0"/>
            <a:ext cx="12192000" cy="6858000"/>
          </a:xfrm>
          <a:prstGeom prst="rect">
            <a:avLst/>
          </a:prstGeom>
        </p:spPr>
      </p:pic>
      <p:sp>
        <p:nvSpPr>
          <p:cNvPr id="2" name="稻壳儿智宇https://www.docer.com/works?userid=328340712"/>
          <p:cNvSpPr/>
          <p:nvPr>
            <p:custDataLst>
              <p:tags r:id="rId1"/>
            </p:custDataLst>
          </p:nvPr>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a:ea typeface="微软雅黑"/>
              <a:sym typeface="微软雅黑"/>
            </a:endParaRPr>
          </a:p>
        </p:txBody>
      </p:sp>
      <p:sp>
        <p:nvSpPr>
          <p:cNvPr id="81" name="稻壳儿智宇https://www.docer.com/works?userid=328340712"/>
          <p:cNvSpPr/>
          <p:nvPr/>
        </p:nvSpPr>
        <p:spPr>
          <a:xfrm>
            <a:off x="1791380" y="2467685"/>
            <a:ext cx="8609237" cy="2031325"/>
          </a:xfrm>
          <a:prstGeom prst="rect">
            <a:avLst/>
          </a:prstGeom>
        </p:spPr>
        <p:txBody>
          <a:bodyPr wrap="square" lIns="0" tIns="0" rIns="0" bIns="0">
            <a:spAutoFit/>
          </a:bodyPr>
          <a:lstStyle/>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认知双过程驱动的</a:t>
            </a:r>
            <a:endParaRPr lang="en-US" altLang="zh-CN" sz="6600" dirty="0">
              <a:solidFill>
                <a:schemeClr val="lt1"/>
              </a:solidFill>
              <a:latin typeface="思源宋体" panose="02020400000000000000" pitchFamily="18" charset="-122"/>
              <a:ea typeface="思源宋体" panose="02020400000000000000" pitchFamily="18" charset="-122"/>
              <a:sym typeface="微软雅黑"/>
            </a:endParaRPr>
          </a:p>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多模态立场检测</a:t>
            </a:r>
          </a:p>
        </p:txBody>
      </p:sp>
      <p:sp>
        <p:nvSpPr>
          <p:cNvPr id="4" name="稻壳儿智宇https://www.docer.com/works?userid=328340712">
            <a:extLst>
              <a:ext uri="{FF2B5EF4-FFF2-40B4-BE49-F238E27FC236}">
                <a16:creationId xmlns:a16="http://schemas.microsoft.com/office/drawing/2014/main" id="{75325AA1-304B-B428-3288-4E10BA09D632}"/>
              </a:ext>
            </a:extLst>
          </p:cNvPr>
          <p:cNvSpPr txBox="1"/>
          <p:nvPr>
            <p:custDataLst>
              <p:tags r:id="rId2"/>
            </p:custDataLst>
          </p:nvPr>
        </p:nvSpPr>
        <p:spPr>
          <a:xfrm>
            <a:off x="3194304" y="5008729"/>
            <a:ext cx="5803392" cy="929229"/>
          </a:xfrm>
          <a:prstGeom prst="rect">
            <a:avLst/>
          </a:prstGeom>
        </p:spPr>
        <p:txBody>
          <a:bodyPr wrap="square" lIns="0" tIns="0" rIns="0" bIns="0">
            <a:spAutoFit/>
          </a:bodyPr>
          <a:lstStyle>
            <a:defPPr>
              <a:defRPr lang="zh-CN"/>
            </a:defPPr>
            <a:lvl1pPr algn="dist" fontAlgn="base">
              <a:defRPr sz="1600" b="0" i="0">
                <a:solidFill>
                  <a:schemeClr val="accent5">
                    <a:lumMod val="50000"/>
                  </a:schemeClr>
                </a:solidFill>
                <a:effectLst/>
                <a:latin typeface="+mn-ea"/>
              </a:defRPr>
            </a:lvl1pPr>
          </a:lstStyle>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汇报人：金正达</a:t>
            </a:r>
            <a:r>
              <a:rPr lang="en-US" altLang="zh-CN" spc="300" dirty="0">
                <a:solidFill>
                  <a:schemeClr val="dk1"/>
                </a:solidFill>
                <a:latin typeface="思源宋体" panose="02020400000000000000" pitchFamily="18" charset="-122"/>
                <a:ea typeface="思源宋体" panose="02020400000000000000" pitchFamily="18" charset="-122"/>
                <a:sym typeface="微软雅黑"/>
              </a:rPr>
              <a:t> </a:t>
            </a: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学院：计算机科学与技术学院</a:t>
            </a:r>
            <a:endParaRPr lang="en-US" altLang="zh-CN" spc="300" dirty="0">
              <a:solidFill>
                <a:schemeClr val="dk1"/>
              </a:solidFill>
              <a:latin typeface="思源宋体" panose="02020400000000000000" pitchFamily="18" charset="-122"/>
              <a:ea typeface="思源宋体" panose="02020400000000000000" pitchFamily="18" charset="-122"/>
              <a:sym typeface="微软雅黑"/>
            </a:endParaRP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指导教师：徐睿峰教授</a:t>
            </a:r>
          </a:p>
        </p:txBody>
      </p:sp>
      <p:pic>
        <p:nvPicPr>
          <p:cNvPr id="6" name="图片 5">
            <a:extLst>
              <a:ext uri="{FF2B5EF4-FFF2-40B4-BE49-F238E27FC236}">
                <a16:creationId xmlns:a16="http://schemas.microsoft.com/office/drawing/2014/main" id="{7AB70BEB-A434-D6A2-6B72-0238D65971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9105" y="996669"/>
            <a:ext cx="4653788" cy="85260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稻壳儿智宇https://www.docer.com/works?userid=328340712" descr="背景图案&#10;&#10;描述已自动生成"/>
          <p:cNvPicPr>
            <a:picLocks noChangeAspect="1"/>
          </p:cNvPicPr>
          <p:nvPr/>
        </p:nvPicPr>
        <p:blipFill>
          <a:blip r:embed="rId26" cstate="print"/>
          <a:srcRect/>
          <a:stretch>
            <a:fillRect/>
          </a:stretch>
        </p:blipFill>
        <p:spPr>
          <a:xfrm>
            <a:off x="0" y="0"/>
            <a:ext cx="12192000" cy="6858000"/>
          </a:xfrm>
          <a:prstGeom prst="rect">
            <a:avLst/>
          </a:prstGeom>
        </p:spPr>
      </p:pic>
      <p:sp>
        <p:nvSpPr>
          <p:cNvPr id="24" name="稻壳儿智宇https://www.docer.com/works?userid=328340712"/>
          <p:cNvSpPr/>
          <p:nvPr>
            <p:custDataLst>
              <p:tags r:id="rId1"/>
            </p:custDataLst>
          </p:nvPr>
        </p:nvSpPr>
        <p:spPr>
          <a:xfrm>
            <a:off x="0" y="0"/>
            <a:ext cx="12192000" cy="1927285"/>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60" name="稻壳儿智宇https://www.docer.com/works?userid=328340712"/>
          <p:cNvSpPr/>
          <p:nvPr/>
        </p:nvSpPr>
        <p:spPr>
          <a:xfrm>
            <a:off x="613433" y="821166"/>
            <a:ext cx="1119116" cy="677108"/>
          </a:xfrm>
          <a:prstGeom prst="rect">
            <a:avLst/>
          </a:prstGeom>
        </p:spPr>
        <p:txBody>
          <a:bodyPr wrap="square" lIns="0" tIns="0" rIns="0" bIns="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cs typeface="+mn-cs"/>
                <a:sym typeface="微软雅黑"/>
              </a:rPr>
              <a:t>目录</a:t>
            </a:r>
          </a:p>
        </p:txBody>
      </p:sp>
      <p:sp>
        <p:nvSpPr>
          <p:cNvPr id="61" name="稻壳儿智宇https://www.docer.com/works?userid=328340712"/>
          <p:cNvSpPr/>
          <p:nvPr>
            <p:custDataLst>
              <p:tags r:id="rId2"/>
            </p:custDataLst>
          </p:nvPr>
        </p:nvSpPr>
        <p:spPr>
          <a:xfrm>
            <a:off x="1935678" y="1159720"/>
            <a:ext cx="1605688" cy="276999"/>
          </a:xfrm>
          <a:prstGeom prst="rect">
            <a:avLst/>
          </a:prstGeom>
        </p:spPr>
        <p:txBody>
          <a:bodyPr wrap="square" lIns="0" tIns="0" rIns="0" bIns="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CONTENT</a:t>
            </a:r>
          </a:p>
        </p:txBody>
      </p:sp>
      <p:sp>
        <p:nvSpPr>
          <p:cNvPr id="15" name="稻壳儿智宇https://www.docer.com/works?userid=328340712"/>
          <p:cNvSpPr/>
          <p:nvPr>
            <p:custDataLst>
              <p:tags r:id="rId3"/>
            </p:custDataLst>
          </p:nvPr>
        </p:nvSpPr>
        <p:spPr>
          <a:xfrm>
            <a:off x="9050208"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1" name="稻壳儿智宇https://www.docer.com/works?userid=328340712"/>
          <p:cNvSpPr/>
          <p:nvPr>
            <p:custDataLst>
              <p:tags r:id="rId4"/>
            </p:custDataLst>
          </p:nvPr>
        </p:nvSpPr>
        <p:spPr>
          <a:xfrm rot="2700000">
            <a:off x="10070063"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47" name="稻壳儿智宇https://www.docer.com/works?userid=328340712"/>
          <p:cNvSpPr/>
          <p:nvPr>
            <p:custDataLst>
              <p:tags r:id="rId5"/>
            </p:custDataLst>
          </p:nvPr>
        </p:nvSpPr>
        <p:spPr>
          <a:xfrm rot="2700000">
            <a:off x="9970921"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49" name="稻壳儿智宇https://www.docer.com/works?userid=328340712"/>
          <p:cNvSpPr/>
          <p:nvPr>
            <p:custDataLst>
              <p:tags r:id="rId6"/>
            </p:custDataLst>
          </p:nvPr>
        </p:nvSpPr>
        <p:spPr>
          <a:xfrm>
            <a:off x="9995873" y="3162290"/>
            <a:ext cx="640862" cy="47412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04</a:t>
            </a:r>
          </a:p>
        </p:txBody>
      </p:sp>
      <p:sp>
        <p:nvSpPr>
          <p:cNvPr id="57" name="稻壳儿智宇https://www.docer.com/works?userid=328340712"/>
          <p:cNvSpPr txBox="1"/>
          <p:nvPr>
            <p:custDataLst>
              <p:tags r:id="rId7"/>
            </p:custDataLst>
          </p:nvPr>
        </p:nvSpPr>
        <p:spPr>
          <a:xfrm>
            <a:off x="9000976"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结论</a:t>
            </a:r>
          </a:p>
        </p:txBody>
      </p:sp>
      <p:sp>
        <p:nvSpPr>
          <p:cNvPr id="13" name="稻壳儿智宇https://www.docer.com/works?userid=328340712"/>
          <p:cNvSpPr/>
          <p:nvPr>
            <p:custDataLst>
              <p:tags r:id="rId8"/>
            </p:custDataLst>
          </p:nvPr>
        </p:nvSpPr>
        <p:spPr>
          <a:xfrm>
            <a:off x="3421860"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0" name="稻壳儿智宇https://www.docer.com/works?userid=328340712"/>
          <p:cNvSpPr/>
          <p:nvPr>
            <p:custDataLst>
              <p:tags r:id="rId9"/>
            </p:custDataLst>
          </p:nvPr>
        </p:nvSpPr>
        <p:spPr>
          <a:xfrm rot="2700000">
            <a:off x="4432918"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0" name="稻壳儿智宇https://www.docer.com/works?userid=328340712"/>
          <p:cNvSpPr/>
          <p:nvPr>
            <p:custDataLst>
              <p:tags r:id="rId10"/>
            </p:custDataLst>
          </p:nvPr>
        </p:nvSpPr>
        <p:spPr>
          <a:xfrm rot="2700000">
            <a:off x="4333776"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2" name="稻壳儿智宇https://www.docer.com/works?userid=328340712"/>
          <p:cNvSpPr/>
          <p:nvPr>
            <p:custDataLst>
              <p:tags r:id="rId11"/>
            </p:custDataLst>
          </p:nvPr>
        </p:nvSpPr>
        <p:spPr>
          <a:xfrm>
            <a:off x="4358728" y="3162290"/>
            <a:ext cx="640862" cy="474128"/>
          </a:xfrm>
          <a:prstGeom prst="round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02</a:t>
            </a:r>
          </a:p>
        </p:txBody>
      </p:sp>
      <p:sp>
        <p:nvSpPr>
          <p:cNvPr id="51" name="稻壳儿智宇https://www.docer.com/works?userid=328340712"/>
          <p:cNvSpPr txBox="1"/>
          <p:nvPr>
            <p:custDataLst>
              <p:tags r:id="rId12"/>
            </p:custDataLst>
          </p:nvPr>
        </p:nvSpPr>
        <p:spPr>
          <a:xfrm>
            <a:off x="3376459"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框架设计</a:t>
            </a:r>
          </a:p>
        </p:txBody>
      </p:sp>
      <p:sp>
        <p:nvSpPr>
          <p:cNvPr id="14" name="稻壳儿智宇https://www.docer.com/works?userid=328340712"/>
          <p:cNvSpPr/>
          <p:nvPr>
            <p:custDataLst>
              <p:tags r:id="rId13"/>
            </p:custDataLst>
          </p:nvPr>
        </p:nvSpPr>
        <p:spPr>
          <a:xfrm>
            <a:off x="6237949"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2" name="稻壳儿智宇https://www.docer.com/works?userid=328340712"/>
          <p:cNvSpPr/>
          <p:nvPr>
            <p:custDataLst>
              <p:tags r:id="rId14"/>
            </p:custDataLst>
          </p:nvPr>
        </p:nvSpPr>
        <p:spPr>
          <a:xfrm rot="2700000">
            <a:off x="7251489"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3" name="稻壳儿智宇https://www.docer.com/works?userid=328340712"/>
          <p:cNvSpPr/>
          <p:nvPr>
            <p:custDataLst>
              <p:tags r:id="rId15"/>
            </p:custDataLst>
          </p:nvPr>
        </p:nvSpPr>
        <p:spPr>
          <a:xfrm rot="2700000">
            <a:off x="7152347"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5" name="稻壳儿智宇https://www.docer.com/works?userid=328340712"/>
          <p:cNvSpPr/>
          <p:nvPr>
            <p:custDataLst>
              <p:tags r:id="rId16"/>
            </p:custDataLst>
          </p:nvPr>
        </p:nvSpPr>
        <p:spPr>
          <a:xfrm>
            <a:off x="7177299" y="3162290"/>
            <a:ext cx="640862" cy="474128"/>
          </a:xfrm>
          <a:prstGeom prst="round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03</a:t>
            </a:r>
          </a:p>
        </p:txBody>
      </p:sp>
      <p:sp>
        <p:nvSpPr>
          <p:cNvPr id="54" name="稻壳儿智宇https://www.docer.com/works?userid=328340712"/>
          <p:cNvSpPr txBox="1"/>
          <p:nvPr>
            <p:custDataLst>
              <p:tags r:id="rId17"/>
            </p:custDataLst>
          </p:nvPr>
        </p:nvSpPr>
        <p:spPr>
          <a:xfrm>
            <a:off x="6188717"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实验结果</a:t>
            </a:r>
          </a:p>
        </p:txBody>
      </p:sp>
      <p:sp>
        <p:nvSpPr>
          <p:cNvPr id="12" name="稻壳儿智宇https://www.docer.com/works?userid=328340712"/>
          <p:cNvSpPr/>
          <p:nvPr>
            <p:custDataLst>
              <p:tags r:id="rId18"/>
            </p:custDataLst>
          </p:nvPr>
        </p:nvSpPr>
        <p:spPr>
          <a:xfrm>
            <a:off x="613433"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59" name="稻壳儿智宇https://www.docer.com/works?userid=328340712"/>
          <p:cNvSpPr/>
          <p:nvPr>
            <p:custDataLst>
              <p:tags r:id="rId19"/>
            </p:custDataLst>
          </p:nvPr>
        </p:nvSpPr>
        <p:spPr>
          <a:xfrm rot="2700000">
            <a:off x="1614346"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6" name="稻壳儿智宇https://www.docer.com/works?userid=328340712"/>
          <p:cNvSpPr/>
          <p:nvPr>
            <p:custDataLst>
              <p:tags r:id="rId20"/>
            </p:custDataLst>
          </p:nvPr>
        </p:nvSpPr>
        <p:spPr>
          <a:xfrm rot="2700000">
            <a:off x="1515204"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8" name="稻壳儿智宇https://www.docer.com/works?userid=328340712"/>
          <p:cNvSpPr/>
          <p:nvPr>
            <p:custDataLst>
              <p:tags r:id="rId21"/>
            </p:custDataLst>
          </p:nvPr>
        </p:nvSpPr>
        <p:spPr>
          <a:xfrm>
            <a:off x="1540156" y="3162290"/>
            <a:ext cx="640862" cy="47412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01</a:t>
            </a:r>
          </a:p>
        </p:txBody>
      </p:sp>
      <p:sp>
        <p:nvSpPr>
          <p:cNvPr id="48" name="稻壳儿智宇https://www.docer.com/works?userid=328340712"/>
          <p:cNvSpPr txBox="1"/>
          <p:nvPr>
            <p:custDataLst>
              <p:tags r:id="rId22"/>
            </p:custDataLst>
          </p:nvPr>
        </p:nvSpPr>
        <p:spPr>
          <a:xfrm>
            <a:off x="564201"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绪论</a:t>
            </a:r>
          </a:p>
        </p:txBody>
      </p:sp>
      <p:cxnSp>
        <p:nvCxnSpPr>
          <p:cNvPr id="19" name="稻壳儿智宇https://www.docer.com/works?userid=328340712" hidden="1"/>
          <p:cNvCxnSpPr/>
          <p:nvPr>
            <p:custDataLst>
              <p:tags r:id="rId23"/>
            </p:custDataLst>
          </p:nvPr>
        </p:nvCxnSpPr>
        <p:spPr>
          <a:xfrm flipH="1">
            <a:off x="613433" y="1680244"/>
            <a:ext cx="1096896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TextBox 4">
            <a:extLst>
              <a:ext uri="{FF2B5EF4-FFF2-40B4-BE49-F238E27FC236}">
                <a16:creationId xmlns:a16="http://schemas.microsoft.com/office/drawing/2014/main" id="{EB684C7E-20A7-9694-F2D4-694B922B40F4}"/>
              </a:ext>
            </a:extLst>
          </p:cNvPr>
          <p:cNvSpPr txBox="1"/>
          <p:nvPr/>
        </p:nvSpPr>
        <p:spPr>
          <a:xfrm>
            <a:off x="0" y="0"/>
            <a:ext cx="453650" cy="123111"/>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行业</a:t>
            </a:r>
            <a:r>
              <a:rPr kumimoji="0" lang="en-US" altLang="zh-CN"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PPT</a:t>
            </a:r>
            <a:r>
              <a:rPr kumimoji="0" lang="zh-CN" altLang="en-US"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模板</a:t>
            </a:r>
            <a:r>
              <a:rPr kumimoji="0" lang="en-US" altLang="zh-CN"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http://www.1ppt.com/hangye/</a:t>
            </a:r>
          </a:p>
        </p:txBody>
      </p:sp>
      <p:pic>
        <p:nvPicPr>
          <p:cNvPr id="6" name="图片 5">
            <a:extLst>
              <a:ext uri="{FF2B5EF4-FFF2-40B4-BE49-F238E27FC236}">
                <a16:creationId xmlns:a16="http://schemas.microsoft.com/office/drawing/2014/main" id="{9F607593-D368-C89E-0479-A4BA7C9D81F0}"/>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8237424" y="934321"/>
            <a:ext cx="3707965" cy="67932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稻壳儿智宇https://www.docer.com/works?userid=328340712"/>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01</a:t>
            </a:r>
          </a:p>
        </p:txBody>
      </p:sp>
      <p:sp>
        <p:nvSpPr>
          <p:cNvPr id="19" name="稻壳儿智宇https://www.docer.com/works?userid=328340712"/>
          <p:cNvSpPr>
            <a:spLocks noGrp="1"/>
          </p:cNvSpPr>
          <p:nvPr>
            <p:ph type="body" sz="quarter" idx="12"/>
          </p:nvPr>
        </p:nvSpPr>
        <p:spPr>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绪论</a:t>
            </a:r>
          </a:p>
        </p:txBody>
      </p:sp>
      <p:sp>
        <p:nvSpPr>
          <p:cNvPr id="17" name="稻壳儿智宇https://www.docer.com/works?userid=328340712"/>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one</a:t>
            </a:r>
          </a:p>
        </p:txBody>
      </p:sp>
      <p:pic>
        <p:nvPicPr>
          <p:cNvPr id="2" name="图片 1">
            <a:extLst>
              <a:ext uri="{FF2B5EF4-FFF2-40B4-BE49-F238E27FC236}">
                <a16:creationId xmlns:a16="http://schemas.microsoft.com/office/drawing/2014/main" id="{FD380396-68BB-126C-EF92-2D1D40A9E8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稻壳儿智宇https://www.docer.com/works?userid=328340712"/>
          <p:cNvSpPr/>
          <p:nvPr>
            <p:custDataLst>
              <p:tags r:id="rId1"/>
            </p:custDataLst>
          </p:nvPr>
        </p:nvSpPr>
        <p:spPr>
          <a:xfrm rot="5400000">
            <a:off x="3188145" y="-2485436"/>
            <a:ext cx="5688332" cy="12064625"/>
          </a:xfrm>
          <a:custGeom>
            <a:avLst/>
            <a:gdLst>
              <a:gd name="connsiteX0" fmla="*/ 0 w 5504960"/>
              <a:gd name="connsiteY0" fmla="*/ 7599679 h 7599679"/>
              <a:gd name="connsiteX1" fmla="*/ 824598 w 5504960"/>
              <a:gd name="connsiteY1" fmla="*/ 0 h 7599679"/>
              <a:gd name="connsiteX2" fmla="*/ 4680362 w 5504960"/>
              <a:gd name="connsiteY2" fmla="*/ 0 h 7599679"/>
              <a:gd name="connsiteX3" fmla="*/ 5504960 w 5504960"/>
              <a:gd name="connsiteY3" fmla="*/ 7599679 h 7599679"/>
            </a:gdLst>
            <a:ahLst/>
            <a:cxnLst>
              <a:cxn ang="0">
                <a:pos x="connsiteX0" y="connsiteY0"/>
              </a:cxn>
              <a:cxn ang="0">
                <a:pos x="connsiteX1" y="connsiteY1"/>
              </a:cxn>
              <a:cxn ang="0">
                <a:pos x="connsiteX2" y="connsiteY2"/>
              </a:cxn>
              <a:cxn ang="0">
                <a:pos x="connsiteX3" y="connsiteY3"/>
              </a:cxn>
            </a:cxnLst>
            <a:rect l="l" t="t" r="r" b="b"/>
            <a:pathLst>
              <a:path w="5504960" h="7599679">
                <a:moveTo>
                  <a:pt x="0" y="7599679"/>
                </a:moveTo>
                <a:lnTo>
                  <a:pt x="824598" y="0"/>
                </a:lnTo>
                <a:lnTo>
                  <a:pt x="4680362" y="0"/>
                </a:lnTo>
                <a:lnTo>
                  <a:pt x="5504960" y="7599679"/>
                </a:lnTo>
                <a:close/>
              </a:path>
            </a:pathLst>
          </a:custGeom>
          <a:gradFill flip="none" rotWithShape="1">
            <a:gsLst>
              <a:gs pos="0">
                <a:srgbClr val="DDE4E8">
                  <a:lumMod val="20000"/>
                  <a:lumOff val="80000"/>
                </a:srgbClr>
              </a:gs>
              <a:gs pos="100000">
                <a:srgbClr val="DDE4E8">
                  <a:lumMod val="20000"/>
                  <a:lumOff val="80000"/>
                  <a:alpha val="5000"/>
                </a:srgbClr>
              </a:gs>
            </a:gsLst>
            <a:lin ang="54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微软雅黑"/>
              <a:ea typeface="微软雅黑"/>
              <a:sym typeface="微软雅黑"/>
            </a:endParaRPr>
          </a:p>
        </p:txBody>
      </p:sp>
      <p:sp>
        <p:nvSpPr>
          <p:cNvPr id="4" name="稻壳儿智宇https://www.docer.com/works?userid=328340712"/>
          <p:cNvSpPr>
            <a:spLocks noGrp="1"/>
          </p:cNvSpPr>
          <p:nvPr>
            <p:ph type="title"/>
          </p:nvPr>
        </p:nvSpPr>
        <p:spPr>
          <a:prstGeom prst="rect">
            <a:avLst/>
          </a:prstGeom>
        </p:spPr>
        <p:txBody>
          <a:bodyPr>
            <a:normAutofit/>
          </a:bodyPr>
          <a:lstStyle/>
          <a:p>
            <a:r>
              <a:rPr lang="en-US" altLang="zh-CN" dirty="0">
                <a:latin typeface="思源宋体" panose="02020400000000000000" pitchFamily="18" charset="-122"/>
                <a:ea typeface="思源宋体" panose="02020400000000000000" pitchFamily="18" charset="-122"/>
                <a:sym typeface="微软雅黑"/>
              </a:rPr>
              <a:t>01.</a:t>
            </a:r>
            <a:r>
              <a:rPr lang="zh-CN" altLang="en-US" dirty="0">
                <a:latin typeface="思源宋体" panose="02020400000000000000" pitchFamily="18" charset="-122"/>
                <a:ea typeface="思源宋体" panose="02020400000000000000" pitchFamily="18" charset="-122"/>
                <a:sym typeface="微软雅黑"/>
              </a:rPr>
              <a:t>多模态立场检测任务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6" name="稻壳儿智宇https://www.docer.com/works?userid=328340712"/>
          <p:cNvSpPr txBox="1"/>
          <p:nvPr>
            <p:custDataLst>
              <p:tags r:id="rId2"/>
            </p:custDataLst>
          </p:nvPr>
        </p:nvSpPr>
        <p:spPr>
          <a:xfrm>
            <a:off x="516700" y="1080118"/>
            <a:ext cx="6355156" cy="4193136"/>
          </a:xfrm>
          <a:prstGeom prst="rect">
            <a:avLst/>
          </a:prstGeom>
          <a:noFill/>
        </p:spPr>
        <p:txBody>
          <a:bodyPr wrap="square" rtlCol="0">
            <a:spAutoFit/>
          </a:bodyPr>
          <a:lstStyle/>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随着支持图文等多种形式内容的社交媒体平台的普及，多模态立场检测已成为理解公众意见的关键任务。多模态立场检测旨在通过综合分析文本与图像两种信息，识别出用户对于特定目标的所表达的态度。</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a:lnSpc>
                <a:spcPct val="150000"/>
              </a:lnSpc>
            </a:pP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当前，已有的多模态立场检测方法主要致力于提升模型提取多模态特征的能力或者利用大型语言模型的推理能力，通过微调来使模型适应任务、通过上下文学习或思维链来辅助立场判断。</a:t>
            </a:r>
            <a:endParaRPr lang="en-US" altLang="zh-CN" dirty="0">
              <a:solidFill>
                <a:schemeClr val="dk1"/>
              </a:solidFill>
              <a:latin typeface="思源宋体" panose="02020400000000000000" pitchFamily="18" charset="-122"/>
              <a:ea typeface="思源宋体" panose="02020400000000000000" pitchFamily="18" charset="-122"/>
              <a:sym typeface="微软雅黑"/>
            </a:endParaRPr>
          </a:p>
        </p:txBody>
      </p:sp>
      <p:pic>
        <p:nvPicPr>
          <p:cNvPr id="8" name="图片 7">
            <a:extLst>
              <a:ext uri="{FF2B5EF4-FFF2-40B4-BE49-F238E27FC236}">
                <a16:creationId xmlns:a16="http://schemas.microsoft.com/office/drawing/2014/main" id="{882ABB22-FB51-4AE7-1735-96B7C51487E2}"/>
              </a:ext>
            </a:extLst>
          </p:cNvPr>
          <p:cNvPicPr>
            <a:picLocks noChangeAspect="1"/>
          </p:cNvPicPr>
          <p:nvPr/>
        </p:nvPicPr>
        <p:blipFill>
          <a:blip r:embed="rId5">
            <a:extLst>
              <a:ext uri="{28A0092B-C50C-407E-A947-70E740481C1C}">
                <a14:useLocalDpi xmlns:a14="http://schemas.microsoft.com/office/drawing/2010/main" val="0"/>
              </a:ext>
            </a:extLst>
          </a:blip>
          <a:srcRect l="19823" t="8605" r="20969" b="3802"/>
          <a:stretch>
            <a:fillRect/>
          </a:stretch>
        </p:blipFill>
        <p:spPr>
          <a:xfrm>
            <a:off x="7320892" y="543323"/>
            <a:ext cx="4060469" cy="60071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83ED34-20A3-8854-512A-A49D6B603183}"/>
              </a:ext>
            </a:extLst>
          </p:cNvPr>
          <p:cNvSpPr>
            <a:spLocks noGrp="1"/>
          </p:cNvSpPr>
          <p:nvPr>
            <p:ph type="title"/>
          </p:nvPr>
        </p:nvSpPr>
        <p:spPr/>
        <p:txBody>
          <a:bodyPr/>
          <a:lstStyle/>
          <a:p>
            <a:r>
              <a:rPr kumimoji="0" lang="en-US" altLang="zh-CN" sz="2400" b="1" i="0" u="none" strike="noStrike" kern="1200" cap="none" spc="200" normalizeH="0" baseline="0" noProof="0" dirty="0">
                <a:ln>
                  <a:noFill/>
                </a:ln>
                <a:solidFill>
                  <a:srgbClr val="2B4663"/>
                </a:solidFill>
                <a:effectLst/>
                <a:uLnTx/>
                <a:uFillTx/>
                <a:latin typeface="思源宋体" panose="02020400000000000000" pitchFamily="18" charset="-122"/>
                <a:ea typeface="思源宋体" panose="02020400000000000000" pitchFamily="18" charset="-122"/>
                <a:cs typeface="+mj-cs"/>
                <a:sym typeface="微软雅黑"/>
              </a:rPr>
              <a:t>01.</a:t>
            </a:r>
            <a:r>
              <a:rPr lang="zh-CN" altLang="en-US" dirty="0">
                <a:solidFill>
                  <a:srgbClr val="2B4663"/>
                </a:solidFill>
                <a:latin typeface="思源宋体" panose="02020400000000000000" pitchFamily="18" charset="-122"/>
                <a:ea typeface="思源宋体" panose="02020400000000000000" pitchFamily="18" charset="-122"/>
                <a:sym typeface="微软雅黑"/>
              </a:rPr>
              <a:t> 从“跨模态融合”迈向“双过程推理”</a:t>
            </a:r>
            <a:endParaRPr lang="zh-CN" altLang="en-US" dirty="0"/>
          </a:p>
        </p:txBody>
      </p:sp>
      <p:sp>
        <p:nvSpPr>
          <p:cNvPr id="3" name="稻壳儿智宇https://www.docer.com/works?userid=328340712">
            <a:extLst>
              <a:ext uri="{FF2B5EF4-FFF2-40B4-BE49-F238E27FC236}">
                <a16:creationId xmlns:a16="http://schemas.microsoft.com/office/drawing/2014/main" id="{4D79A314-3C8E-AB13-14F6-BCA78C53098F}"/>
              </a:ext>
            </a:extLst>
          </p:cNvPr>
          <p:cNvSpPr txBox="1"/>
          <p:nvPr>
            <p:custDataLst>
              <p:tags r:id="rId1"/>
            </p:custDataLst>
          </p:nvPr>
        </p:nvSpPr>
        <p:spPr>
          <a:xfrm>
            <a:off x="436917" y="969042"/>
            <a:ext cx="5295974" cy="5116465"/>
          </a:xfrm>
          <a:prstGeom prst="rect">
            <a:avLst/>
          </a:prstGeom>
          <a:noFill/>
        </p:spPr>
        <p:txBody>
          <a:bodyPr wrap="square" rtlCol="0">
            <a:spAutoFit/>
          </a:bodyPr>
          <a:lstStyle/>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现有研究主要缺乏对模态信息价值的“上下文依赖性”和模态间语义关系的“动态性”的分析：</a:t>
            </a:r>
          </a:p>
          <a:p>
            <a:pPr marL="342900" indent="-342900">
              <a:lnSpc>
                <a:spcPct val="150000"/>
              </a:lnSpc>
              <a:buFont typeface="Wingdings" panose="05000000000000000000" pitchFamily="2" charset="2"/>
              <a:buChar char="Ø"/>
            </a:pPr>
            <a:r>
              <a:rPr lang="zh-CN" altLang="en-US" sz="2000" dirty="0">
                <a:solidFill>
                  <a:schemeClr val="dk1"/>
                </a:solidFill>
                <a:latin typeface="思源宋体" panose="02020400000000000000" pitchFamily="18" charset="-122"/>
                <a:ea typeface="思源宋体" panose="02020400000000000000" pitchFamily="18" charset="-122"/>
                <a:sym typeface="微软雅黑"/>
              </a:rPr>
              <a:t>单一模态信息的价值高度依赖于上下文。在某些情境下，独立的文本或图像可能含义模糊或与主题无关，无法为立场检测提供有效证据。</a:t>
            </a:r>
          </a:p>
          <a:p>
            <a:pPr marL="342900" indent="-342900">
              <a:lnSpc>
                <a:spcPct val="150000"/>
              </a:lnSpc>
              <a:buFont typeface="Wingdings" panose="05000000000000000000" pitchFamily="2" charset="2"/>
              <a:buChar char="Ø"/>
            </a:pPr>
            <a:r>
              <a:rPr lang="zh-CN" altLang="en-US" sz="2000" dirty="0">
                <a:solidFill>
                  <a:schemeClr val="dk1"/>
                </a:solidFill>
                <a:latin typeface="思源宋体" panose="02020400000000000000" pitchFamily="18" charset="-122"/>
                <a:ea typeface="思源宋体" panose="02020400000000000000" pitchFamily="18" charset="-122"/>
                <a:sym typeface="微软雅黑"/>
              </a:rPr>
              <a:t>模态间的语义关系并非固定不变，而是从互补到矛盾动态变化的。简单的特征对齐或融合策略难以驾驭这种复杂的相互作用。</a:t>
            </a:r>
          </a:p>
          <a:p>
            <a:pPr>
              <a:lnSpc>
                <a:spcPct val="150000"/>
              </a:lnSpc>
            </a:pPr>
            <a:endParaRPr lang="zh-CN" altLang="en-US" sz="2000" dirty="0">
              <a:solidFill>
                <a:schemeClr val="dk1"/>
              </a:solidFill>
              <a:latin typeface="思源宋体" panose="02020400000000000000" pitchFamily="18" charset="-122"/>
              <a:ea typeface="思源宋体" panose="02020400000000000000" pitchFamily="18" charset="-122"/>
              <a:sym typeface="微软雅黑"/>
            </a:endParaRPr>
          </a:p>
        </p:txBody>
      </p:sp>
      <p:pic>
        <p:nvPicPr>
          <p:cNvPr id="5" name="图片 4">
            <a:extLst>
              <a:ext uri="{FF2B5EF4-FFF2-40B4-BE49-F238E27FC236}">
                <a16:creationId xmlns:a16="http://schemas.microsoft.com/office/drawing/2014/main" id="{62D88CBA-0F6C-B042-DD15-4C74A0FBE3D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98777" y="771276"/>
            <a:ext cx="4523881" cy="5710886"/>
          </a:xfrm>
          <a:prstGeom prst="rect">
            <a:avLst/>
          </a:prstGeom>
        </p:spPr>
      </p:pic>
    </p:spTree>
    <p:extLst>
      <p:ext uri="{BB962C8B-B14F-4D97-AF65-F5344CB8AC3E}">
        <p14:creationId xmlns:p14="http://schemas.microsoft.com/office/powerpoint/2010/main" val="824158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6FCEC-2EA5-EE4D-6B03-9F5CDA0ED8B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9ED3648-F071-224B-C097-D9EB3C6E956C}"/>
              </a:ext>
            </a:extLst>
          </p:cNvPr>
          <p:cNvSpPr>
            <a:spLocks noGrp="1"/>
          </p:cNvSpPr>
          <p:nvPr>
            <p:ph type="title"/>
          </p:nvPr>
        </p:nvSpPr>
        <p:spPr/>
        <p:txBody>
          <a:bodyPr/>
          <a:lstStyle/>
          <a:p>
            <a:r>
              <a:rPr kumimoji="0" lang="en-US" altLang="zh-CN" sz="2400" b="1" i="0" u="none" strike="noStrike" kern="1200" cap="none" spc="200" normalizeH="0" baseline="0" noProof="0" dirty="0">
                <a:ln>
                  <a:noFill/>
                </a:ln>
                <a:solidFill>
                  <a:srgbClr val="2B4663"/>
                </a:solidFill>
                <a:effectLst/>
                <a:uLnTx/>
                <a:uFillTx/>
                <a:latin typeface="思源宋体" panose="02020400000000000000" pitchFamily="18" charset="-122"/>
                <a:ea typeface="思源宋体" panose="02020400000000000000" pitchFamily="18" charset="-122"/>
                <a:cs typeface="+mj-cs"/>
                <a:sym typeface="微软雅黑"/>
              </a:rPr>
              <a:t>01.</a:t>
            </a:r>
            <a:r>
              <a:rPr lang="zh-CN" altLang="en-US" dirty="0">
                <a:solidFill>
                  <a:srgbClr val="2B4663"/>
                </a:solidFill>
                <a:latin typeface="思源宋体" panose="02020400000000000000" pitchFamily="18" charset="-122"/>
                <a:ea typeface="思源宋体" panose="02020400000000000000" pitchFamily="18" charset="-122"/>
                <a:sym typeface="微软雅黑"/>
              </a:rPr>
              <a:t> 从“跨模态融合”迈向“双过程推理”</a:t>
            </a:r>
            <a:endParaRPr lang="zh-CN" altLang="en-US" dirty="0"/>
          </a:p>
        </p:txBody>
      </p:sp>
      <p:sp>
        <p:nvSpPr>
          <p:cNvPr id="4" name="AutoShape 7">
            <a:extLst>
              <a:ext uri="{FF2B5EF4-FFF2-40B4-BE49-F238E27FC236}">
                <a16:creationId xmlns:a16="http://schemas.microsoft.com/office/drawing/2014/main" id="{B9E360B8-FE51-EAB0-7E29-ABD99ADAFBEB}"/>
              </a:ext>
            </a:extLst>
          </p:cNvPr>
          <p:cNvSpPr/>
          <p:nvPr>
            <p:custDataLst>
              <p:tags r:id="rId1"/>
            </p:custDataLst>
          </p:nvPr>
        </p:nvSpPr>
        <p:spPr>
          <a:xfrm>
            <a:off x="6981273" y="4195862"/>
            <a:ext cx="4182343" cy="1342590"/>
          </a:xfrm>
          <a:prstGeom prst="roundRect">
            <a:avLst>
              <a:gd name="adj" fmla="val 10909"/>
            </a:avLst>
          </a:prstGeom>
          <a:solidFill>
            <a:schemeClr val="tx2"/>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7">
            <a:extLst>
              <a:ext uri="{FF2B5EF4-FFF2-40B4-BE49-F238E27FC236}">
                <a16:creationId xmlns:a16="http://schemas.microsoft.com/office/drawing/2014/main" id="{08492172-9BBF-42AC-6BAF-C89370EB4924}"/>
              </a:ext>
            </a:extLst>
          </p:cNvPr>
          <p:cNvSpPr/>
          <p:nvPr>
            <p:custDataLst>
              <p:tags r:id="rId2"/>
            </p:custDataLst>
          </p:nvPr>
        </p:nvSpPr>
        <p:spPr>
          <a:xfrm>
            <a:off x="6981908" y="1655711"/>
            <a:ext cx="4182344" cy="1290097"/>
          </a:xfrm>
          <a:prstGeom prst="roundRect">
            <a:avLst>
              <a:gd name="adj" fmla="val 10909"/>
            </a:avLst>
          </a:prstGeom>
          <a:solidFill>
            <a:schemeClr val="tx2"/>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3">
            <a:extLst>
              <a:ext uri="{FF2B5EF4-FFF2-40B4-BE49-F238E27FC236}">
                <a16:creationId xmlns:a16="http://schemas.microsoft.com/office/drawing/2014/main" id="{51DFFEB7-34F8-BC3C-228F-D2520A425793}"/>
              </a:ext>
            </a:extLst>
          </p:cNvPr>
          <p:cNvSpPr/>
          <p:nvPr>
            <p:custDataLst>
              <p:tags r:id="rId3"/>
            </p:custDataLst>
          </p:nvPr>
        </p:nvSpPr>
        <p:spPr>
          <a:xfrm>
            <a:off x="513797" y="1267059"/>
            <a:ext cx="4908993" cy="2161941"/>
          </a:xfrm>
          <a:prstGeom prst="roundRect">
            <a:avLst>
              <a:gd name="adj" fmla="val 8888"/>
            </a:avLst>
          </a:prstGeom>
          <a:solidFill>
            <a:srgbClr val="FFFFFF">
              <a:alpha val="100000"/>
            </a:srgbClr>
          </a:solidFill>
          <a:ln w="25400" cap="flat" cmpd="sng">
            <a:noFill/>
            <a:prstDash val="solid"/>
            <a:round/>
          </a:ln>
          <a:effectLst>
            <a:outerShdw blurRad="50800" dist="38100" dir="2700000" algn="tl" rotWithShape="0">
              <a:prstClr val="black">
                <a:alpha val="40000"/>
              </a:prstClr>
            </a:outerShdw>
          </a:effectLst>
        </p:spPr>
        <p:txBody>
          <a:bodyPr vert="horz" wrap="square" lIns="63500" tIns="63500" rIns="63500" bIns="63500" rtlCol="0" anchor="ctr"/>
          <a:lstStyle/>
          <a:p>
            <a:pPr algn="ctr">
              <a:defRPr/>
            </a:pPr>
            <a:endParaRPr sz="1600"/>
          </a:p>
        </p:txBody>
      </p:sp>
      <p:sp>
        <p:nvSpPr>
          <p:cNvPr id="8" name="AutoShape 4">
            <a:extLst>
              <a:ext uri="{FF2B5EF4-FFF2-40B4-BE49-F238E27FC236}">
                <a16:creationId xmlns:a16="http://schemas.microsoft.com/office/drawing/2014/main" id="{6402774F-8BD8-5D8F-C8B9-021A7DE36934}"/>
              </a:ext>
            </a:extLst>
          </p:cNvPr>
          <p:cNvSpPr/>
          <p:nvPr>
            <p:custDataLst>
              <p:tags r:id="rId4"/>
            </p:custDataLst>
          </p:nvPr>
        </p:nvSpPr>
        <p:spPr>
          <a:xfrm>
            <a:off x="636049" y="1368661"/>
            <a:ext cx="711200" cy="711200"/>
          </a:xfrm>
          <a:prstGeom prst="ellipse">
            <a:avLst/>
          </a:prstGeom>
          <a:solidFill>
            <a:schemeClr val="accent3">
              <a:lumMod val="20000"/>
              <a:lumOff val="80000"/>
            </a:schemeClr>
          </a:solidFill>
          <a:ln w="25400" cap="flat" cmpd="sng">
            <a:noFill/>
            <a:prstDash val="solid"/>
            <a:round/>
          </a:ln>
        </p:spPr>
        <p:txBody>
          <a:bodyPr vert="horz" wrap="square" lIns="63500" tIns="63500" rIns="63500" bIns="63500" rtlCol="0" anchor="ctr"/>
          <a:lstStyle/>
          <a:p>
            <a:pPr algn="ctr">
              <a:defRPr/>
            </a:pPr>
            <a:endParaRPr sz="1600"/>
          </a:p>
        </p:txBody>
      </p:sp>
      <p:pic>
        <p:nvPicPr>
          <p:cNvPr id="9" name="Picture 5">
            <a:extLst>
              <a:ext uri="{FF2B5EF4-FFF2-40B4-BE49-F238E27FC236}">
                <a16:creationId xmlns:a16="http://schemas.microsoft.com/office/drawing/2014/main" id="{E947CDEC-1BDB-DC84-5BFB-3F068B26C5E6}"/>
              </a:ext>
            </a:extLst>
          </p:cNvPr>
          <p:cNvPicPr>
            <a:picLocks noChangeAspect="1"/>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74631" y="1499435"/>
            <a:ext cx="406400" cy="406400"/>
          </a:xfrm>
          <a:prstGeom prst="rect">
            <a:avLst/>
          </a:prstGeom>
        </p:spPr>
      </p:pic>
      <p:sp>
        <p:nvSpPr>
          <p:cNvPr id="10" name="AutoShape 6">
            <a:extLst>
              <a:ext uri="{FF2B5EF4-FFF2-40B4-BE49-F238E27FC236}">
                <a16:creationId xmlns:a16="http://schemas.microsoft.com/office/drawing/2014/main" id="{7E1C4ADF-E9C9-A802-F2AB-6AC4BAF338AE}"/>
              </a:ext>
            </a:extLst>
          </p:cNvPr>
          <p:cNvSpPr/>
          <p:nvPr>
            <p:custDataLst>
              <p:tags r:id="rId6"/>
            </p:custDataLst>
          </p:nvPr>
        </p:nvSpPr>
        <p:spPr>
          <a:xfrm>
            <a:off x="1490980" y="1321635"/>
            <a:ext cx="339471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dirty="0">
                <a:solidFill>
                  <a:schemeClr val="dk1"/>
                </a:solidFill>
                <a:latin typeface="思源宋体" panose="02020400000000000000" pitchFamily="18" charset="-122"/>
                <a:ea typeface="思源宋体" panose="02020400000000000000" pitchFamily="18" charset="-122"/>
                <a:sym typeface="+mn-ea"/>
              </a:rPr>
              <a:t>系统一（直觉推理）</a:t>
            </a:r>
            <a:endParaRPr lang="en-US" altLang="zh-CN" b="1" dirty="0">
              <a:solidFill>
                <a:schemeClr val="dk1"/>
              </a:solidFill>
              <a:latin typeface="思源宋体" panose="02020400000000000000" pitchFamily="18" charset="-122"/>
              <a:ea typeface="思源宋体" panose="02020400000000000000" pitchFamily="18" charset="-122"/>
              <a:sym typeface="+mn-ea"/>
            </a:endParaRPr>
          </a:p>
        </p:txBody>
      </p:sp>
      <p:sp>
        <p:nvSpPr>
          <p:cNvPr id="11" name="AutoShape 7">
            <a:extLst>
              <a:ext uri="{FF2B5EF4-FFF2-40B4-BE49-F238E27FC236}">
                <a16:creationId xmlns:a16="http://schemas.microsoft.com/office/drawing/2014/main" id="{FDCFC262-56B3-7932-EDD5-0F02C3967C27}"/>
              </a:ext>
            </a:extLst>
          </p:cNvPr>
          <p:cNvSpPr/>
          <p:nvPr>
            <p:custDataLst>
              <p:tags r:id="rId7"/>
            </p:custDataLst>
          </p:nvPr>
        </p:nvSpPr>
        <p:spPr>
          <a:xfrm>
            <a:off x="1490980" y="1821042"/>
            <a:ext cx="3332480" cy="1173480"/>
          </a:xfrm>
          <a:prstGeom prst="rect">
            <a:avLst/>
          </a:prstGeom>
          <a:noFill/>
          <a:ln w="12700" cap="flat" cmpd="sng">
            <a:noFill/>
            <a:prstDash val="solid"/>
            <a:round/>
          </a:ln>
        </p:spPr>
        <p:txBody>
          <a:bodyPr vert="horz" wrap="square" lIns="0" tIns="0" rIns="0" bIns="0" rtlCol="0" anchor="ctr" anchorCtr="0"/>
          <a:lstStyle/>
          <a:p>
            <a:pPr marL="342900" indent="-342900">
              <a:lnSpc>
                <a:spcPct val="150000"/>
              </a:lnSpc>
              <a:buFont typeface="Arial" panose="020B0604020202020204" pitchFamily="34" charset="0"/>
              <a:buChar char="•"/>
            </a:pPr>
            <a:r>
              <a:rPr lang="zh-CN" altLang="en-US" dirty="0">
                <a:solidFill>
                  <a:schemeClr val="dk1"/>
                </a:solidFill>
                <a:latin typeface="思源宋体" panose="02020400000000000000" pitchFamily="18" charset="-122"/>
                <a:ea typeface="思源宋体" panose="02020400000000000000" pitchFamily="18" charset="-122"/>
              </a:rPr>
              <a:t>快速、自发且下意识</a:t>
            </a:r>
          </a:p>
          <a:p>
            <a:pPr marL="342900" indent="-342900">
              <a:lnSpc>
                <a:spcPct val="150000"/>
              </a:lnSpc>
              <a:buFont typeface="Arial" panose="020B0604020202020204" pitchFamily="34" charset="0"/>
              <a:buChar char="•"/>
            </a:pPr>
            <a:r>
              <a:rPr lang="zh-CN" altLang="en-US" dirty="0">
                <a:solidFill>
                  <a:schemeClr val="dk1"/>
                </a:solidFill>
                <a:latin typeface="思源宋体" panose="02020400000000000000" pitchFamily="18" charset="-122"/>
                <a:ea typeface="思源宋体" panose="02020400000000000000" pitchFamily="18" charset="-122"/>
              </a:rPr>
              <a:t>依托启发式思维与过往经验</a:t>
            </a:r>
          </a:p>
          <a:p>
            <a:pPr marL="342900" indent="-342900">
              <a:lnSpc>
                <a:spcPct val="150000"/>
              </a:lnSpc>
              <a:buFont typeface="Arial" panose="020B0604020202020204" pitchFamily="34" charset="0"/>
              <a:buChar char="•"/>
            </a:pPr>
            <a:r>
              <a:rPr lang="zh-CN" altLang="en-US" dirty="0">
                <a:solidFill>
                  <a:schemeClr val="dk1"/>
                </a:solidFill>
                <a:latin typeface="思源宋体" panose="02020400000000000000" pitchFamily="18" charset="-122"/>
                <a:ea typeface="思源宋体" panose="02020400000000000000" pitchFamily="18" charset="-122"/>
              </a:rPr>
              <a:t>快速形成初步推断</a:t>
            </a:r>
            <a:endParaRPr lang="en-US" dirty="0">
              <a:solidFill>
                <a:schemeClr val="dk1"/>
              </a:solidFill>
              <a:latin typeface="思源宋体" panose="02020400000000000000" pitchFamily="18" charset="-122"/>
              <a:ea typeface="思源宋体" panose="02020400000000000000" pitchFamily="18" charset="-122"/>
              <a:sym typeface="Noto Sans SC"/>
            </a:endParaRPr>
          </a:p>
        </p:txBody>
      </p:sp>
      <p:sp>
        <p:nvSpPr>
          <p:cNvPr id="12" name="AutoShape 8">
            <a:extLst>
              <a:ext uri="{FF2B5EF4-FFF2-40B4-BE49-F238E27FC236}">
                <a16:creationId xmlns:a16="http://schemas.microsoft.com/office/drawing/2014/main" id="{85E832E7-22A3-FABA-C545-848409BF89C6}"/>
              </a:ext>
            </a:extLst>
          </p:cNvPr>
          <p:cNvSpPr/>
          <p:nvPr>
            <p:custDataLst>
              <p:tags r:id="rId8"/>
            </p:custDataLst>
          </p:nvPr>
        </p:nvSpPr>
        <p:spPr>
          <a:xfrm>
            <a:off x="513798" y="3786188"/>
            <a:ext cx="4908992" cy="2161941"/>
          </a:xfrm>
          <a:prstGeom prst="roundRect">
            <a:avLst>
              <a:gd name="adj" fmla="val 8888"/>
            </a:avLst>
          </a:prstGeom>
          <a:solidFill>
            <a:srgbClr val="FFFFFF">
              <a:alpha val="100000"/>
            </a:srgbClr>
          </a:solidFill>
          <a:ln w="25400" cap="flat" cmpd="sng">
            <a:noFill/>
            <a:prstDash val="solid"/>
            <a:round/>
          </a:ln>
          <a:effectLst>
            <a:outerShdw blurRad="50800" dist="38100" dir="2700000" algn="tl" rotWithShape="0">
              <a:prstClr val="black">
                <a:alpha val="40000"/>
              </a:prstClr>
            </a:outerShdw>
          </a:effectLst>
        </p:spPr>
        <p:txBody>
          <a:bodyPr vert="horz" wrap="square" lIns="63500" tIns="63500" rIns="63500" bIns="63500" rtlCol="0" anchor="ctr"/>
          <a:lstStyle/>
          <a:p>
            <a:pPr algn="ctr">
              <a:defRPr/>
            </a:pPr>
            <a:endParaRPr sz="1600"/>
          </a:p>
        </p:txBody>
      </p:sp>
      <p:sp>
        <p:nvSpPr>
          <p:cNvPr id="13" name="AutoShape 9">
            <a:extLst>
              <a:ext uri="{FF2B5EF4-FFF2-40B4-BE49-F238E27FC236}">
                <a16:creationId xmlns:a16="http://schemas.microsoft.com/office/drawing/2014/main" id="{4459A6F0-1103-EDB3-44E3-8A6B6E0BD74B}"/>
              </a:ext>
            </a:extLst>
          </p:cNvPr>
          <p:cNvSpPr/>
          <p:nvPr>
            <p:custDataLst>
              <p:tags r:id="rId9"/>
            </p:custDataLst>
          </p:nvPr>
        </p:nvSpPr>
        <p:spPr>
          <a:xfrm>
            <a:off x="636049" y="3887705"/>
            <a:ext cx="711200" cy="711200"/>
          </a:xfrm>
          <a:prstGeom prst="ellipse">
            <a:avLst/>
          </a:prstGeom>
          <a:solidFill>
            <a:schemeClr val="accent3">
              <a:lumMod val="20000"/>
              <a:lumOff val="80000"/>
            </a:schemeClr>
          </a:solidFill>
          <a:ln w="25400" cap="flat" cmpd="sng">
            <a:noFill/>
            <a:prstDash val="solid"/>
            <a:round/>
          </a:ln>
        </p:spPr>
        <p:txBody>
          <a:bodyPr vert="horz" wrap="square" lIns="63500" tIns="63500" rIns="63500" bIns="63500" rtlCol="0" anchor="ctr"/>
          <a:lstStyle/>
          <a:p>
            <a:pPr algn="ctr">
              <a:defRPr/>
            </a:pPr>
            <a:endParaRPr sz="1600"/>
          </a:p>
        </p:txBody>
      </p:sp>
      <p:pic>
        <p:nvPicPr>
          <p:cNvPr id="14" name="Picture 10">
            <a:extLst>
              <a:ext uri="{FF2B5EF4-FFF2-40B4-BE49-F238E27FC236}">
                <a16:creationId xmlns:a16="http://schemas.microsoft.com/office/drawing/2014/main" id="{12877334-6C20-CC5E-9927-6942CFA71B33}"/>
              </a:ext>
            </a:extLst>
          </p:cNvPr>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88449" y="4021890"/>
            <a:ext cx="406400" cy="406400"/>
          </a:xfrm>
          <a:prstGeom prst="rect">
            <a:avLst/>
          </a:prstGeom>
        </p:spPr>
      </p:pic>
      <p:sp>
        <p:nvSpPr>
          <p:cNvPr id="15" name="AutoShape 11">
            <a:extLst>
              <a:ext uri="{FF2B5EF4-FFF2-40B4-BE49-F238E27FC236}">
                <a16:creationId xmlns:a16="http://schemas.microsoft.com/office/drawing/2014/main" id="{BAE230B8-DFD5-EA58-916D-4D6BBAB19F4C}"/>
              </a:ext>
            </a:extLst>
          </p:cNvPr>
          <p:cNvSpPr/>
          <p:nvPr>
            <p:custDataLst>
              <p:tags r:id="rId11"/>
            </p:custDataLst>
          </p:nvPr>
        </p:nvSpPr>
        <p:spPr>
          <a:xfrm>
            <a:off x="1480185" y="3863672"/>
            <a:ext cx="3354070" cy="381000"/>
          </a:xfrm>
          <a:prstGeom prst="rect">
            <a:avLst/>
          </a:prstGeom>
          <a:noFill/>
          <a:ln w="12700" cap="flat" cmpd="sng">
            <a:noFill/>
            <a:prstDash val="solid"/>
            <a:round/>
          </a:ln>
        </p:spPr>
        <p:txBody>
          <a:bodyPr vert="horz" wrap="square" lIns="0" tIns="0" rIns="0" bIns="0" rtlCol="0" anchor="ctr" anchorCtr="0"/>
          <a:lstStyle/>
          <a:p>
            <a:pPr marL="0" indent="0" algn="l">
              <a:lnSpc>
                <a:spcPts val="2400"/>
              </a:lnSpc>
              <a:spcBef>
                <a:spcPct val="0"/>
              </a:spcBef>
              <a:spcAft>
                <a:spcPct val="0"/>
              </a:spcAft>
              <a:buNone/>
            </a:pPr>
            <a:r>
              <a:rPr lang="zh-CN" altLang="en-US" b="1" dirty="0">
                <a:solidFill>
                  <a:schemeClr val="dk1"/>
                </a:solidFill>
                <a:latin typeface="思源宋体" panose="02020400000000000000" pitchFamily="18" charset="-122"/>
                <a:ea typeface="思源宋体" panose="02020400000000000000" pitchFamily="18" charset="-122"/>
                <a:sym typeface="+mn-ea"/>
              </a:rPr>
              <a:t>系统二（反思推理）</a:t>
            </a:r>
            <a:endParaRPr lang="en-US" altLang="zh-CN" b="1" dirty="0">
              <a:solidFill>
                <a:schemeClr val="dk1"/>
              </a:solidFill>
              <a:latin typeface="思源宋体" panose="02020400000000000000" pitchFamily="18" charset="-122"/>
              <a:ea typeface="思源宋体" panose="02020400000000000000" pitchFamily="18" charset="-122"/>
              <a:sym typeface="+mn-ea"/>
            </a:endParaRPr>
          </a:p>
        </p:txBody>
      </p:sp>
      <p:sp>
        <p:nvSpPr>
          <p:cNvPr id="16" name="AutoShape 12">
            <a:extLst>
              <a:ext uri="{FF2B5EF4-FFF2-40B4-BE49-F238E27FC236}">
                <a16:creationId xmlns:a16="http://schemas.microsoft.com/office/drawing/2014/main" id="{6C8123F5-4FA0-86CE-535A-BAB478B42F17}"/>
              </a:ext>
            </a:extLst>
          </p:cNvPr>
          <p:cNvSpPr/>
          <p:nvPr>
            <p:custDataLst>
              <p:tags r:id="rId12"/>
            </p:custDataLst>
          </p:nvPr>
        </p:nvSpPr>
        <p:spPr>
          <a:xfrm>
            <a:off x="1431759" y="4260132"/>
            <a:ext cx="3627120" cy="1522095"/>
          </a:xfrm>
          <a:prstGeom prst="rect">
            <a:avLst/>
          </a:prstGeom>
          <a:noFill/>
          <a:ln w="12700" cap="flat" cmpd="sng">
            <a:noFill/>
            <a:prstDash val="solid"/>
            <a:round/>
          </a:ln>
        </p:spPr>
        <p:txBody>
          <a:bodyPr vert="horz" wrap="square" lIns="0" tIns="0" rIns="0" bIns="0" rtlCol="0" anchor="ctr" anchorCtr="0"/>
          <a:lstStyle/>
          <a:p>
            <a:pPr marL="342900" indent="-342900">
              <a:lnSpc>
                <a:spcPct val="150000"/>
              </a:lnSpc>
              <a:buFont typeface="Arial" panose="020B0604020202020204" pitchFamily="34" charset="0"/>
              <a:buChar char="•"/>
            </a:pPr>
            <a:r>
              <a:rPr lang="zh-CN" altLang="en-US" dirty="0">
                <a:solidFill>
                  <a:schemeClr val="dk1"/>
                </a:solidFill>
                <a:latin typeface="思源宋体" panose="02020400000000000000" pitchFamily="18" charset="-122"/>
                <a:ea typeface="思源宋体" panose="02020400000000000000" pitchFamily="18" charset="-122"/>
              </a:rPr>
              <a:t>沉稳审慎、条理清晰、具备元认知思维</a:t>
            </a:r>
          </a:p>
          <a:p>
            <a:pPr marL="342900" indent="-342900">
              <a:lnSpc>
                <a:spcPct val="150000"/>
              </a:lnSpc>
              <a:buFont typeface="Arial" panose="020B0604020202020204" pitchFamily="34" charset="0"/>
              <a:buChar char="•"/>
            </a:pPr>
            <a:r>
              <a:rPr lang="zh-CN" altLang="en-US" dirty="0">
                <a:solidFill>
                  <a:schemeClr val="dk1"/>
                </a:solidFill>
                <a:latin typeface="思源宋体" panose="02020400000000000000" pitchFamily="18" charset="-122"/>
                <a:ea typeface="思源宋体" panose="02020400000000000000" pitchFamily="18" charset="-122"/>
              </a:rPr>
              <a:t>审视、修正并验证直觉思维</a:t>
            </a:r>
          </a:p>
          <a:p>
            <a:pPr marL="342900" indent="-342900">
              <a:lnSpc>
                <a:spcPct val="150000"/>
              </a:lnSpc>
              <a:buFont typeface="Arial" panose="020B0604020202020204" pitchFamily="34" charset="0"/>
              <a:buChar char="•"/>
            </a:pPr>
            <a:r>
              <a:rPr lang="zh-CN" altLang="en-US" dirty="0">
                <a:solidFill>
                  <a:schemeClr val="dk1"/>
                </a:solidFill>
                <a:latin typeface="思源宋体" panose="02020400000000000000" pitchFamily="18" charset="-122"/>
                <a:ea typeface="思源宋体" panose="02020400000000000000" pitchFamily="18" charset="-122"/>
              </a:rPr>
              <a:t>形成稳妥可靠的最终决策</a:t>
            </a:r>
            <a:endParaRPr lang="en-US" dirty="0">
              <a:solidFill>
                <a:schemeClr val="dk1"/>
              </a:solidFill>
              <a:latin typeface="思源宋体" panose="02020400000000000000" pitchFamily="18" charset="-122"/>
              <a:ea typeface="思源宋体" panose="02020400000000000000" pitchFamily="18" charset="-122"/>
              <a:sym typeface="Noto Sans SC"/>
            </a:endParaRPr>
          </a:p>
        </p:txBody>
      </p:sp>
      <p:sp>
        <p:nvSpPr>
          <p:cNvPr id="17" name="文本框 16">
            <a:extLst>
              <a:ext uri="{FF2B5EF4-FFF2-40B4-BE49-F238E27FC236}">
                <a16:creationId xmlns:a16="http://schemas.microsoft.com/office/drawing/2014/main" id="{0A0F760C-82E6-A708-5A64-8D3AB14A40D9}"/>
              </a:ext>
            </a:extLst>
          </p:cNvPr>
          <p:cNvSpPr txBox="1"/>
          <p:nvPr/>
        </p:nvSpPr>
        <p:spPr>
          <a:xfrm>
            <a:off x="6981273" y="1599400"/>
            <a:ext cx="4277774" cy="1290097"/>
          </a:xfrm>
          <a:prstGeom prst="rect">
            <a:avLst/>
          </a:prstGeom>
        </p:spPr>
        <p:txBody>
          <a:bodyPr wrap="square">
            <a:spAutoFit/>
          </a:bodyPr>
          <a:lstStyle/>
          <a:p>
            <a:pPr>
              <a:lnSpc>
                <a:spcPct val="150000"/>
              </a:lnSpc>
            </a:pPr>
            <a:r>
              <a:rPr lang="zh-CN" altLang="en-US" b="1" dirty="0">
                <a:solidFill>
                  <a:schemeClr val="dk1"/>
                </a:solidFill>
                <a:latin typeface="思源宋体" panose="02020400000000000000" pitchFamily="18" charset="-122"/>
                <a:ea typeface="思源宋体" panose="02020400000000000000" pitchFamily="18" charset="-122"/>
              </a:rPr>
              <a:t>经验驱动型直观推理</a:t>
            </a:r>
          </a:p>
          <a:p>
            <a:pPr>
              <a:lnSpc>
                <a:spcPct val="150000"/>
              </a:lnSpc>
            </a:pPr>
            <a:r>
              <a:rPr lang="zh-CN" altLang="en-US" dirty="0">
                <a:solidFill>
                  <a:schemeClr val="dk1"/>
                </a:solidFill>
                <a:latin typeface="思源宋体" panose="02020400000000000000" pitchFamily="18" charset="-122"/>
                <a:ea typeface="思源宋体" panose="02020400000000000000" pitchFamily="18" charset="-122"/>
              </a:rPr>
              <a:t>调用模态经验池和语义经验池快速生成初始立场假设</a:t>
            </a:r>
            <a:endParaRPr lang="en-US" altLang="zh-CN" dirty="0">
              <a:solidFill>
                <a:schemeClr val="dk1"/>
              </a:solidFill>
              <a:latin typeface="思源宋体" panose="02020400000000000000" pitchFamily="18" charset="-122"/>
              <a:ea typeface="思源宋体" panose="02020400000000000000" pitchFamily="18" charset="-122"/>
            </a:endParaRPr>
          </a:p>
        </p:txBody>
      </p:sp>
      <p:sp>
        <p:nvSpPr>
          <p:cNvPr id="19" name="文本框 18">
            <a:extLst>
              <a:ext uri="{FF2B5EF4-FFF2-40B4-BE49-F238E27FC236}">
                <a16:creationId xmlns:a16="http://schemas.microsoft.com/office/drawing/2014/main" id="{E4573E1A-84A1-1F12-7DD3-F8F5497240C2}"/>
              </a:ext>
            </a:extLst>
          </p:cNvPr>
          <p:cNvSpPr txBox="1"/>
          <p:nvPr/>
        </p:nvSpPr>
        <p:spPr>
          <a:xfrm>
            <a:off x="6981273" y="4225090"/>
            <a:ext cx="4086943" cy="1294585"/>
          </a:xfrm>
          <a:prstGeom prst="rect">
            <a:avLst/>
          </a:prstGeom>
          <a:noFill/>
        </p:spPr>
        <p:txBody>
          <a:bodyPr wrap="square" rtlCol="0">
            <a:spAutoFit/>
          </a:bodyPr>
          <a:lstStyle/>
          <a:p>
            <a:pPr>
              <a:lnSpc>
                <a:spcPct val="150000"/>
              </a:lnSpc>
            </a:pPr>
            <a:r>
              <a:rPr lang="zh-CN" altLang="en-US" b="1" dirty="0">
                <a:solidFill>
                  <a:schemeClr val="dk1"/>
                </a:solidFill>
                <a:latin typeface="思源宋体" panose="02020400000000000000" pitchFamily="18" charset="-122"/>
                <a:ea typeface="思源宋体" panose="02020400000000000000" pitchFamily="18" charset="-122"/>
              </a:rPr>
              <a:t>元认知反思推理</a:t>
            </a:r>
          </a:p>
          <a:p>
            <a:pPr>
              <a:lnSpc>
                <a:spcPct val="150000"/>
              </a:lnSpc>
            </a:pPr>
            <a:r>
              <a:rPr lang="zh-CN" altLang="en-US" dirty="0">
                <a:solidFill>
                  <a:schemeClr val="dk1"/>
                </a:solidFill>
                <a:latin typeface="思源宋体" panose="02020400000000000000" pitchFamily="18" charset="-122"/>
                <a:ea typeface="思源宋体" panose="02020400000000000000" pitchFamily="18" charset="-122"/>
              </a:rPr>
              <a:t>模态思维链与语义思维链对经验库进行核验、优化与迭代升级</a:t>
            </a:r>
            <a:endParaRPr lang="en-US" altLang="zh-CN" dirty="0">
              <a:solidFill>
                <a:schemeClr val="dk1"/>
              </a:solidFill>
              <a:latin typeface="思源宋体" panose="02020400000000000000" pitchFamily="18" charset="-122"/>
              <a:ea typeface="思源宋体" panose="02020400000000000000" pitchFamily="18" charset="-122"/>
            </a:endParaRPr>
          </a:p>
        </p:txBody>
      </p:sp>
      <p:sp>
        <p:nvSpPr>
          <p:cNvPr id="20" name="右箭头 22">
            <a:extLst>
              <a:ext uri="{FF2B5EF4-FFF2-40B4-BE49-F238E27FC236}">
                <a16:creationId xmlns:a16="http://schemas.microsoft.com/office/drawing/2014/main" id="{D2669355-D2C4-2060-4DB2-B4B95E41AADD}"/>
              </a:ext>
            </a:extLst>
          </p:cNvPr>
          <p:cNvSpPr/>
          <p:nvPr/>
        </p:nvSpPr>
        <p:spPr>
          <a:xfrm>
            <a:off x="5961602" y="2173287"/>
            <a:ext cx="314325" cy="243205"/>
          </a:xfrm>
          <a:prstGeom prst="rightArrow">
            <a:avLst/>
          </a:prstGeom>
          <a:solidFill>
            <a:schemeClr val="accent2">
              <a:lumMod val="20000"/>
              <a:lumOff val="80000"/>
            </a:schemeClr>
          </a:solidFill>
          <a:ln w="19050">
            <a:solidFill>
              <a:schemeClr val="accent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右箭头 23">
            <a:extLst>
              <a:ext uri="{FF2B5EF4-FFF2-40B4-BE49-F238E27FC236}">
                <a16:creationId xmlns:a16="http://schemas.microsoft.com/office/drawing/2014/main" id="{5A12B662-8A4E-6F8B-0358-9E779845F78C}"/>
              </a:ext>
            </a:extLst>
          </p:cNvPr>
          <p:cNvSpPr/>
          <p:nvPr/>
        </p:nvSpPr>
        <p:spPr>
          <a:xfrm>
            <a:off x="5961601" y="4745555"/>
            <a:ext cx="314325" cy="243205"/>
          </a:xfrm>
          <a:prstGeom prst="rightArrow">
            <a:avLst/>
          </a:prstGeom>
          <a:solidFill>
            <a:schemeClr val="accent2">
              <a:lumMod val="20000"/>
              <a:lumOff val="80000"/>
            </a:schemeClr>
          </a:solidFill>
          <a:ln w="19050">
            <a:solidFill>
              <a:schemeClr val="accent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38735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稻壳儿智宇https://www.docer.com/works?userid=328340712"/>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02</a:t>
            </a:r>
          </a:p>
        </p:txBody>
      </p:sp>
      <p:sp>
        <p:nvSpPr>
          <p:cNvPr id="19" name="稻壳儿智宇https://www.docer.com/works?userid=328340712"/>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框架设计</a:t>
            </a:r>
          </a:p>
        </p:txBody>
      </p:sp>
      <p:sp>
        <p:nvSpPr>
          <p:cNvPr id="17" name="稻壳儿智宇https://www.docer.com/works?userid=328340712"/>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two</a:t>
            </a:r>
          </a:p>
        </p:txBody>
      </p:sp>
      <p:pic>
        <p:nvPicPr>
          <p:cNvPr id="3" name="图片 2">
            <a:extLst>
              <a:ext uri="{FF2B5EF4-FFF2-40B4-BE49-F238E27FC236}">
                <a16:creationId xmlns:a16="http://schemas.microsoft.com/office/drawing/2014/main" id="{F7841197-B3C6-971A-EE9A-E6EEF7B6D8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30C06-112F-6363-EB8E-CFBA508DFCB9}"/>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72361417-682A-C0E3-9480-E96B3C9BAB2C}"/>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框架设计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7" name="稻壳儿智宇https://www.docer.com/works?userid=328340712">
            <a:extLst>
              <a:ext uri="{FF2B5EF4-FFF2-40B4-BE49-F238E27FC236}">
                <a16:creationId xmlns:a16="http://schemas.microsoft.com/office/drawing/2014/main" id="{70922BCA-D757-C13F-1861-634EEBD783A9}"/>
              </a:ext>
            </a:extLst>
          </p:cNvPr>
          <p:cNvSpPr txBox="1"/>
          <p:nvPr>
            <p:custDataLst>
              <p:tags r:id="rId1"/>
            </p:custDataLst>
          </p:nvPr>
        </p:nvSpPr>
        <p:spPr>
          <a:xfrm>
            <a:off x="1432706" y="966169"/>
            <a:ext cx="1025922"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框架总览</a:t>
            </a:r>
          </a:p>
        </p:txBody>
      </p:sp>
      <p:sp>
        <p:nvSpPr>
          <p:cNvPr id="28" name="稻壳儿智宇https://www.docer.com/works?userid=328340712">
            <a:extLst>
              <a:ext uri="{FF2B5EF4-FFF2-40B4-BE49-F238E27FC236}">
                <a16:creationId xmlns:a16="http://schemas.microsoft.com/office/drawing/2014/main" id="{4F4E5F53-4A69-0665-9DCA-607079F81212}"/>
              </a:ext>
            </a:extLst>
          </p:cNvPr>
          <p:cNvSpPr txBox="1"/>
          <p:nvPr>
            <p:custDataLst>
              <p:tags r:id="rId2"/>
            </p:custDataLst>
          </p:nvPr>
        </p:nvSpPr>
        <p:spPr>
          <a:xfrm>
            <a:off x="825389" y="5174840"/>
            <a:ext cx="9609772" cy="143398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600" dirty="0">
                <a:solidFill>
                  <a:schemeClr val="dk1"/>
                </a:solidFill>
                <a:latin typeface="思源宋体" panose="02020400000000000000" pitchFamily="18" charset="-122"/>
                <a:ea typeface="思源宋体" panose="02020400000000000000" pitchFamily="18" charset="-122"/>
                <a:sym typeface="微软雅黑"/>
              </a:rPr>
              <a:t>ReMoD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框架受人类认知的双过程理论启发。它主要由三个核心组件构成：</a:t>
            </a:r>
          </a:p>
          <a:p>
            <a:pPr marL="285750" indent="-285750">
              <a:lnSpc>
                <a:spcPct val="150000"/>
              </a:lnSpc>
              <a:buFont typeface="Wingdings" panose="05000000000000000000" pitchFamily="2" charset="2"/>
              <a:buChar char="Ø"/>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多模态知识感知</a:t>
            </a:r>
            <a:r>
              <a:rPr lang="en-US" altLang="zh-CN" sz="1600" dirty="0">
                <a:solidFill>
                  <a:schemeClr val="dk1"/>
                </a:solidFill>
                <a:latin typeface="思源宋体" panose="02020400000000000000" pitchFamily="18" charset="-122"/>
                <a:ea typeface="思源宋体" panose="02020400000000000000" pitchFamily="18" charset="-122"/>
                <a:sym typeface="微软雅黑"/>
              </a:rPr>
              <a:t>: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负责深度提取和处理图文信息，构建语义基础。</a:t>
            </a:r>
          </a:p>
          <a:p>
            <a:pPr marL="285750" indent="-285750">
              <a:lnSpc>
                <a:spcPct val="150000"/>
              </a:lnSpc>
              <a:buFont typeface="Wingdings" panose="05000000000000000000" pitchFamily="2" charset="2"/>
              <a:buChar char="Ø"/>
            </a:pPr>
            <a:r>
              <a:rPr lang="zh-CN" altLang="en-US" sz="1600" dirty="0">
                <a:solidFill>
                  <a:schemeClr val="dk1"/>
                </a:solidFill>
                <a:latin typeface="思源宋体" panose="02020400000000000000" pitchFamily="18" charset="-122"/>
                <a:ea typeface="思源宋体" panose="02020400000000000000" pitchFamily="18" charset="-122"/>
                <a:sym typeface="微软雅黑"/>
              </a:rPr>
              <a:t>经验驱动的直觉推理</a:t>
            </a:r>
            <a:r>
              <a:rPr lang="en-US" altLang="zh-CN" sz="1600" dirty="0">
                <a:solidFill>
                  <a:schemeClr val="dk1"/>
                </a:solidFill>
                <a:latin typeface="思源宋体" panose="02020400000000000000" pitchFamily="18" charset="-122"/>
                <a:ea typeface="思源宋体" panose="02020400000000000000" pitchFamily="18" charset="-122"/>
                <a:sym typeface="微软雅黑"/>
              </a:rPr>
              <a:t>: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模拟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系统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1"</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的快速思考，利用经验池形成初始判断。</a:t>
            </a:r>
          </a:p>
          <a:p>
            <a:pPr marL="285750" indent="-285750">
              <a:lnSpc>
                <a:spcPct val="150000"/>
              </a:lnSpc>
              <a:buFont typeface="Wingdings" panose="05000000000000000000" pitchFamily="2" charset="2"/>
              <a:buChar char="Ø"/>
            </a:pPr>
            <a:r>
              <a:rPr lang="zh-CN" altLang="en-US" sz="1600" dirty="0">
                <a:solidFill>
                  <a:schemeClr val="dk1"/>
                </a:solidFill>
                <a:latin typeface="思源宋体" panose="02020400000000000000" pitchFamily="18" charset="-122"/>
                <a:ea typeface="思源宋体" panose="02020400000000000000" pitchFamily="18" charset="-122"/>
                <a:sym typeface="微软雅黑"/>
              </a:rPr>
              <a:t>深思熟虑的反思推理</a:t>
            </a:r>
            <a:r>
              <a:rPr lang="en-US" altLang="zh-CN" sz="1600" dirty="0">
                <a:solidFill>
                  <a:schemeClr val="dk1"/>
                </a:solidFill>
                <a:latin typeface="思源宋体" panose="02020400000000000000" pitchFamily="18" charset="-122"/>
                <a:ea typeface="思源宋体" panose="02020400000000000000" pitchFamily="18" charset="-122"/>
                <a:sym typeface="微软雅黑"/>
              </a:rPr>
              <a:t>: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模拟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系统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2"</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的慢速思考，对初始判断进行批判性审查和优化。</a:t>
            </a:r>
          </a:p>
        </p:txBody>
      </p:sp>
      <p:sp>
        <p:nvSpPr>
          <p:cNvPr id="26" name="稻壳儿智宇https://www.docer.com/works?userid=328340712">
            <a:extLst>
              <a:ext uri="{FF2B5EF4-FFF2-40B4-BE49-F238E27FC236}">
                <a16:creationId xmlns:a16="http://schemas.microsoft.com/office/drawing/2014/main" id="{9AC2B3B3-5E98-F8BE-5419-C542243891CA}"/>
              </a:ext>
            </a:extLst>
          </p:cNvPr>
          <p:cNvSpPr txBox="1"/>
          <p:nvPr>
            <p:custDataLst>
              <p:tags r:id="rId3"/>
            </p:custDataLst>
          </p:nvPr>
        </p:nvSpPr>
        <p:spPr>
          <a:xfrm>
            <a:off x="540191" y="671663"/>
            <a:ext cx="776286" cy="7963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2"/>
                </a:solidFill>
                <a:latin typeface="思源宋体" panose="02020400000000000000" pitchFamily="18" charset="-122"/>
                <a:ea typeface="思源宋体" panose="02020400000000000000" pitchFamily="18" charset="-122"/>
                <a:sym typeface="微软雅黑"/>
              </a:rPr>
              <a:t>01</a:t>
            </a:r>
          </a:p>
        </p:txBody>
      </p:sp>
      <p:pic>
        <p:nvPicPr>
          <p:cNvPr id="3" name="图片 2">
            <a:extLst>
              <a:ext uri="{FF2B5EF4-FFF2-40B4-BE49-F238E27FC236}">
                <a16:creationId xmlns:a16="http://schemas.microsoft.com/office/drawing/2014/main" id="{FBA6CF02-CB4A-5425-93A2-C5D5AFA9FA41}"/>
              </a:ext>
            </a:extLst>
          </p:cNvPr>
          <p:cNvPicPr>
            <a:picLocks noChangeAspect="1"/>
          </p:cNvPicPr>
          <p:nvPr/>
        </p:nvPicPr>
        <p:blipFill>
          <a:blip r:embed="rId6"/>
          <a:srcRect l="2607" t="3555" r="3138"/>
          <a:stretch>
            <a:fillRect/>
          </a:stretch>
        </p:blipFill>
        <p:spPr>
          <a:xfrm>
            <a:off x="691837" y="1320263"/>
            <a:ext cx="7352842" cy="3702923"/>
          </a:xfrm>
          <a:prstGeom prst="rect">
            <a:avLst/>
          </a:prstGeom>
        </p:spPr>
      </p:pic>
    </p:spTree>
    <p:extLst>
      <p:ext uri="{BB962C8B-B14F-4D97-AF65-F5344CB8AC3E}">
        <p14:creationId xmlns:p14="http://schemas.microsoft.com/office/powerpoint/2010/main" val="265119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43526-7347-B1F7-41E2-0090941B9E82}"/>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7AA7FE2C-EAA9-D5C8-5A5C-7562B714D5C1}"/>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框架设计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3" name="稻壳儿智宇https://www.docer.com/works?userid=328340712">
            <a:extLst>
              <a:ext uri="{FF2B5EF4-FFF2-40B4-BE49-F238E27FC236}">
                <a16:creationId xmlns:a16="http://schemas.microsoft.com/office/drawing/2014/main" id="{052E64D9-CD6A-2602-2C80-08E3ED95D10A}"/>
              </a:ext>
            </a:extLst>
          </p:cNvPr>
          <p:cNvSpPr txBox="1"/>
          <p:nvPr>
            <p:custDataLst>
              <p:tags r:id="rId1"/>
            </p:custDataLst>
          </p:nvPr>
        </p:nvSpPr>
        <p:spPr>
          <a:xfrm>
            <a:off x="1484587" y="1052675"/>
            <a:ext cx="1795363"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accent1"/>
                </a:solidFill>
                <a:latin typeface="思源宋体" panose="02020400000000000000" pitchFamily="18" charset="-122"/>
                <a:ea typeface="思源宋体" panose="02020400000000000000" pitchFamily="18" charset="-122"/>
                <a:sym typeface="微软雅黑"/>
              </a:rPr>
              <a:t>多模态感知模块</a:t>
            </a:r>
          </a:p>
        </p:txBody>
      </p:sp>
      <p:sp>
        <p:nvSpPr>
          <p:cNvPr id="24" name="稻壳儿智宇https://www.docer.com/works?userid=328340712">
            <a:extLst>
              <a:ext uri="{FF2B5EF4-FFF2-40B4-BE49-F238E27FC236}">
                <a16:creationId xmlns:a16="http://schemas.microsoft.com/office/drawing/2014/main" id="{F2EDF8FF-2C72-6354-FE54-977C0885F7BC}"/>
              </a:ext>
            </a:extLst>
          </p:cNvPr>
          <p:cNvSpPr txBox="1"/>
          <p:nvPr>
            <p:custDataLst>
              <p:tags r:id="rId2"/>
            </p:custDataLst>
          </p:nvPr>
        </p:nvSpPr>
        <p:spPr>
          <a:xfrm>
            <a:off x="691837" y="3267617"/>
            <a:ext cx="9609772" cy="291131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多模态知识感知模块是整个框架的基石，其目标是最大限度地从原始输入中提取结构化的语义信息，为后续的推理提供高质量的原料。这个过程分为两个并行的分支：</a:t>
            </a:r>
            <a:endParaRPr lang="en-US" altLang="zh-CN" sz="1600" dirty="0">
              <a:solidFill>
                <a:schemeClr val="dk1"/>
              </a:solidFill>
              <a:latin typeface="思源宋体" panose="02020400000000000000" pitchFamily="18" charset="-122"/>
              <a:ea typeface="思源宋体" panose="02020400000000000000" pitchFamily="18" charset="-122"/>
              <a:sym typeface="微软雅黑"/>
            </a:endParaRPr>
          </a:p>
          <a:p>
            <a:pPr marL="285750" indent="-285750">
              <a:lnSpc>
                <a:spcPct val="150000"/>
              </a:lnSpc>
              <a:buFont typeface="Wingdings" panose="05000000000000000000" pitchFamily="2" charset="2"/>
              <a:buChar char="ü"/>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在文本处理上，首先对输入文本进行命名实体识别，再利用这些实体作为索引，从外部知识库中检索相关的背景知识和详细描述。最后，将原始文本和检索到的背景知识融合，通过大型语言模型提炼成一份精炼的、包含核心信息的“文本知识摘要”。</a:t>
            </a:r>
            <a:endParaRPr lang="en-US" altLang="zh-CN" sz="1600" dirty="0">
              <a:solidFill>
                <a:schemeClr val="dk1"/>
              </a:solidFill>
              <a:latin typeface="思源宋体" panose="02020400000000000000" pitchFamily="18" charset="-122"/>
              <a:ea typeface="思源宋体" panose="02020400000000000000" pitchFamily="18" charset="-122"/>
              <a:sym typeface="微软雅黑"/>
            </a:endParaRPr>
          </a:p>
          <a:p>
            <a:pPr marL="285750" indent="-285750">
              <a:lnSpc>
                <a:spcPct val="150000"/>
              </a:lnSpc>
              <a:buFont typeface="Wingdings" panose="05000000000000000000" pitchFamily="2" charset="2"/>
              <a:buChar char="ü"/>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在视觉处理上，使用先进的</a:t>
            </a:r>
            <a:r>
              <a:rPr lang="en-US" altLang="zh-CN" sz="1600" dirty="0">
                <a:solidFill>
                  <a:schemeClr val="dk1"/>
                </a:solidFill>
                <a:latin typeface="思源宋体" panose="02020400000000000000" pitchFamily="18" charset="-122"/>
                <a:ea typeface="思源宋体" panose="02020400000000000000" pitchFamily="18" charset="-122"/>
                <a:sym typeface="微软雅黑"/>
              </a:rPr>
              <a:t>VLM</a:t>
            </a:r>
            <a:r>
              <a:rPr lang="zh-CN" altLang="en-US" sz="1600" dirty="0">
                <a:solidFill>
                  <a:schemeClr val="dk1"/>
                </a:solidFill>
                <a:latin typeface="思源宋体" panose="02020400000000000000" pitchFamily="18" charset="-122"/>
                <a:ea typeface="思源宋体" panose="02020400000000000000" pitchFamily="18" charset="-122"/>
                <a:sym typeface="微软雅黑"/>
              </a:rPr>
              <a:t>为图像生成详细的标题，再识别出图像中的所有关键视觉实体，随后和文本处理一样，提取出“图像知识摘要”。此外，还会利用</a:t>
            </a:r>
            <a:r>
              <a:rPr lang="en-US" altLang="zh-CN" sz="1600" dirty="0">
                <a:solidFill>
                  <a:schemeClr val="dk1"/>
                </a:solidFill>
                <a:latin typeface="思源宋体" panose="02020400000000000000" pitchFamily="18" charset="-122"/>
                <a:ea typeface="思源宋体" panose="02020400000000000000" pitchFamily="18" charset="-122"/>
                <a:sym typeface="微软雅黑"/>
              </a:rPr>
              <a:t>SAM</a:t>
            </a:r>
            <a:r>
              <a:rPr lang="zh-CN" altLang="en-US" sz="1600" dirty="0">
                <a:solidFill>
                  <a:schemeClr val="dk1"/>
                </a:solidFill>
                <a:latin typeface="思源宋体" panose="02020400000000000000" pitchFamily="18" charset="-122"/>
                <a:ea typeface="思源宋体" panose="02020400000000000000" pitchFamily="18" charset="-122"/>
                <a:sym typeface="微软雅黑"/>
              </a:rPr>
              <a:t>，对识别出的视觉实体进行精确的像素级分割，获取细粒度视觉信号。</a:t>
            </a:r>
          </a:p>
        </p:txBody>
      </p:sp>
      <p:sp>
        <p:nvSpPr>
          <p:cNvPr id="22" name="稻壳儿智宇https://www.docer.com/works?userid=328340712">
            <a:extLst>
              <a:ext uri="{FF2B5EF4-FFF2-40B4-BE49-F238E27FC236}">
                <a16:creationId xmlns:a16="http://schemas.microsoft.com/office/drawing/2014/main" id="{713FE5A2-9602-6FB8-80EC-23EA32D62F39}"/>
              </a:ext>
            </a:extLst>
          </p:cNvPr>
          <p:cNvSpPr txBox="1"/>
          <p:nvPr>
            <p:custDataLst>
              <p:tags r:id="rId3"/>
            </p:custDataLst>
          </p:nvPr>
        </p:nvSpPr>
        <p:spPr>
          <a:xfrm>
            <a:off x="559646" y="732806"/>
            <a:ext cx="813043"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1"/>
                </a:solidFill>
                <a:latin typeface="思源宋体" panose="02020400000000000000" pitchFamily="18" charset="-122"/>
                <a:ea typeface="思源宋体" panose="02020400000000000000" pitchFamily="18" charset="-122"/>
                <a:sym typeface="微软雅黑"/>
              </a:rPr>
              <a:t>02</a:t>
            </a:r>
          </a:p>
        </p:txBody>
      </p:sp>
      <p:pic>
        <p:nvPicPr>
          <p:cNvPr id="5" name="图片 4">
            <a:extLst>
              <a:ext uri="{FF2B5EF4-FFF2-40B4-BE49-F238E27FC236}">
                <a16:creationId xmlns:a16="http://schemas.microsoft.com/office/drawing/2014/main" id="{6299CCA6-4979-DEF0-E82F-4EEDF34C1469}"/>
              </a:ext>
            </a:extLst>
          </p:cNvPr>
          <p:cNvPicPr>
            <a:picLocks noChangeAspect="1"/>
          </p:cNvPicPr>
          <p:nvPr/>
        </p:nvPicPr>
        <p:blipFill>
          <a:blip r:embed="rId6"/>
          <a:srcRect l="2607" t="3555" r="3138" b="59225"/>
          <a:stretch>
            <a:fillRect/>
          </a:stretch>
        </p:blipFill>
        <p:spPr>
          <a:xfrm>
            <a:off x="559646" y="1502247"/>
            <a:ext cx="8353894" cy="1623575"/>
          </a:xfrm>
          <a:prstGeom prst="rect">
            <a:avLst/>
          </a:prstGeom>
        </p:spPr>
      </p:pic>
    </p:spTree>
    <p:extLst>
      <p:ext uri="{BB962C8B-B14F-4D97-AF65-F5344CB8AC3E}">
        <p14:creationId xmlns:p14="http://schemas.microsoft.com/office/powerpoint/2010/main" val="3317897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68DCD-C0BE-F11C-41AF-2C561490D3DC}"/>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3B79630B-CB04-8437-7C18-5ECD40BB0EC4}"/>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框架设计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19" name="稻壳儿智宇https://www.docer.com/works?userid=328340712">
            <a:extLst>
              <a:ext uri="{FF2B5EF4-FFF2-40B4-BE49-F238E27FC236}">
                <a16:creationId xmlns:a16="http://schemas.microsoft.com/office/drawing/2014/main" id="{7AD1D043-71EC-F12A-9F94-F39ED127CA46}"/>
              </a:ext>
            </a:extLst>
          </p:cNvPr>
          <p:cNvSpPr txBox="1"/>
          <p:nvPr>
            <p:custDataLst>
              <p:tags r:id="rId1"/>
            </p:custDataLst>
          </p:nvPr>
        </p:nvSpPr>
        <p:spPr>
          <a:xfrm>
            <a:off x="1564000" y="1006904"/>
            <a:ext cx="2821285"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经验驱动的直觉推理模块</a:t>
            </a:r>
          </a:p>
        </p:txBody>
      </p:sp>
      <p:sp>
        <p:nvSpPr>
          <p:cNvPr id="20" name="稻壳儿智宇https://www.docer.com/works?userid=328340712">
            <a:extLst>
              <a:ext uri="{FF2B5EF4-FFF2-40B4-BE49-F238E27FC236}">
                <a16:creationId xmlns:a16="http://schemas.microsoft.com/office/drawing/2014/main" id="{9A7F8A22-7966-8E8B-C66A-B32F0E2027B1}"/>
              </a:ext>
            </a:extLst>
          </p:cNvPr>
          <p:cNvSpPr txBox="1"/>
          <p:nvPr>
            <p:custDataLst>
              <p:tags r:id="rId2"/>
            </p:custDataLst>
          </p:nvPr>
        </p:nvSpPr>
        <p:spPr>
          <a:xfrm>
            <a:off x="691837" y="3752408"/>
            <a:ext cx="9868213" cy="291131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经验驱动的直觉推理模块旨在模拟人类基于经验的“系统</a:t>
            </a:r>
            <a:r>
              <a:rPr lang="en-US" altLang="zh-CN" sz="1600" dirty="0">
                <a:latin typeface="思源宋体" panose="02020400000000000000" pitchFamily="18" charset="-122"/>
                <a:ea typeface="思源宋体" panose="02020400000000000000" pitchFamily="18" charset="-122"/>
              </a:rPr>
              <a:t>1”</a:t>
            </a:r>
            <a:r>
              <a:rPr lang="zh-CN" altLang="en-US" sz="1600" dirty="0">
                <a:latin typeface="思源宋体" panose="02020400000000000000" pitchFamily="18" charset="-122"/>
                <a:ea typeface="思源宋体" panose="02020400000000000000" pitchFamily="18" charset="-122"/>
              </a:rPr>
              <a:t>快速反应。此阶段的核心是利用历史经验，迅速对当前的多模态信息形成一个初步的判断。</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两个核心的经验池：模态经验池：存储了关于“如何权衡不同模态”的经验；语义经验池：存储了关于“如何理解特定语义”的经验。</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当接收到新的图文输入时，会进行模态协同检索，即获取文本和图像的加权向量嵌入，从两个经验池中检索最相关的历史经验片段。</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智能体最后将当前感知到的知识（来自多模态感知模块）与检索到的经验（来自经验池）相结合，并被要求从三个独立的角度进行快速评估，生成包含预测和理由的“初始假设”，并将其传递给模块三进行深入反思。</a:t>
            </a:r>
            <a:endParaRPr lang="zh-CN" altLang="en-US" sz="1600" dirty="0">
              <a:solidFill>
                <a:schemeClr val="dk1"/>
              </a:solidFill>
              <a:latin typeface="思源宋体" panose="02020400000000000000" pitchFamily="18" charset="-122"/>
              <a:ea typeface="思源宋体" panose="02020400000000000000" pitchFamily="18" charset="-122"/>
              <a:sym typeface="微软雅黑"/>
            </a:endParaRPr>
          </a:p>
        </p:txBody>
      </p:sp>
      <p:sp>
        <p:nvSpPr>
          <p:cNvPr id="18" name="稻壳儿智宇https://www.docer.com/works?userid=328340712">
            <a:extLst>
              <a:ext uri="{FF2B5EF4-FFF2-40B4-BE49-F238E27FC236}">
                <a16:creationId xmlns:a16="http://schemas.microsoft.com/office/drawing/2014/main" id="{1A9DD918-F915-1324-BFC6-057F85D0D035}"/>
              </a:ext>
            </a:extLst>
          </p:cNvPr>
          <p:cNvSpPr txBox="1"/>
          <p:nvPr>
            <p:custDataLst>
              <p:tags r:id="rId3"/>
            </p:custDataLst>
          </p:nvPr>
        </p:nvSpPr>
        <p:spPr>
          <a:xfrm>
            <a:off x="598557" y="689626"/>
            <a:ext cx="813043"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2"/>
                </a:solidFill>
                <a:latin typeface="思源宋体" panose="02020400000000000000" pitchFamily="18" charset="-122"/>
                <a:ea typeface="思源宋体" panose="02020400000000000000" pitchFamily="18" charset="-122"/>
                <a:sym typeface="微软雅黑"/>
              </a:rPr>
              <a:t>03</a:t>
            </a:r>
          </a:p>
        </p:txBody>
      </p:sp>
      <p:pic>
        <p:nvPicPr>
          <p:cNvPr id="5" name="图片 4">
            <a:extLst>
              <a:ext uri="{FF2B5EF4-FFF2-40B4-BE49-F238E27FC236}">
                <a16:creationId xmlns:a16="http://schemas.microsoft.com/office/drawing/2014/main" id="{78EB68CC-52CE-1C26-3E2C-B59A8FDDBA77}"/>
              </a:ext>
            </a:extLst>
          </p:cNvPr>
          <p:cNvPicPr>
            <a:picLocks noChangeAspect="1"/>
          </p:cNvPicPr>
          <p:nvPr/>
        </p:nvPicPr>
        <p:blipFill>
          <a:blip r:embed="rId7"/>
          <a:srcRect l="3477" t="40804" r="61228" b="754"/>
          <a:stretch>
            <a:fillRect/>
          </a:stretch>
        </p:blipFill>
        <p:spPr>
          <a:xfrm>
            <a:off x="691837" y="1459067"/>
            <a:ext cx="2753382" cy="2243847"/>
          </a:xfrm>
          <a:prstGeom prst="rect">
            <a:avLst/>
          </a:prstGeom>
        </p:spPr>
      </p:pic>
      <p:pic>
        <p:nvPicPr>
          <p:cNvPr id="2" name="图片 1">
            <a:extLst>
              <a:ext uri="{FF2B5EF4-FFF2-40B4-BE49-F238E27FC236}">
                <a16:creationId xmlns:a16="http://schemas.microsoft.com/office/drawing/2014/main" id="{FB3BF0AA-1440-4FC6-29D3-25C258BFAAE0}"/>
              </a:ext>
            </a:extLst>
          </p:cNvPr>
          <p:cNvPicPr>
            <a:picLocks noChangeAspect="1"/>
          </p:cNvPicPr>
          <p:nvPr/>
        </p:nvPicPr>
        <p:blipFill>
          <a:blip r:embed="rId7"/>
          <a:srcRect l="82980" t="40532" r="3138"/>
          <a:stretch>
            <a:fillRect/>
          </a:stretch>
        </p:blipFill>
        <p:spPr>
          <a:xfrm>
            <a:off x="4446374" y="1419686"/>
            <a:ext cx="1082918" cy="2283228"/>
          </a:xfrm>
          <a:prstGeom prst="rect">
            <a:avLst/>
          </a:prstGeom>
        </p:spPr>
      </p:pic>
      <p:sp>
        <p:nvSpPr>
          <p:cNvPr id="6" name="稻壳儿智宇https://www.docer.com/works?userid=328340712">
            <a:extLst>
              <a:ext uri="{FF2B5EF4-FFF2-40B4-BE49-F238E27FC236}">
                <a16:creationId xmlns:a16="http://schemas.microsoft.com/office/drawing/2014/main" id="{AB8BF8C4-54D4-E738-6672-112F74E2B4DA}"/>
              </a:ext>
            </a:extLst>
          </p:cNvPr>
          <p:cNvSpPr txBox="1"/>
          <p:nvPr>
            <p:custDataLst>
              <p:tags r:id="rId4"/>
            </p:custDataLst>
          </p:nvPr>
        </p:nvSpPr>
        <p:spPr>
          <a:xfrm>
            <a:off x="3562571" y="2446168"/>
            <a:ext cx="766450" cy="289053"/>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en-US" altLang="zh-CN" sz="1600" dirty="0">
                <a:solidFill>
                  <a:schemeClr val="dk1"/>
                </a:solidFill>
                <a:latin typeface="思源宋体" panose="02020400000000000000" pitchFamily="18" charset="-122"/>
                <a:ea typeface="思源宋体" panose="02020400000000000000" pitchFamily="18" charset="-122"/>
                <a:sym typeface="微软雅黑"/>
              </a:rPr>
              <a:t>……</a:t>
            </a:r>
            <a:endParaRPr lang="zh-CN" altLang="en-US" sz="1600" dirty="0">
              <a:solidFill>
                <a:schemeClr val="dk1"/>
              </a:solidFill>
              <a:latin typeface="思源宋体" panose="02020400000000000000" pitchFamily="18" charset="-122"/>
              <a:ea typeface="思源宋体" panose="02020400000000000000" pitchFamily="18" charset="-122"/>
              <a:sym typeface="微软雅黑"/>
            </a:endParaRPr>
          </a:p>
        </p:txBody>
      </p:sp>
    </p:spTree>
    <p:extLst>
      <p:ext uri="{BB962C8B-B14F-4D97-AF65-F5344CB8AC3E}">
        <p14:creationId xmlns:p14="http://schemas.microsoft.com/office/powerpoint/2010/main" val="238724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84E78-BD0D-6019-2A58-1C2A30E8D4E9}"/>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40BD6B07-3BB2-6F54-7C87-76AEEDA5E279}"/>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框架设计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0" name="稻壳儿智宇https://www.docer.com/works?userid=328340712">
            <a:extLst>
              <a:ext uri="{FF2B5EF4-FFF2-40B4-BE49-F238E27FC236}">
                <a16:creationId xmlns:a16="http://schemas.microsoft.com/office/drawing/2014/main" id="{D72B8A51-46DD-8699-697D-90388A1D1128}"/>
              </a:ext>
            </a:extLst>
          </p:cNvPr>
          <p:cNvSpPr txBox="1"/>
          <p:nvPr>
            <p:custDataLst>
              <p:tags r:id="rId1"/>
            </p:custDataLst>
          </p:nvPr>
        </p:nvSpPr>
        <p:spPr>
          <a:xfrm>
            <a:off x="691837" y="3794223"/>
            <a:ext cx="9609772" cy="291131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深思熟虑的反思推理模块是模拟“系统</a:t>
            </a:r>
            <a:r>
              <a:rPr lang="en-US" altLang="zh-CN" sz="1600" dirty="0">
                <a:latin typeface="思源宋体" panose="02020400000000000000" pitchFamily="18" charset="-122"/>
                <a:ea typeface="思源宋体" panose="02020400000000000000" pitchFamily="18" charset="-122"/>
              </a:rPr>
              <a:t>2”</a:t>
            </a:r>
            <a:r>
              <a:rPr lang="zh-CN" altLang="en-US" sz="1600" dirty="0">
                <a:latin typeface="思源宋体" panose="02020400000000000000" pitchFamily="18" charset="-122"/>
                <a:ea typeface="思源宋体" panose="02020400000000000000" pitchFamily="18" charset="-122"/>
              </a:rPr>
              <a:t>的关键，它负责对“系统</a:t>
            </a:r>
            <a:r>
              <a:rPr lang="en-US" altLang="zh-CN" sz="1600" dirty="0">
                <a:latin typeface="思源宋体" panose="02020400000000000000" pitchFamily="18" charset="-122"/>
                <a:ea typeface="思源宋体" panose="02020400000000000000" pitchFamily="18" charset="-122"/>
              </a:rPr>
              <a:t>1”</a:t>
            </a:r>
            <a:r>
              <a:rPr lang="zh-CN" altLang="en-US" sz="1600" dirty="0">
                <a:latin typeface="思源宋体" panose="02020400000000000000" pitchFamily="18" charset="-122"/>
                <a:ea typeface="思源宋体" panose="02020400000000000000" pitchFamily="18" charset="-122"/>
              </a:rPr>
              <a:t> 提出的直觉假设进行批判性的审查、验证和优化。这一过程通过两种思维链反思机制来实现：</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模态思维链：评估不同模态在形成初始判断时的贡献和可靠性。智能体反思获得的新见解随后被用来更新模态经验池 。</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语义思维链：深入挖掘图文之间的复杂语义关系和上下文逻辑。智能体的反思会提炼出对特定“语义模式”的深刻理解，并用来更新语义经验池 。</a:t>
            </a: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通过这两个思维链过程，系统不仅得出了一个经过深思熟虑的最终结论，更重要的是，它将反思中学到的经验反哺回经验池，形成了一个持续学习和自我优化的闭环。</a:t>
            </a:r>
            <a:endParaRPr lang="zh-CN" altLang="en-US" sz="1600" dirty="0">
              <a:solidFill>
                <a:schemeClr val="dk1"/>
              </a:solidFill>
              <a:latin typeface="思源宋体" panose="02020400000000000000" pitchFamily="18" charset="-122"/>
              <a:ea typeface="思源宋体" panose="02020400000000000000" pitchFamily="18" charset="-122"/>
              <a:sym typeface="微软雅黑"/>
            </a:endParaRPr>
          </a:p>
        </p:txBody>
      </p:sp>
      <p:pic>
        <p:nvPicPr>
          <p:cNvPr id="3" name="图片 2">
            <a:extLst>
              <a:ext uri="{FF2B5EF4-FFF2-40B4-BE49-F238E27FC236}">
                <a16:creationId xmlns:a16="http://schemas.microsoft.com/office/drawing/2014/main" id="{440ED2C0-730B-C396-89C0-A1CB85CB8FB6}"/>
              </a:ext>
            </a:extLst>
          </p:cNvPr>
          <p:cNvPicPr>
            <a:picLocks noChangeAspect="1"/>
          </p:cNvPicPr>
          <p:nvPr/>
        </p:nvPicPr>
        <p:blipFill>
          <a:blip r:embed="rId6"/>
          <a:srcRect l="39084" t="40439" r="3138" b="-1585"/>
          <a:stretch>
            <a:fillRect/>
          </a:stretch>
        </p:blipFill>
        <p:spPr>
          <a:xfrm>
            <a:off x="691837" y="1446615"/>
            <a:ext cx="4507259" cy="2347608"/>
          </a:xfrm>
          <a:prstGeom prst="rect">
            <a:avLst/>
          </a:prstGeom>
        </p:spPr>
      </p:pic>
      <p:sp>
        <p:nvSpPr>
          <p:cNvPr id="2" name="稻壳儿智宇https://www.docer.com/works?userid=328340712">
            <a:extLst>
              <a:ext uri="{FF2B5EF4-FFF2-40B4-BE49-F238E27FC236}">
                <a16:creationId xmlns:a16="http://schemas.microsoft.com/office/drawing/2014/main" id="{31750AF7-4C3A-DA08-C8B6-62F998F794A4}"/>
              </a:ext>
            </a:extLst>
          </p:cNvPr>
          <p:cNvSpPr txBox="1"/>
          <p:nvPr>
            <p:custDataLst>
              <p:tags r:id="rId2"/>
            </p:custDataLst>
          </p:nvPr>
        </p:nvSpPr>
        <p:spPr>
          <a:xfrm>
            <a:off x="1497557" y="983195"/>
            <a:ext cx="2821285"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深思熟虑的反思推理模块</a:t>
            </a:r>
          </a:p>
        </p:txBody>
      </p:sp>
      <p:sp>
        <p:nvSpPr>
          <p:cNvPr id="6" name="稻壳儿智宇https://www.docer.com/works?userid=328340712">
            <a:extLst>
              <a:ext uri="{FF2B5EF4-FFF2-40B4-BE49-F238E27FC236}">
                <a16:creationId xmlns:a16="http://schemas.microsoft.com/office/drawing/2014/main" id="{B3E36A4B-855D-293C-9C68-C766DBCE78BE}"/>
              </a:ext>
            </a:extLst>
          </p:cNvPr>
          <p:cNvSpPr txBox="1"/>
          <p:nvPr>
            <p:custDataLst>
              <p:tags r:id="rId3"/>
            </p:custDataLst>
          </p:nvPr>
        </p:nvSpPr>
        <p:spPr>
          <a:xfrm>
            <a:off x="559646" y="677174"/>
            <a:ext cx="811441"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2"/>
                </a:solidFill>
                <a:latin typeface="思源宋体" panose="02020400000000000000" pitchFamily="18" charset="-122"/>
                <a:ea typeface="思源宋体" panose="02020400000000000000" pitchFamily="18" charset="-122"/>
                <a:sym typeface="微软雅黑"/>
              </a:rPr>
              <a:t>04</a:t>
            </a:r>
          </a:p>
        </p:txBody>
      </p:sp>
    </p:spTree>
    <p:extLst>
      <p:ext uri="{BB962C8B-B14F-4D97-AF65-F5344CB8AC3E}">
        <p14:creationId xmlns:p14="http://schemas.microsoft.com/office/powerpoint/2010/main" val="2411902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B8106-7D41-35A0-6DF5-1A52BB131FFB}"/>
            </a:ext>
          </a:extLst>
        </p:cNvPr>
        <p:cNvGrpSpPr/>
        <p:nvPr/>
      </p:nvGrpSpPr>
      <p:grpSpPr>
        <a:xfrm>
          <a:off x="0" y="0"/>
          <a:ext cx="0" cy="0"/>
          <a:chOff x="0" y="0"/>
          <a:chExt cx="0" cy="0"/>
        </a:xfrm>
      </p:grpSpPr>
      <p:sp>
        <p:nvSpPr>
          <p:cNvPr id="16" name="稻壳儿智宇https://www.docer.com/works?userid=328340712">
            <a:extLst>
              <a:ext uri="{FF2B5EF4-FFF2-40B4-BE49-F238E27FC236}">
                <a16:creationId xmlns:a16="http://schemas.microsoft.com/office/drawing/2014/main" id="{FFD041F0-5CA3-4AE7-50DC-5C5BA4ECAECD}"/>
              </a:ext>
            </a:extLst>
          </p:cNvPr>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03</a:t>
            </a:r>
          </a:p>
        </p:txBody>
      </p:sp>
      <p:sp>
        <p:nvSpPr>
          <p:cNvPr id="19" name="稻壳儿智宇https://www.docer.com/works?userid=328340712">
            <a:extLst>
              <a:ext uri="{FF2B5EF4-FFF2-40B4-BE49-F238E27FC236}">
                <a16:creationId xmlns:a16="http://schemas.microsoft.com/office/drawing/2014/main" id="{51B7EC9F-86C7-0959-3920-91B0E5B6E750}"/>
              </a:ext>
            </a:extLst>
          </p:cNvPr>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实验结果</a:t>
            </a:r>
          </a:p>
        </p:txBody>
      </p:sp>
      <p:sp>
        <p:nvSpPr>
          <p:cNvPr id="17" name="稻壳儿智宇https://www.docer.com/works?userid=328340712">
            <a:extLst>
              <a:ext uri="{FF2B5EF4-FFF2-40B4-BE49-F238E27FC236}">
                <a16:creationId xmlns:a16="http://schemas.microsoft.com/office/drawing/2014/main" id="{BEBBF60D-29A2-79EE-5072-796C7BD2D6FF}"/>
              </a:ext>
            </a:extLst>
          </p:cNvPr>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Three</a:t>
            </a:r>
          </a:p>
        </p:txBody>
      </p:sp>
      <p:pic>
        <p:nvPicPr>
          <p:cNvPr id="3" name="图片 2">
            <a:extLst>
              <a:ext uri="{FF2B5EF4-FFF2-40B4-BE49-F238E27FC236}">
                <a16:creationId xmlns:a16="http://schemas.microsoft.com/office/drawing/2014/main" id="{CD8D1F05-EE8F-9455-C935-653E0C1399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extLst>
      <p:ext uri="{BB962C8B-B14F-4D97-AF65-F5344CB8AC3E}">
        <p14:creationId xmlns:p14="http://schemas.microsoft.com/office/powerpoint/2010/main" val="2085366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0DB6F-574E-D2B6-D3C8-5D9B8B69795D}"/>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311E8D78-0831-7C78-53C5-2A7F499D57C9}"/>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solidFill>
                  <a:schemeClr val="accent1"/>
                </a:solidFill>
                <a:latin typeface="思源宋体" panose="02020400000000000000" pitchFamily="18" charset="-122"/>
                <a:ea typeface="思源宋体" panose="02020400000000000000" pitchFamily="18" charset="-122"/>
                <a:sym typeface="微软雅黑"/>
              </a:rPr>
              <a:t>实验设置</a:t>
            </a:r>
          </a:p>
        </p:txBody>
      </p:sp>
      <p:sp>
        <p:nvSpPr>
          <p:cNvPr id="69" name="稻壳儿智宇https://www.docer.com/works?userid=328340712">
            <a:extLst>
              <a:ext uri="{FF2B5EF4-FFF2-40B4-BE49-F238E27FC236}">
                <a16:creationId xmlns:a16="http://schemas.microsoft.com/office/drawing/2014/main" id="{B57A8A9E-5A1E-08E3-3347-ED18013E3EA7}"/>
              </a:ext>
            </a:extLst>
          </p:cNvPr>
          <p:cNvSpPr txBox="1"/>
          <p:nvPr/>
        </p:nvSpPr>
        <p:spPr>
          <a:xfrm flipH="1">
            <a:off x="1152066" y="1113733"/>
            <a:ext cx="4775879" cy="328064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选择使用 </a:t>
            </a: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MMSD</a:t>
            </a:r>
            <a:r>
              <a:rPr lang="en-US" altLang="zh-CN" sz="1600" dirty="0">
                <a:latin typeface="思源宋体" panose="02020400000000000000" pitchFamily="18" charset="-122"/>
                <a:ea typeface="思源宋体" panose="02020400000000000000" pitchFamily="18" charset="-122"/>
              </a:rPr>
              <a:t> </a:t>
            </a:r>
            <a:r>
              <a:rPr lang="zh-CN" altLang="en-US" sz="1600" dirty="0">
                <a:latin typeface="思源宋体" panose="02020400000000000000" pitchFamily="18" charset="-122"/>
                <a:ea typeface="思源宋体" panose="02020400000000000000" pitchFamily="18" charset="-122"/>
              </a:rPr>
              <a:t>数据集测试该框架的性能。</a:t>
            </a: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该数据集包含五个不同的领域：</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COVID-CQ (MCCQ)</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Russo-Ukrainian Conflict (MRUC)</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Taiwan Question (MTWQ)</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Twitter Stance Election 2020 (MTSE) </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Will-They-Won’t-They (MWTWT)</a:t>
            </a:r>
            <a:endParaRPr lang="zh-CN" altLang="en-US" sz="1600" dirty="0">
              <a:latin typeface="Times New Roman" panose="02020603050405020304" pitchFamily="18" charset="0"/>
              <a:ea typeface="思源宋体" panose="02020400000000000000" pitchFamily="18" charset="-122"/>
              <a:cs typeface="Times New Roman" panose="02020603050405020304" pitchFamily="18" charset="0"/>
            </a:endParaRPr>
          </a:p>
          <a:p>
            <a:pPr>
              <a:lnSpc>
                <a:spcPct val="150000"/>
              </a:lnSpc>
            </a:pPr>
            <a:r>
              <a:rPr lang="zh-CN" altLang="en-US" sz="1600" dirty="0">
                <a:latin typeface="思源宋体" panose="02020400000000000000" pitchFamily="18" charset="-122"/>
                <a:ea typeface="思源宋体" panose="02020400000000000000" pitchFamily="18" charset="-122"/>
              </a:rPr>
              <a:t>遵循数据集论文中的评测方法，采用 </a:t>
            </a: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Macro-F1 </a:t>
            </a:r>
            <a:r>
              <a:rPr lang="zh-CN" altLang="en-US" sz="1600" dirty="0">
                <a:latin typeface="思源宋体" panose="02020400000000000000" pitchFamily="18" charset="-122"/>
                <a:ea typeface="思源宋体" panose="02020400000000000000" pitchFamily="18" charset="-122"/>
              </a:rPr>
              <a:t>作为主要指标进行评测。</a:t>
            </a:r>
            <a:endParaRPr lang="en-US" altLang="zh-CN" sz="1600" dirty="0">
              <a:latin typeface="思源宋体" panose="02020400000000000000" pitchFamily="18" charset="-122"/>
              <a:ea typeface="思源宋体" panose="02020400000000000000" pitchFamily="18" charset="-122"/>
            </a:endParaRPr>
          </a:p>
        </p:txBody>
      </p:sp>
      <p:pic>
        <p:nvPicPr>
          <p:cNvPr id="8" name="图片 7">
            <a:extLst>
              <a:ext uri="{FF2B5EF4-FFF2-40B4-BE49-F238E27FC236}">
                <a16:creationId xmlns:a16="http://schemas.microsoft.com/office/drawing/2014/main" id="{94E9AFA9-AC2A-AAB2-D537-68E6AC65652D}"/>
              </a:ext>
            </a:extLst>
          </p:cNvPr>
          <p:cNvPicPr>
            <a:picLocks noChangeAspect="1"/>
          </p:cNvPicPr>
          <p:nvPr/>
        </p:nvPicPr>
        <p:blipFill>
          <a:blip r:embed="rId3"/>
          <a:stretch>
            <a:fillRect/>
          </a:stretch>
        </p:blipFill>
        <p:spPr>
          <a:xfrm>
            <a:off x="6769151" y="1037470"/>
            <a:ext cx="3818762" cy="4415668"/>
          </a:xfrm>
          <a:prstGeom prst="rect">
            <a:avLst/>
          </a:prstGeom>
        </p:spPr>
      </p:pic>
    </p:spTree>
    <p:custDataLst>
      <p:tags r:id="rId1"/>
    </p:custDataLst>
    <p:extLst>
      <p:ext uri="{BB962C8B-B14F-4D97-AF65-F5344CB8AC3E}">
        <p14:creationId xmlns:p14="http://schemas.microsoft.com/office/powerpoint/2010/main" val="262211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4BB0A-F15F-7401-29D3-EBA447A44ACF}"/>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EB492DCA-4AC9-E9C3-36FA-B7F98B48568B}"/>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实验结果：主实验</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 name="稻壳儿智宇https://www.docer.com/works?userid=328340712">
            <a:extLst>
              <a:ext uri="{FF2B5EF4-FFF2-40B4-BE49-F238E27FC236}">
                <a16:creationId xmlns:a16="http://schemas.microsoft.com/office/drawing/2014/main" id="{2C6BA645-B4C7-EC31-6271-ED95E829E341}"/>
              </a:ext>
            </a:extLst>
          </p:cNvPr>
          <p:cNvSpPr txBox="1"/>
          <p:nvPr>
            <p:custDataLst>
              <p:tags r:id="rId1"/>
            </p:custDataLst>
          </p:nvPr>
        </p:nvSpPr>
        <p:spPr>
          <a:xfrm>
            <a:off x="844237" y="5171773"/>
            <a:ext cx="9711369" cy="1425477"/>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在多个场景中，相对于大多数基线模型，包括 </a:t>
            </a:r>
            <a:r>
              <a:rPr lang="en-US" altLang="zh-CN" sz="1600" dirty="0">
                <a:latin typeface="思源宋体" panose="02020400000000000000" pitchFamily="18" charset="-122"/>
                <a:ea typeface="思源宋体" panose="02020400000000000000" pitchFamily="18" charset="-122"/>
              </a:rPr>
              <a:t>GPT4 </a:t>
            </a:r>
            <a:r>
              <a:rPr lang="zh-CN" altLang="en-US" sz="1600" dirty="0">
                <a:latin typeface="思源宋体" panose="02020400000000000000" pitchFamily="18" charset="-122"/>
                <a:ea typeface="思源宋体" panose="02020400000000000000" pitchFamily="18" charset="-122"/>
              </a:rPr>
              <a:t>和 </a:t>
            </a:r>
            <a:r>
              <a:rPr lang="en-US" altLang="zh-CN" sz="1600" dirty="0">
                <a:latin typeface="思源宋体" panose="02020400000000000000" pitchFamily="18" charset="-122"/>
                <a:ea typeface="思源宋体" panose="02020400000000000000" pitchFamily="18" charset="-122"/>
              </a:rPr>
              <a:t>GPT4-Vision </a:t>
            </a:r>
            <a:r>
              <a:rPr lang="zh-CN" altLang="en-US" sz="1600" dirty="0">
                <a:latin typeface="思源宋体" panose="02020400000000000000" pitchFamily="18" charset="-122"/>
                <a:ea typeface="思源宋体" panose="02020400000000000000" pitchFamily="18" charset="-122"/>
              </a:rPr>
              <a:t>等强大的大型语言模型，都取得了具有竞争力的性能。虽然 </a:t>
            </a:r>
            <a:r>
              <a:rPr lang="en-US" altLang="zh-CN" sz="1600" dirty="0" err="1">
                <a:latin typeface="思源宋体" panose="02020400000000000000" pitchFamily="18" charset="-122"/>
                <a:ea typeface="思源宋体" panose="02020400000000000000" pitchFamily="18" charset="-122"/>
              </a:rPr>
              <a:t>TMPT+CoT</a:t>
            </a:r>
            <a:r>
              <a:rPr lang="en-US" altLang="zh-CN" sz="1600" dirty="0">
                <a:latin typeface="思源宋体" panose="02020400000000000000" pitchFamily="18" charset="-122"/>
                <a:ea typeface="思源宋体" panose="02020400000000000000" pitchFamily="18" charset="-122"/>
              </a:rPr>
              <a:t> </a:t>
            </a:r>
            <a:r>
              <a:rPr lang="zh-CN" altLang="en-US" sz="1600" dirty="0">
                <a:latin typeface="思源宋体" panose="02020400000000000000" pitchFamily="18" charset="-122"/>
                <a:ea typeface="思源宋体" panose="02020400000000000000" pitchFamily="18" charset="-122"/>
              </a:rPr>
              <a:t>在某些目标上表现出更强的结果，但它依赖于使用 </a:t>
            </a:r>
            <a:r>
              <a:rPr lang="en-US" altLang="zh-CN" sz="1600" dirty="0">
                <a:latin typeface="思源宋体" panose="02020400000000000000" pitchFamily="18" charset="-122"/>
                <a:ea typeface="思源宋体" panose="02020400000000000000" pitchFamily="18" charset="-122"/>
              </a:rPr>
              <a:t>GPT4 </a:t>
            </a:r>
            <a:r>
              <a:rPr lang="zh-CN" altLang="en-US" sz="1600" dirty="0">
                <a:latin typeface="思源宋体" panose="02020400000000000000" pitchFamily="18" charset="-122"/>
                <a:ea typeface="思源宋体" panose="02020400000000000000" pitchFamily="18" charset="-122"/>
              </a:rPr>
              <a:t>生成的思维链示例进行训练。相比之下，</a:t>
            </a: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凭借利用累积经验进行自适应模态贡献重新思考，凸显了其无需训练的优势。</a:t>
            </a:r>
            <a:endParaRPr lang="en-US" altLang="zh-CN" sz="1600" dirty="0">
              <a:latin typeface="思源宋体" panose="02020400000000000000" pitchFamily="18" charset="-122"/>
              <a:ea typeface="思源宋体" panose="02020400000000000000" pitchFamily="18" charset="-122"/>
            </a:endParaRPr>
          </a:p>
        </p:txBody>
      </p:sp>
      <p:pic>
        <p:nvPicPr>
          <p:cNvPr id="6" name="图片 5">
            <a:extLst>
              <a:ext uri="{FF2B5EF4-FFF2-40B4-BE49-F238E27FC236}">
                <a16:creationId xmlns:a16="http://schemas.microsoft.com/office/drawing/2014/main" id="{7AEB111F-8EC6-A07B-A343-AEB1ADA4A742}"/>
              </a:ext>
            </a:extLst>
          </p:cNvPr>
          <p:cNvPicPr>
            <a:picLocks noChangeAspect="1"/>
          </p:cNvPicPr>
          <p:nvPr/>
        </p:nvPicPr>
        <p:blipFill>
          <a:blip r:embed="rId3"/>
          <a:stretch>
            <a:fillRect/>
          </a:stretch>
        </p:blipFill>
        <p:spPr>
          <a:xfrm>
            <a:off x="691837" y="702709"/>
            <a:ext cx="7828707" cy="4423619"/>
          </a:xfrm>
          <a:prstGeom prst="rect">
            <a:avLst/>
          </a:prstGeom>
        </p:spPr>
      </p:pic>
    </p:spTree>
    <p:extLst>
      <p:ext uri="{BB962C8B-B14F-4D97-AF65-F5344CB8AC3E}">
        <p14:creationId xmlns:p14="http://schemas.microsoft.com/office/powerpoint/2010/main" val="806270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E9986-44A6-DCE9-A115-9830E2629E80}"/>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E5DB5627-F0A1-0030-1C83-8185422CE13F}"/>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实验结果：主实验</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8" name="稻壳儿智宇https://www.docer.com/works?userid=328340712">
            <a:extLst>
              <a:ext uri="{FF2B5EF4-FFF2-40B4-BE49-F238E27FC236}">
                <a16:creationId xmlns:a16="http://schemas.microsoft.com/office/drawing/2014/main" id="{204349E4-2C33-64D9-E611-7EB8F5A74B49}"/>
              </a:ext>
            </a:extLst>
          </p:cNvPr>
          <p:cNvSpPr txBox="1"/>
          <p:nvPr>
            <p:custDataLst>
              <p:tags r:id="rId1"/>
            </p:custDataLst>
          </p:nvPr>
        </p:nvSpPr>
        <p:spPr>
          <a:xfrm>
            <a:off x="691837" y="5009987"/>
            <a:ext cx="9711369" cy="180331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如图所示，该结果揭示了依赖域内训练的模型的固有脆弱性。虽然 </a:t>
            </a:r>
            <a:r>
              <a:rPr lang="en-US" altLang="zh-CN" sz="1600" dirty="0">
                <a:latin typeface="思源宋体" panose="02020400000000000000" pitchFamily="18" charset="-122"/>
                <a:ea typeface="思源宋体" panose="02020400000000000000" pitchFamily="18" charset="-122"/>
              </a:rPr>
              <a:t>BERT </a:t>
            </a:r>
            <a:r>
              <a:rPr lang="zh-CN" altLang="en-US" sz="1600" dirty="0">
                <a:latin typeface="思源宋体" panose="02020400000000000000" pitchFamily="18" charset="-122"/>
                <a:ea typeface="思源宋体" panose="02020400000000000000" pitchFamily="18" charset="-122"/>
              </a:rPr>
              <a:t>和 </a:t>
            </a:r>
            <a:r>
              <a:rPr lang="en-US" altLang="zh-CN" sz="1600" dirty="0" err="1">
                <a:latin typeface="思源宋体" panose="02020400000000000000" pitchFamily="18" charset="-122"/>
                <a:ea typeface="思源宋体" panose="02020400000000000000" pitchFamily="18" charset="-122"/>
              </a:rPr>
              <a:t>RoBERTA</a:t>
            </a:r>
            <a:r>
              <a:rPr lang="en-US" altLang="zh-CN" sz="1600" dirty="0">
                <a:latin typeface="思源宋体" panose="02020400000000000000" pitchFamily="18" charset="-122"/>
                <a:ea typeface="思源宋体" panose="02020400000000000000" pitchFamily="18" charset="-122"/>
              </a:rPr>
              <a:t> </a:t>
            </a:r>
            <a:r>
              <a:rPr lang="zh-CN" altLang="en-US" sz="1600" dirty="0">
                <a:latin typeface="思源宋体" panose="02020400000000000000" pitchFamily="18" charset="-122"/>
                <a:ea typeface="思源宋体" panose="02020400000000000000" pitchFamily="18" charset="-122"/>
              </a:rPr>
              <a:t>等较小的架构性能急剧下降，但即使是 </a:t>
            </a:r>
            <a:r>
              <a:rPr lang="en-US" altLang="zh-CN" sz="1600" dirty="0">
                <a:latin typeface="思源宋体" panose="02020400000000000000" pitchFamily="18" charset="-122"/>
                <a:ea typeface="思源宋体" panose="02020400000000000000" pitchFamily="18" charset="-122"/>
              </a:rPr>
              <a:t>GPT4 </a:t>
            </a:r>
            <a:r>
              <a:rPr lang="zh-CN" altLang="en-US" sz="1600" dirty="0">
                <a:latin typeface="思源宋体" panose="02020400000000000000" pitchFamily="18" charset="-122"/>
                <a:ea typeface="思源宋体" panose="02020400000000000000" pitchFamily="18" charset="-122"/>
              </a:rPr>
              <a:t>和 </a:t>
            </a:r>
            <a:r>
              <a:rPr lang="en-US" altLang="zh-CN" sz="1600" dirty="0">
                <a:latin typeface="思源宋体" panose="02020400000000000000" pitchFamily="18" charset="-122"/>
                <a:ea typeface="思源宋体" panose="02020400000000000000" pitchFamily="18" charset="-122"/>
              </a:rPr>
              <a:t>GPT4-Vision </a:t>
            </a:r>
            <a:r>
              <a:rPr lang="zh-CN" altLang="en-US" sz="1600" dirty="0">
                <a:latin typeface="思源宋体" panose="02020400000000000000" pitchFamily="18" charset="-122"/>
                <a:ea typeface="思源宋体" panose="02020400000000000000" pitchFamily="18" charset="-122"/>
              </a:rPr>
              <a:t>这样强大的大型语言模型，在面对未见过的目标时，也表现出显著的性能波动。这强调了当前范式的一个根本局限：真正的零样本泛化仍然是一个艰巨且基本未解决的挑战。在这种要求苛刻的场景中，</a:t>
            </a: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为鲁棒性和适应性树立了新的标准。它在大多数评估的数据集上取得了最先进的结果。</a:t>
            </a:r>
            <a:endParaRPr lang="en-US" altLang="zh-CN" sz="1600" dirty="0">
              <a:latin typeface="思源宋体" panose="02020400000000000000" pitchFamily="18" charset="-122"/>
              <a:ea typeface="思源宋体" panose="02020400000000000000" pitchFamily="18" charset="-122"/>
            </a:endParaRPr>
          </a:p>
        </p:txBody>
      </p:sp>
      <p:pic>
        <p:nvPicPr>
          <p:cNvPr id="3" name="图片 2">
            <a:extLst>
              <a:ext uri="{FF2B5EF4-FFF2-40B4-BE49-F238E27FC236}">
                <a16:creationId xmlns:a16="http://schemas.microsoft.com/office/drawing/2014/main" id="{46119C4F-C513-7C43-4F3E-CBEB7E609290}"/>
              </a:ext>
            </a:extLst>
          </p:cNvPr>
          <p:cNvPicPr>
            <a:picLocks noChangeAspect="1"/>
          </p:cNvPicPr>
          <p:nvPr/>
        </p:nvPicPr>
        <p:blipFill>
          <a:blip r:embed="rId3"/>
          <a:stretch>
            <a:fillRect/>
          </a:stretch>
        </p:blipFill>
        <p:spPr>
          <a:xfrm>
            <a:off x="691836" y="702710"/>
            <a:ext cx="6720345" cy="4328282"/>
          </a:xfrm>
          <a:prstGeom prst="rect">
            <a:avLst/>
          </a:prstGeom>
        </p:spPr>
      </p:pic>
    </p:spTree>
    <p:extLst>
      <p:ext uri="{BB962C8B-B14F-4D97-AF65-F5344CB8AC3E}">
        <p14:creationId xmlns:p14="http://schemas.microsoft.com/office/powerpoint/2010/main" val="2571615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04032-E8C3-EEB2-8BED-C1C23BA9126E}"/>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1B050264-1E43-F56C-5FC0-2AA5AFBDEC83}"/>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latin typeface="思源宋体" panose="02020400000000000000" pitchFamily="18" charset="-122"/>
                <a:ea typeface="思源宋体" panose="02020400000000000000" pitchFamily="18" charset="-122"/>
                <a:sym typeface="微软雅黑"/>
              </a:rPr>
              <a:t>实验结果：消融实验与敏感性分析</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 name="稻壳儿智宇https://www.docer.com/works?userid=328340712">
            <a:extLst>
              <a:ext uri="{FF2B5EF4-FFF2-40B4-BE49-F238E27FC236}">
                <a16:creationId xmlns:a16="http://schemas.microsoft.com/office/drawing/2014/main" id="{500F371F-7F47-FEC9-ACDA-4FF9F43C106A}"/>
              </a:ext>
            </a:extLst>
          </p:cNvPr>
          <p:cNvSpPr txBox="1"/>
          <p:nvPr>
            <p:custDataLst>
              <p:tags r:id="rId1"/>
            </p:custDataLst>
          </p:nvPr>
        </p:nvSpPr>
        <p:spPr>
          <a:xfrm>
            <a:off x="5806977" y="702710"/>
            <a:ext cx="5399579" cy="5496633"/>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消融实验研究结果明确表明所有模块具有协同重要性，因为完整的 </a:t>
            </a: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模型在目标内和零样本设置下始终优于任何消融版本。</a:t>
            </a: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其中最关键的组件是经验池，不使用模态经验会导致最显著的性能下降，特别是在零样本场景中，这凸显了评估跨样本模态贡献对于实现稳健泛化的不可或缺的作用。</a:t>
            </a:r>
            <a:endParaRPr lang="en-US" altLang="zh-CN" sz="1600" dirty="0">
              <a:latin typeface="思源宋体" panose="02020400000000000000" pitchFamily="18" charset="-122"/>
              <a:ea typeface="思源宋体" panose="02020400000000000000" pitchFamily="18" charset="-122"/>
            </a:endParaRPr>
          </a:p>
          <a:p>
            <a:pPr>
              <a:lnSpc>
                <a:spcPct val="150000"/>
              </a:lnSpc>
            </a:pP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在不同相关度阈对目标内设置和零样本设置下检索性能的影响。结果表明，在这两种设置中，较低阈值时性能往往较差，而一旦阈值超过 </a:t>
            </a:r>
            <a:r>
              <a:rPr lang="en-US" altLang="zh-CN" sz="1600" dirty="0">
                <a:latin typeface="思源宋体" panose="02020400000000000000" pitchFamily="18" charset="-122"/>
                <a:ea typeface="思源宋体" panose="02020400000000000000" pitchFamily="18" charset="-122"/>
              </a:rPr>
              <a:t>0.8</a:t>
            </a:r>
            <a:r>
              <a:rPr lang="zh-CN" altLang="en-US" sz="1600" dirty="0">
                <a:latin typeface="思源宋体" panose="02020400000000000000" pitchFamily="18" charset="-122"/>
                <a:ea typeface="思源宋体" panose="02020400000000000000" pitchFamily="18" charset="-122"/>
              </a:rPr>
              <a:t>，性能会逐渐下降。</a:t>
            </a: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较低的阈值可能会检索到不相关或质量较差的经验，这会引入噪声并损害推理过程。相反，过高的阈值会过于严格，导致检索到的经验数量不足，从而限制模型利用其积累的知识进行稳健推理的能力。</a:t>
            </a:r>
            <a:endParaRPr lang="en-US" altLang="zh-CN" sz="1600" dirty="0">
              <a:latin typeface="思源宋体" panose="02020400000000000000" pitchFamily="18" charset="-122"/>
              <a:ea typeface="思源宋体" panose="02020400000000000000" pitchFamily="18" charset="-122"/>
            </a:endParaRPr>
          </a:p>
          <a:p>
            <a:pPr>
              <a:lnSpc>
                <a:spcPct val="150000"/>
              </a:lnSpc>
            </a:pPr>
            <a:endParaRPr lang="en-US" altLang="zh-CN" sz="1600" dirty="0">
              <a:latin typeface="思源宋体" panose="02020400000000000000" pitchFamily="18" charset="-122"/>
              <a:ea typeface="思源宋体" panose="02020400000000000000" pitchFamily="18" charset="-122"/>
            </a:endParaRPr>
          </a:p>
        </p:txBody>
      </p:sp>
      <p:pic>
        <p:nvPicPr>
          <p:cNvPr id="5" name="图片 4" descr="手机屏幕截图&#10;&#10;AI 生成的内容可能不正确。">
            <a:extLst>
              <a:ext uri="{FF2B5EF4-FFF2-40B4-BE49-F238E27FC236}">
                <a16:creationId xmlns:a16="http://schemas.microsoft.com/office/drawing/2014/main" id="{F420873C-578B-B53C-B792-F1543FF605A7}"/>
              </a:ext>
            </a:extLst>
          </p:cNvPr>
          <p:cNvPicPr>
            <a:picLocks noChangeAspect="1"/>
          </p:cNvPicPr>
          <p:nvPr/>
        </p:nvPicPr>
        <p:blipFill>
          <a:blip r:embed="rId4"/>
          <a:srcRect l="2017" t="3790" r="4868" b="4035"/>
          <a:stretch>
            <a:fillRect/>
          </a:stretch>
        </p:blipFill>
        <p:spPr>
          <a:xfrm>
            <a:off x="588974" y="750836"/>
            <a:ext cx="4402412" cy="2265109"/>
          </a:xfrm>
          <a:prstGeom prst="rect">
            <a:avLst/>
          </a:prstGeom>
        </p:spPr>
      </p:pic>
      <p:pic>
        <p:nvPicPr>
          <p:cNvPr id="10" name="图片 9" descr="图表, 折线图&#10;&#10;AI 生成的内容可能不正确。">
            <a:extLst>
              <a:ext uri="{FF2B5EF4-FFF2-40B4-BE49-F238E27FC236}">
                <a16:creationId xmlns:a16="http://schemas.microsoft.com/office/drawing/2014/main" id="{51C9AD3D-C418-3364-3040-C8D0487A3151}"/>
              </a:ext>
            </a:extLst>
          </p:cNvPr>
          <p:cNvPicPr>
            <a:picLocks noChangeAspect="1"/>
          </p:cNvPicPr>
          <p:nvPr/>
        </p:nvPicPr>
        <p:blipFill>
          <a:blip r:embed="rId5"/>
          <a:srcRect l="2824" t="3391" r="3355" b="3095"/>
          <a:stretch>
            <a:fillRect/>
          </a:stretch>
        </p:blipFill>
        <p:spPr>
          <a:xfrm>
            <a:off x="588974" y="3288733"/>
            <a:ext cx="3969276" cy="3141284"/>
          </a:xfrm>
          <a:prstGeom prst="rect">
            <a:avLst/>
          </a:prstGeom>
        </p:spPr>
      </p:pic>
    </p:spTree>
    <p:extLst>
      <p:ext uri="{BB962C8B-B14F-4D97-AF65-F5344CB8AC3E}">
        <p14:creationId xmlns:p14="http://schemas.microsoft.com/office/powerpoint/2010/main" val="1268157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4A9E2-7024-C449-B4A0-FDB6D2732740}"/>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DDC8EFD2-49B8-DA17-6DEA-FD3EA55B19B9}"/>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latin typeface="思源宋体" panose="02020400000000000000" pitchFamily="18" charset="-122"/>
                <a:ea typeface="思源宋体" panose="02020400000000000000" pitchFamily="18" charset="-122"/>
                <a:sym typeface="微软雅黑"/>
              </a:rPr>
              <a:t>实验结果：案例研究</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 name="稻壳儿智宇https://www.docer.com/works?userid=328340712">
            <a:extLst>
              <a:ext uri="{FF2B5EF4-FFF2-40B4-BE49-F238E27FC236}">
                <a16:creationId xmlns:a16="http://schemas.microsoft.com/office/drawing/2014/main" id="{C04B96BD-26AA-EF84-119D-6F527FD3CA67}"/>
              </a:ext>
            </a:extLst>
          </p:cNvPr>
          <p:cNvSpPr txBox="1"/>
          <p:nvPr>
            <p:custDataLst>
              <p:tags r:id="rId1"/>
            </p:custDataLst>
          </p:nvPr>
        </p:nvSpPr>
        <p:spPr>
          <a:xfrm>
            <a:off x="5841353" y="1241313"/>
            <a:ext cx="5399579" cy="4388637"/>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在（</a:t>
            </a:r>
            <a:r>
              <a:rPr lang="en-US" altLang="zh-CN" sz="1600" dirty="0">
                <a:latin typeface="思源宋体" panose="02020400000000000000" pitchFamily="18" charset="-122"/>
                <a:ea typeface="思源宋体" panose="02020400000000000000" pitchFamily="18" charset="-122"/>
              </a:rPr>
              <a:t>a</a:t>
            </a:r>
            <a:r>
              <a:rPr lang="zh-CN" altLang="en-US" sz="1600" dirty="0">
                <a:latin typeface="思源宋体" panose="02020400000000000000" pitchFamily="18" charset="-122"/>
                <a:ea typeface="思源宋体" panose="02020400000000000000" pitchFamily="18" charset="-122"/>
              </a:rPr>
              <a:t>）中，直接的思维链推理从字面上将文本中的 “</a:t>
            </a:r>
            <a:r>
              <a:rPr lang="en-US" altLang="zh-CN" sz="1600" dirty="0">
                <a:latin typeface="思源宋体" panose="02020400000000000000" pitchFamily="18" charset="-122"/>
                <a:ea typeface="思源宋体" panose="02020400000000000000" pitchFamily="18" charset="-122"/>
              </a:rPr>
              <a:t>stan Putin” </a:t>
            </a:r>
            <a:r>
              <a:rPr lang="zh-CN" altLang="en-US" sz="1600" dirty="0">
                <a:latin typeface="思源宋体" panose="02020400000000000000" pitchFamily="18" charset="-122"/>
                <a:ea typeface="思源宋体" panose="02020400000000000000" pitchFamily="18" charset="-122"/>
              </a:rPr>
              <a:t>理解为支持，却忽略了 “</a:t>
            </a:r>
            <a:r>
              <a:rPr lang="en-US" altLang="zh-CN" sz="1600" dirty="0">
                <a:latin typeface="思源宋体" panose="02020400000000000000" pitchFamily="18" charset="-122"/>
                <a:ea typeface="思源宋体" panose="02020400000000000000" pitchFamily="18" charset="-122"/>
              </a:rPr>
              <a:t>cringe” </a:t>
            </a:r>
            <a:r>
              <a:rPr lang="zh-CN" altLang="en-US" sz="1600" dirty="0">
                <a:latin typeface="思源宋体" panose="02020400000000000000" pitchFamily="18" charset="-122"/>
                <a:ea typeface="思源宋体" panose="02020400000000000000" pitchFamily="18" charset="-122"/>
              </a:rPr>
              <a:t>所带有的负面语境。</a:t>
            </a: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的模态经验强调通过语境判断对文本证据进行加权，它能够通过 “</a:t>
            </a:r>
            <a:r>
              <a:rPr lang="en-US" altLang="zh-CN" sz="1600" dirty="0">
                <a:latin typeface="思源宋体" panose="02020400000000000000" pitchFamily="18" charset="-122"/>
                <a:ea typeface="思源宋体" panose="02020400000000000000" pitchFamily="18" charset="-122"/>
              </a:rPr>
              <a:t>cringe”</a:t>
            </a:r>
            <a:r>
              <a:rPr lang="zh-CN" altLang="en-US" sz="1600" dirty="0">
                <a:latin typeface="思源宋体" panose="02020400000000000000" pitchFamily="18" charset="-122"/>
                <a:ea typeface="思源宋体" panose="02020400000000000000" pitchFamily="18" charset="-122"/>
              </a:rPr>
              <a:t> 和 “</a:t>
            </a:r>
            <a:r>
              <a:rPr lang="en-US" altLang="zh-CN" sz="1600" dirty="0">
                <a:latin typeface="思源宋体" panose="02020400000000000000" pitchFamily="18" charset="-122"/>
                <a:ea typeface="思源宋体" panose="02020400000000000000" pitchFamily="18" charset="-122"/>
              </a:rPr>
              <a:t>stan”</a:t>
            </a:r>
            <a:r>
              <a:rPr lang="zh-CN" altLang="en-US" sz="1600" dirty="0">
                <a:latin typeface="思源宋体" panose="02020400000000000000" pitchFamily="18" charset="-122"/>
                <a:ea typeface="思源宋体" panose="02020400000000000000" pitchFamily="18" charset="-122"/>
              </a:rPr>
              <a:t> 之间的矛盾识别出隐含的讽刺，从而避免被孤立的显性词汇误导。</a:t>
            </a:r>
            <a:endParaRPr lang="en-US" altLang="zh-CN" sz="1600" dirty="0">
              <a:latin typeface="思源宋体" panose="02020400000000000000" pitchFamily="18" charset="-122"/>
              <a:ea typeface="思源宋体" panose="02020400000000000000" pitchFamily="18" charset="-122"/>
            </a:endParaRPr>
          </a:p>
          <a:p>
            <a:pPr>
              <a:lnSpc>
                <a:spcPct val="150000"/>
              </a:lnSpc>
            </a:pP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在（</a:t>
            </a:r>
            <a:r>
              <a:rPr lang="en-US" altLang="zh-CN" sz="1600" dirty="0">
                <a:latin typeface="思源宋体" panose="02020400000000000000" pitchFamily="18" charset="-122"/>
                <a:ea typeface="思源宋体" panose="02020400000000000000" pitchFamily="18" charset="-122"/>
              </a:rPr>
              <a:t>b</a:t>
            </a:r>
            <a:r>
              <a:rPr lang="zh-CN" altLang="en-US" sz="1600" dirty="0">
                <a:latin typeface="思源宋体" panose="02020400000000000000" pitchFamily="18" charset="-122"/>
                <a:ea typeface="思源宋体" panose="02020400000000000000" pitchFamily="18" charset="-122"/>
              </a:rPr>
              <a:t>）中，直接的思维链推理从文本中印度解除出口禁令以及图像中领导人合作等表面信息推断出对该药物的支持。</a:t>
            </a: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相比之下，</a:t>
            </a: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的模态经验强调要优先考虑跨模态的明确立场信息，采用平等加权和默认中立的原则，同时通过常识和地缘政治背景加深理解，从而准确捕捉到了中立立场。</a:t>
            </a:r>
          </a:p>
          <a:p>
            <a:pPr>
              <a:lnSpc>
                <a:spcPct val="150000"/>
              </a:lnSpc>
            </a:pPr>
            <a:endParaRPr lang="en-US" altLang="zh-CN" sz="1600" dirty="0">
              <a:latin typeface="思源宋体" panose="02020400000000000000" pitchFamily="18" charset="-122"/>
              <a:ea typeface="思源宋体" panose="02020400000000000000" pitchFamily="18" charset="-122"/>
            </a:endParaRPr>
          </a:p>
        </p:txBody>
      </p:sp>
      <p:pic>
        <p:nvPicPr>
          <p:cNvPr id="6" name="图片 5" descr="文本&#10;&#10;AI 生成的内容可能不正确。">
            <a:extLst>
              <a:ext uri="{FF2B5EF4-FFF2-40B4-BE49-F238E27FC236}">
                <a16:creationId xmlns:a16="http://schemas.microsoft.com/office/drawing/2014/main" id="{6775117C-BF15-DD40-31E7-3A294113E68F}"/>
              </a:ext>
            </a:extLst>
          </p:cNvPr>
          <p:cNvPicPr>
            <a:picLocks noChangeAspect="1"/>
          </p:cNvPicPr>
          <p:nvPr/>
        </p:nvPicPr>
        <p:blipFill>
          <a:blip r:embed="rId4"/>
          <a:srcRect t="1614" r="3398" b="2227"/>
          <a:stretch>
            <a:fillRect/>
          </a:stretch>
        </p:blipFill>
        <p:spPr>
          <a:xfrm>
            <a:off x="288414" y="805378"/>
            <a:ext cx="4853883" cy="5140564"/>
          </a:xfrm>
          <a:prstGeom prst="rect">
            <a:avLst/>
          </a:prstGeom>
        </p:spPr>
      </p:pic>
    </p:spTree>
    <p:extLst>
      <p:ext uri="{BB962C8B-B14F-4D97-AF65-F5344CB8AC3E}">
        <p14:creationId xmlns:p14="http://schemas.microsoft.com/office/powerpoint/2010/main" val="656581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4CF14-40BC-CEC6-6729-EC10483A0347}"/>
            </a:ext>
          </a:extLst>
        </p:cNvPr>
        <p:cNvGrpSpPr/>
        <p:nvPr/>
      </p:nvGrpSpPr>
      <p:grpSpPr>
        <a:xfrm>
          <a:off x="0" y="0"/>
          <a:ext cx="0" cy="0"/>
          <a:chOff x="0" y="0"/>
          <a:chExt cx="0" cy="0"/>
        </a:xfrm>
      </p:grpSpPr>
      <p:sp>
        <p:nvSpPr>
          <p:cNvPr id="16" name="稻壳儿智宇https://www.docer.com/works?userid=328340712">
            <a:extLst>
              <a:ext uri="{FF2B5EF4-FFF2-40B4-BE49-F238E27FC236}">
                <a16:creationId xmlns:a16="http://schemas.microsoft.com/office/drawing/2014/main" id="{FAF3FF05-0E2B-8D81-E64E-ABC9AC59CB05}"/>
              </a:ext>
            </a:extLst>
          </p:cNvPr>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04</a:t>
            </a:r>
          </a:p>
        </p:txBody>
      </p:sp>
      <p:sp>
        <p:nvSpPr>
          <p:cNvPr id="19" name="稻壳儿智宇https://www.docer.com/works?userid=328340712">
            <a:extLst>
              <a:ext uri="{FF2B5EF4-FFF2-40B4-BE49-F238E27FC236}">
                <a16:creationId xmlns:a16="http://schemas.microsoft.com/office/drawing/2014/main" id="{EE62CFD4-70E3-2ECD-AA19-31F17588C8E4}"/>
              </a:ext>
            </a:extLst>
          </p:cNvPr>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结论</a:t>
            </a:r>
          </a:p>
        </p:txBody>
      </p:sp>
      <p:sp>
        <p:nvSpPr>
          <p:cNvPr id="17" name="稻壳儿智宇https://www.docer.com/works?userid=328340712">
            <a:extLst>
              <a:ext uri="{FF2B5EF4-FFF2-40B4-BE49-F238E27FC236}">
                <a16:creationId xmlns:a16="http://schemas.microsoft.com/office/drawing/2014/main" id="{8C35AAB3-87C9-967A-F242-C88CB3353167}"/>
              </a:ext>
            </a:extLst>
          </p:cNvPr>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four</a:t>
            </a:r>
          </a:p>
        </p:txBody>
      </p:sp>
      <p:pic>
        <p:nvPicPr>
          <p:cNvPr id="3" name="图片 2">
            <a:extLst>
              <a:ext uri="{FF2B5EF4-FFF2-40B4-BE49-F238E27FC236}">
                <a16:creationId xmlns:a16="http://schemas.microsoft.com/office/drawing/2014/main" id="{25C4EB10-D826-E506-0F7E-51A376964E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extLst>
      <p:ext uri="{BB962C8B-B14F-4D97-AF65-F5344CB8AC3E}">
        <p14:creationId xmlns:p14="http://schemas.microsoft.com/office/powerpoint/2010/main" val="325997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3F9F3-A34C-862F-66DD-D3698D0DF7E2}"/>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53D7A7C1-04C0-3456-A383-51B8C013B1A8}"/>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a:t>
            </a:r>
            <a:r>
              <a:rPr lang="en-US" altLang="zh-CN" dirty="0">
                <a:latin typeface="思源宋体" panose="02020400000000000000" pitchFamily="18" charset="-122"/>
                <a:ea typeface="思源宋体" panose="02020400000000000000" pitchFamily="18" charset="-122"/>
                <a:sym typeface="微软雅黑"/>
              </a:rPr>
              <a:t>4</a:t>
            </a:r>
            <a:r>
              <a:rPr lang="en-US" altLang="zh-CN" dirty="0">
                <a:solidFill>
                  <a:schemeClr val="accent1"/>
                </a:solidFill>
                <a:latin typeface="思源宋体" panose="02020400000000000000" pitchFamily="18" charset="-122"/>
                <a:ea typeface="思源宋体" panose="02020400000000000000" pitchFamily="18" charset="-122"/>
                <a:sym typeface="微软雅黑"/>
              </a:rPr>
              <a:t>.</a:t>
            </a:r>
            <a:r>
              <a:rPr lang="zh-CN" altLang="en-US" dirty="0">
                <a:solidFill>
                  <a:schemeClr val="accent1"/>
                </a:solidFill>
                <a:latin typeface="思源宋体" panose="02020400000000000000" pitchFamily="18" charset="-122"/>
                <a:ea typeface="思源宋体" panose="02020400000000000000" pitchFamily="18" charset="-122"/>
                <a:sym typeface="微软雅黑"/>
              </a:rPr>
              <a:t>结论与局限</a:t>
            </a:r>
          </a:p>
        </p:txBody>
      </p:sp>
      <p:sp>
        <p:nvSpPr>
          <p:cNvPr id="8" name="稻壳儿智宇https://www.docer.com/works?userid=328340712">
            <a:extLst>
              <a:ext uri="{FF2B5EF4-FFF2-40B4-BE49-F238E27FC236}">
                <a16:creationId xmlns:a16="http://schemas.microsoft.com/office/drawing/2014/main" id="{D533F783-4B6A-622D-989E-DEDEF39AD7ED}"/>
              </a:ext>
            </a:extLst>
          </p:cNvPr>
          <p:cNvSpPr txBox="1"/>
          <p:nvPr>
            <p:custDataLst>
              <p:tags r:id="rId1"/>
            </p:custDataLst>
          </p:nvPr>
        </p:nvSpPr>
        <p:spPr>
          <a:xfrm>
            <a:off x="691837" y="1034697"/>
            <a:ext cx="8738410" cy="410625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342900">
              <a:lnSpc>
                <a:spcPct val="150000"/>
              </a:lnSpc>
              <a:buFont typeface="Wingdings" panose="05000000000000000000" pitchFamily="2" charset="2"/>
              <a:buChar char="Ø"/>
            </a:pPr>
            <a:r>
              <a:rPr lang="zh-CN" altLang="en-US" dirty="0">
                <a:latin typeface="思源宋体" panose="02020400000000000000" pitchFamily="18" charset="-122"/>
                <a:ea typeface="思源宋体" panose="02020400000000000000" pitchFamily="18" charset="-122"/>
              </a:rPr>
              <a:t>本文提出了</a:t>
            </a:r>
            <a:r>
              <a:rPr lang="en-US" altLang="zh-CN" dirty="0">
                <a:latin typeface="思源宋体" panose="02020400000000000000" pitchFamily="18" charset="-122"/>
                <a:ea typeface="思源宋体" panose="02020400000000000000" pitchFamily="18" charset="-122"/>
              </a:rPr>
              <a:t>ReMoD——</a:t>
            </a:r>
            <a:r>
              <a:rPr lang="zh-CN" altLang="en-US" dirty="0">
                <a:latin typeface="思源宋体" panose="02020400000000000000" pitchFamily="18" charset="-122"/>
                <a:ea typeface="思源宋体" panose="02020400000000000000" pitchFamily="18" charset="-122"/>
              </a:rPr>
              <a:t>一种受人类认知启发、采用双过程推理范式的多模态立场检测框架。该框架将经验驱动的直觉推理与审慎的反思推理有机结合，从而在复杂社交语境中实现更为稳健的立场判定</a:t>
            </a:r>
            <a:endParaRPr lang="en-US" altLang="zh-CN" dirty="0">
              <a:latin typeface="思源宋体" panose="02020400000000000000" pitchFamily="18" charset="-122"/>
              <a:ea typeface="思源宋体" panose="02020400000000000000" pitchFamily="18" charset="-122"/>
            </a:endParaRPr>
          </a:p>
          <a:p>
            <a:pPr indent="-342900">
              <a:lnSpc>
                <a:spcPct val="150000"/>
              </a:lnSpc>
              <a:buFont typeface="Wingdings" panose="05000000000000000000" pitchFamily="2" charset="2"/>
              <a:buChar char="Ø"/>
            </a:pPr>
            <a:r>
              <a:rPr lang="zh-CN" altLang="en-US" dirty="0">
                <a:latin typeface="思源宋体" panose="02020400000000000000" pitchFamily="18" charset="-122"/>
                <a:ea typeface="思源宋体" panose="02020400000000000000" pitchFamily="18" charset="-122"/>
              </a:rPr>
              <a:t>在公开多域多模态立场检测基准</a:t>
            </a:r>
            <a:r>
              <a:rPr lang="en-US" altLang="zh-CN" dirty="0">
                <a:latin typeface="思源宋体" panose="02020400000000000000" pitchFamily="18" charset="-122"/>
                <a:ea typeface="思源宋体" panose="02020400000000000000" pitchFamily="18" charset="-122"/>
              </a:rPr>
              <a:t>MMSD</a:t>
            </a:r>
            <a:r>
              <a:rPr lang="zh-CN" altLang="en-US" dirty="0">
                <a:latin typeface="思源宋体" panose="02020400000000000000" pitchFamily="18" charset="-122"/>
                <a:ea typeface="思源宋体" panose="02020400000000000000" pitchFamily="18" charset="-122"/>
              </a:rPr>
              <a:t>上的实验验证表明，</a:t>
            </a:r>
            <a:r>
              <a:rPr lang="en-US" altLang="zh-CN" dirty="0">
                <a:latin typeface="思源宋体" panose="02020400000000000000" pitchFamily="18" charset="-122"/>
                <a:ea typeface="思源宋体" panose="02020400000000000000" pitchFamily="18" charset="-122"/>
              </a:rPr>
              <a:t>ReMoD</a:t>
            </a:r>
            <a:r>
              <a:rPr lang="zh-CN" altLang="en-US" dirty="0">
                <a:latin typeface="思源宋体" panose="02020400000000000000" pitchFamily="18" charset="-122"/>
                <a:ea typeface="思源宋体" panose="02020400000000000000" pitchFamily="18" charset="-122"/>
              </a:rPr>
              <a:t>在目 标内与零样本跨领域设定下均表现出较强的鲁棒性与泛化能力。进一步的消融实验与敏感度分析验证了各核心组件对整体性能的独立贡献与协同关系。</a:t>
            </a:r>
            <a:endParaRPr lang="en-US" altLang="zh-CN" dirty="0">
              <a:latin typeface="思源宋体" panose="02020400000000000000" pitchFamily="18" charset="-122"/>
              <a:ea typeface="思源宋体" panose="02020400000000000000" pitchFamily="18" charset="-122"/>
            </a:endParaRPr>
          </a:p>
          <a:p>
            <a:pPr indent="-342900">
              <a:lnSpc>
                <a:spcPct val="150000"/>
              </a:lnSpc>
              <a:buFont typeface="Wingdings" panose="05000000000000000000" pitchFamily="2" charset="2"/>
              <a:buChar char="Ø"/>
            </a:pPr>
            <a:r>
              <a:rPr lang="zh-CN" altLang="en-US" dirty="0">
                <a:latin typeface="思源宋体" panose="02020400000000000000" pitchFamily="18" charset="-122"/>
                <a:ea typeface="思源宋体" panose="02020400000000000000" pitchFamily="18" charset="-122"/>
              </a:rPr>
              <a:t>尽管取得了上述进展，本工作仍存在一定局限性。其一，双过程推理带来更高的计算成本与推理延迟；其二，外部知识检索与经验池质量对整体稳定性具有重要影响，不确定性稍高；其三，当前经验的组织与更新仍主要依赖预设的检索与过滤策略，对于更开放的领域迁移与话题的快速演化，仍有进一步提升空间。</a:t>
            </a:r>
            <a:endParaRPr lang="en-US" altLang="zh-CN" dirty="0">
              <a:latin typeface="思源宋体" panose="02020400000000000000" pitchFamily="18" charset="-122"/>
              <a:ea typeface="思源宋体" panose="02020400000000000000" pitchFamily="18" charset="-122"/>
            </a:endParaRPr>
          </a:p>
        </p:txBody>
      </p:sp>
    </p:spTree>
    <p:extLst>
      <p:ext uri="{BB962C8B-B14F-4D97-AF65-F5344CB8AC3E}">
        <p14:creationId xmlns:p14="http://schemas.microsoft.com/office/powerpoint/2010/main" val="1951033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774A-C0E6-F49E-A5B7-F040F95B5245}"/>
            </a:ext>
          </a:extLst>
        </p:cNvPr>
        <p:cNvGrpSpPr/>
        <p:nvPr/>
      </p:nvGrpSpPr>
      <p:grpSpPr>
        <a:xfrm>
          <a:off x="0" y="0"/>
          <a:ext cx="0" cy="0"/>
          <a:chOff x="0" y="0"/>
          <a:chExt cx="0" cy="0"/>
        </a:xfrm>
      </p:grpSpPr>
      <p:pic>
        <p:nvPicPr>
          <p:cNvPr id="23" name="稻壳儿智宇https://www.docer.com/works?userid=328340712" descr="背景图案&#10;&#10;描述已自动生成">
            <a:extLst>
              <a:ext uri="{FF2B5EF4-FFF2-40B4-BE49-F238E27FC236}">
                <a16:creationId xmlns:a16="http://schemas.microsoft.com/office/drawing/2014/main" id="{8ECCB966-EE48-B1AB-A6E1-420C917D93C4}"/>
              </a:ext>
            </a:extLst>
          </p:cNvPr>
          <p:cNvPicPr>
            <a:picLocks noChangeAspect="1"/>
          </p:cNvPicPr>
          <p:nvPr/>
        </p:nvPicPr>
        <p:blipFill>
          <a:blip r:embed="rId5" cstate="print"/>
          <a:srcRect/>
          <a:stretch>
            <a:fillRect/>
          </a:stretch>
        </p:blipFill>
        <p:spPr>
          <a:xfrm>
            <a:off x="0" y="0"/>
            <a:ext cx="12192000" cy="6858000"/>
          </a:xfrm>
          <a:prstGeom prst="rect">
            <a:avLst/>
          </a:prstGeom>
        </p:spPr>
      </p:pic>
      <p:sp>
        <p:nvSpPr>
          <p:cNvPr id="2" name="稻壳儿智宇https://www.docer.com/works?userid=328340712">
            <a:extLst>
              <a:ext uri="{FF2B5EF4-FFF2-40B4-BE49-F238E27FC236}">
                <a16:creationId xmlns:a16="http://schemas.microsoft.com/office/drawing/2014/main" id="{1F3196E0-1854-C817-A743-EA13E71C7E9F}"/>
              </a:ext>
            </a:extLst>
          </p:cNvPr>
          <p:cNvSpPr/>
          <p:nvPr>
            <p:custDataLst>
              <p:tags r:id="rId1"/>
            </p:custDataLst>
          </p:nvPr>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a:ea typeface="微软雅黑"/>
              <a:sym typeface="微软雅黑"/>
            </a:endParaRPr>
          </a:p>
        </p:txBody>
      </p:sp>
      <p:sp>
        <p:nvSpPr>
          <p:cNvPr id="81" name="稻壳儿智宇https://www.docer.com/works?userid=328340712">
            <a:extLst>
              <a:ext uri="{FF2B5EF4-FFF2-40B4-BE49-F238E27FC236}">
                <a16:creationId xmlns:a16="http://schemas.microsoft.com/office/drawing/2014/main" id="{2A132B57-FE7A-350A-3D97-5868B982EA5E}"/>
              </a:ext>
            </a:extLst>
          </p:cNvPr>
          <p:cNvSpPr/>
          <p:nvPr/>
        </p:nvSpPr>
        <p:spPr>
          <a:xfrm>
            <a:off x="1791381" y="2921168"/>
            <a:ext cx="8609237" cy="1015663"/>
          </a:xfrm>
          <a:prstGeom prst="rect">
            <a:avLst/>
          </a:prstGeom>
        </p:spPr>
        <p:txBody>
          <a:bodyPr wrap="square" lIns="0" tIns="0" rIns="0" bIns="0">
            <a:spAutoFit/>
          </a:bodyPr>
          <a:lstStyle/>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感谢老师们的观看</a:t>
            </a:r>
          </a:p>
        </p:txBody>
      </p:sp>
      <p:sp>
        <p:nvSpPr>
          <p:cNvPr id="4" name="稻壳儿智宇https://www.docer.com/works?userid=328340712">
            <a:extLst>
              <a:ext uri="{FF2B5EF4-FFF2-40B4-BE49-F238E27FC236}">
                <a16:creationId xmlns:a16="http://schemas.microsoft.com/office/drawing/2014/main" id="{88C57FC9-75B9-E9F4-DD6E-3EE6202DD5CB}"/>
              </a:ext>
            </a:extLst>
          </p:cNvPr>
          <p:cNvSpPr txBox="1"/>
          <p:nvPr>
            <p:custDataLst>
              <p:tags r:id="rId2"/>
            </p:custDataLst>
          </p:nvPr>
        </p:nvSpPr>
        <p:spPr>
          <a:xfrm>
            <a:off x="3194304" y="5008729"/>
            <a:ext cx="5803392" cy="929229"/>
          </a:xfrm>
          <a:prstGeom prst="rect">
            <a:avLst/>
          </a:prstGeom>
        </p:spPr>
        <p:txBody>
          <a:bodyPr wrap="square" lIns="0" tIns="0" rIns="0" bIns="0">
            <a:spAutoFit/>
          </a:bodyPr>
          <a:lstStyle>
            <a:defPPr>
              <a:defRPr lang="zh-CN"/>
            </a:defPPr>
            <a:lvl1pPr algn="dist" fontAlgn="base">
              <a:defRPr sz="1600" b="0" i="0">
                <a:solidFill>
                  <a:schemeClr val="accent5">
                    <a:lumMod val="50000"/>
                  </a:schemeClr>
                </a:solidFill>
                <a:effectLst/>
                <a:latin typeface="+mn-ea"/>
              </a:defRPr>
            </a:lvl1pPr>
          </a:lstStyle>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汇报人：金正达</a:t>
            </a:r>
            <a:r>
              <a:rPr lang="en-US" altLang="zh-CN" spc="300" dirty="0">
                <a:solidFill>
                  <a:schemeClr val="dk1"/>
                </a:solidFill>
                <a:latin typeface="思源宋体" panose="02020400000000000000" pitchFamily="18" charset="-122"/>
                <a:ea typeface="思源宋体" panose="02020400000000000000" pitchFamily="18" charset="-122"/>
                <a:sym typeface="微软雅黑"/>
              </a:rPr>
              <a:t> </a:t>
            </a: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学院：计算机科学与技术学院</a:t>
            </a:r>
            <a:endParaRPr lang="en-US" altLang="zh-CN" spc="300" dirty="0">
              <a:solidFill>
                <a:schemeClr val="dk1"/>
              </a:solidFill>
              <a:latin typeface="思源宋体" panose="02020400000000000000" pitchFamily="18" charset="-122"/>
              <a:ea typeface="思源宋体" panose="02020400000000000000" pitchFamily="18" charset="-122"/>
              <a:sym typeface="微软雅黑"/>
            </a:endParaRP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指导教师：徐睿峰教授</a:t>
            </a:r>
          </a:p>
        </p:txBody>
      </p:sp>
      <p:pic>
        <p:nvPicPr>
          <p:cNvPr id="6" name="图片 5">
            <a:extLst>
              <a:ext uri="{FF2B5EF4-FFF2-40B4-BE49-F238E27FC236}">
                <a16:creationId xmlns:a16="http://schemas.microsoft.com/office/drawing/2014/main" id="{815AD683-6F05-03A4-9814-078F1857C6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9105" y="996669"/>
            <a:ext cx="4653788" cy="852602"/>
          </a:xfrm>
          <a:prstGeom prst="rect">
            <a:avLst/>
          </a:prstGeom>
        </p:spPr>
      </p:pic>
    </p:spTree>
    <p:extLst>
      <p:ext uri="{BB962C8B-B14F-4D97-AF65-F5344CB8AC3E}">
        <p14:creationId xmlns:p14="http://schemas.microsoft.com/office/powerpoint/2010/main" val="2920582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适中&quot;,&quot;HeaderHeight&quot;:10.0,&quot;FooterHeight&quot;:5.0,&quot;SideMargin&quot;:5.0,&quot;TopMargin&quot;:0.0,&quot;BottomMargin&quot;:0.0,&quot;IntervalMargin&quot;:1.5,&quot;SettingType&quot;:&quot;System&quot;}"/>
  <p:tag name="KSO_WPP_MARK_KEY" val="fa47d307-c4b8-4d6e-85db-a4194826635c"/>
  <p:tag name="COMMONDATA" val="eyJjb3VudCI6MiwiaGRpZCI6IjgwMTEzOTMxYTllMDgyYmY3MGViZDIyZjNkZWMzYTdkIiwidXNlckNvdW50Ijoy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FILL_FORE_SCHEMECOLOR_INDEX_1_BRIGHTNESS" val="0.8"/>
  <p:tag name="KSO_WM_UNIT_FILL_FORE_SCHEMECOLOR_INDEX_1" val="6"/>
  <p:tag name="KSO_WM_UNIT_FILL_FORE_SCHEMECOLOR_INDEX_1_POS" val="0"/>
  <p:tag name="KSO_WM_UNIT_FILL_FORE_SCHEMECOLOR_INDEX_1_TRANS" val="0"/>
  <p:tag name="KSO_WM_UNIT_FILL_FORE_SCHEMECOLOR_INDEX_2_BRIGHTNESS" val="0.8"/>
  <p:tag name="KSO_WM_UNIT_FILL_FORE_SCHEMECOLOR_INDEX_2" val="6"/>
  <p:tag name="KSO_WM_UNIT_FILL_FORE_SCHEMECOLOR_INDEX_2_POS" val="1"/>
  <p:tag name="KSO_WM_UNIT_FILL_FORE_SCHEMECOLOR_INDEX_2_TRANS" val="0.95"/>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21.2,&quot;left&quot;:23.45,&quot;top&quot;:68.75,&quot;width&quot;:706.35}"/>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21.2,&quot;left&quot;:23.45,&quot;top&quot;:68.75,&quot;width&quot;:706.35}"/>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23.05,&quot;left&quot;:22.3,&quot;top&quot;:65.55,&quot;width&quot;:360}"/>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23.05,&quot;left&quot;:22.3,&quot;top&quot;:65.55,&quot;width&quot;:360}"/>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23.05,&quot;left&quot;:22.3,&quot;top&quot;:65.55,&quot;width&quot;:360}"/>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23.05,&quot;left&quot;:22.3,&quot;top&quot;:65.55,&quot;width&quot;:360}"/>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23.05,&quot;left&quot;:22.3,&quot;top&quot;:65.55,&quot;width&quot;:360}"/>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23.05,&quot;left&quot;:22.3,&quot;top&quot;:65.55,&quot;width&quot;:360}"/>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23.05,&quot;left&quot;:22.3,&quot;top&quot;:65.55,&quot;width&quot;:360}"/>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23.05,&quot;left&quot;:22.3,&quot;top&quot;:65.55,&quot;width&quot;:360}"/>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23.05,&quot;left&quot;:22.3,&quot;top&quot;:65.55,&quot;width&quot;:360}"/>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23.05,&quot;left&quot;:22.3,&quot;top&quot;:65.55,&quot;width&quot;:360}"/>
</p:tagLst>
</file>

<file path=ppt/tags/tag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ISLIDE.DIAGRAM" val="#467493;"/>
  <p:tag name="ISLIDE.ICON" val="#398555;#402765;#394246;"/>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heme/theme1.xml><?xml version="1.0" encoding="utf-8"?>
<a:theme xmlns:a="http://schemas.openxmlformats.org/drawingml/2006/main" name="第一PPT，www.1ppt.com">
  <a:themeElements>
    <a:clrScheme name="文案邦设计主题色-20190404-171738">
      <a:dk1>
        <a:srgbClr val="000000"/>
      </a:dk1>
      <a:lt1>
        <a:srgbClr val="FFFFFF"/>
      </a:lt1>
      <a:dk2>
        <a:srgbClr val="0F2344"/>
      </a:dk2>
      <a:lt2>
        <a:srgbClr val="C7D7F3"/>
      </a:lt2>
      <a:accent1>
        <a:srgbClr val="1E4588"/>
      </a:accent1>
      <a:accent2>
        <a:srgbClr val="D7C39F"/>
      </a:accent2>
      <a:accent3>
        <a:srgbClr val="1E4588"/>
      </a:accent3>
      <a:accent4>
        <a:srgbClr val="D7C39F"/>
      </a:accent4>
      <a:accent5>
        <a:srgbClr val="1E4588"/>
      </a:accent5>
      <a:accent6>
        <a:srgbClr val="D7C39F"/>
      </a:accent6>
      <a:hlink>
        <a:srgbClr val="0563C1"/>
      </a:hlink>
      <a:folHlink>
        <a:srgbClr val="954F72"/>
      </a:folHlink>
    </a:clrScheme>
    <a:fontScheme name="自定义 18">
      <a:majorFont>
        <a:latin typeface="汉仪雅酷黑 65W"/>
        <a:ea typeface="汉仪雅酷黑 65W"/>
        <a:cs typeface=""/>
      </a:majorFont>
      <a:minorFont>
        <a:latin typeface="汉仪旗黑-45S"/>
        <a:ea typeface="汉仪旗黑-45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自定义 18">
      <a:majorFont>
        <a:latin typeface="汉仪雅酷黑 65W"/>
        <a:ea typeface="汉仪雅酷黑 65W"/>
        <a:cs typeface=""/>
      </a:majorFont>
      <a:minorFont>
        <a:latin typeface="汉仪旗黑-45S"/>
        <a:ea typeface="汉仪旗黑-45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916</TotalTime>
  <Words>1824</Words>
  <Application>Microsoft Office PowerPoint</Application>
  <PresentationFormat>宽屏</PresentationFormat>
  <Paragraphs>109</Paragraphs>
  <Slides>20</Slides>
  <Notes>12</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20</vt:i4>
      </vt:variant>
    </vt:vector>
  </HeadingPairs>
  <TitlesOfParts>
    <vt:vector size="30" baseType="lpstr">
      <vt:lpstr>汉仪旗黑-45S</vt:lpstr>
      <vt:lpstr>思源宋体</vt:lpstr>
      <vt:lpstr>微软雅黑</vt:lpstr>
      <vt:lpstr>Arial</vt:lpstr>
      <vt:lpstr>Calibri</vt:lpstr>
      <vt:lpstr>Times New Roman</vt:lpstr>
      <vt:lpstr>Wingdings</vt:lpstr>
      <vt:lpstr>第一PPT，www.1ppt.com</vt:lpstr>
      <vt:lpstr>第一PPT，www.1ppt.com </vt:lpstr>
      <vt:lpstr>自定义设计方案</vt:lpstr>
      <vt:lpstr>PowerPoint 演示文稿</vt:lpstr>
      <vt:lpstr>PowerPoint 演示文稿</vt:lpstr>
      <vt:lpstr>PowerPoint 演示文稿</vt:lpstr>
      <vt:lpstr>01.多模态立场检测任务</vt:lpstr>
      <vt:lpstr>01. 从“跨模态融合”迈向“双过程推理”</vt:lpstr>
      <vt:lpstr>01. 从“跨模态融合”迈向“双过程推理”</vt:lpstr>
      <vt:lpstr>PowerPoint 演示文稿</vt:lpstr>
      <vt:lpstr>02.框架设计</vt:lpstr>
      <vt:lpstr>02.框架设计</vt:lpstr>
      <vt:lpstr>02.框架设计</vt:lpstr>
      <vt:lpstr>02.框架设计</vt:lpstr>
      <vt:lpstr>PowerPoint 演示文稿</vt:lpstr>
      <vt:lpstr>03.实验设置</vt:lpstr>
      <vt:lpstr>02.实验结果：主实验</vt:lpstr>
      <vt:lpstr>02.实验结果：主实验</vt:lpstr>
      <vt:lpstr>03.实验结果：消融实验与敏感性分析</vt:lpstr>
      <vt:lpstr>03.实验结果：案例研究</vt:lpstr>
      <vt:lpstr>PowerPoint 演示文稿</vt:lpstr>
      <vt:lpstr>04.结论与局限</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description>www.1ppt.com</dc:description>
  <cp:lastModifiedBy>正达 金</cp:lastModifiedBy>
  <cp:revision>31</cp:revision>
  <dcterms:created xsi:type="dcterms:W3CDTF">2022-03-22T04:00:00Z</dcterms:created>
  <dcterms:modified xsi:type="dcterms:W3CDTF">2026-05-18T03:21:41Z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B2CFBE5D82A249AF984D70F277C2B786_12</vt:lpwstr>
  </property>
  <property fmtid="{D5CDD505-2E9C-101B-9397-08002B2CF9AE}" pid="3" name="KSOProductBuildVer">
    <vt:lpwstr>2052-12.1.0.15374</vt:lpwstr>
  </property>
</Properties>
</file>